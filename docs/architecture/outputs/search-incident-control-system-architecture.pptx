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d342d9c63045e0" /><Relationship Type="http://schemas.openxmlformats.org/officeDocument/2006/relationships/extended-properties" Target="/docProps/app.xml" Id="Rca947d5053644fc0" /><Relationship Type="http://schemas.openxmlformats.org/officeDocument/2006/relationships/officeDocument" Target="/ppt/presentation.xml" Id="Rba5a08d6ea0846e1" /></Relationships>
</file>

<file path=ppt/presentation.xml><?xml version="1.0" encoding="utf-8"?>
<p:presentation xmlns:p="http://schemas.openxmlformats.org/presentationml/2006/main">
  <p:sldMasterIdLst>
    <p:sldMasterId xmlns:r="http://schemas.openxmlformats.org/officeDocument/2006/relationships" id="2147483648" r:id="R576cc4956c214e87"/>
  </p:sldMasterIdLst>
  <p:notesMasterIdLst>
    <p:notesMasterId xmlns:r="http://schemas.openxmlformats.org/officeDocument/2006/relationships" r:id="R105a46c0f6df454f"/>
  </p:notesMasterIdLst>
  <p:sldIdLst>
    <p:sldId xmlns:r="http://schemas.openxmlformats.org/officeDocument/2006/relationships" id="256" r:id="Rb6bfd9f8fc9f41a3"/>
    <p:sldId xmlns:r="http://schemas.openxmlformats.org/officeDocument/2006/relationships" id="257" r:id="Rb30b85ec694a4fce"/>
    <p:sldId xmlns:r="http://schemas.openxmlformats.org/officeDocument/2006/relationships" id="258" r:id="R72e0800f91044c28"/>
    <p:sldId xmlns:r="http://schemas.openxmlformats.org/officeDocument/2006/relationships" id="259" r:id="R03bfdf89ec73474b"/>
    <p:sldId xmlns:r="http://schemas.openxmlformats.org/officeDocument/2006/relationships" id="260" r:id="R360182af924f43c8"/>
    <p:sldId xmlns:r="http://schemas.openxmlformats.org/officeDocument/2006/relationships" id="261" r:id="Rfd7d926bc5ed4906"/>
    <p:sldId xmlns:r="http://schemas.openxmlformats.org/officeDocument/2006/relationships" id="262" r:id="R8b4b263a08f143e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76cc4956c214e87" /><Relationship Type="http://schemas.openxmlformats.org/officeDocument/2006/relationships/theme" Target="/ppt/theme/theme1.xml" Id="Rf04ea315317f4857" /><Relationship Type="http://schemas.openxmlformats.org/officeDocument/2006/relationships/notesMaster" Target="/ppt/notesMasters/notesMaster1.xml" Id="R105a46c0f6df454f" /><Relationship Type="http://schemas.openxmlformats.org/officeDocument/2006/relationships/presProps" Target="/ppt/presProps.xml" Id="Rf2f1c9dbda7f4256" /><Relationship Type="http://schemas.openxmlformats.org/officeDocument/2006/relationships/viewProps" Target="/ppt/viewProps.xml" Id="R716f458032744308" /><Relationship Type="http://schemas.openxmlformats.org/officeDocument/2006/relationships/tableStyles" Target="/ppt/tableStyles.xml" Id="R595a8ccb73e7459e" /><Relationship Type="http://schemas.openxmlformats.org/officeDocument/2006/relationships/slide" Target="/ppt/slides/slide1.xml" Id="Rb6bfd9f8fc9f41a3" /><Relationship Type="http://schemas.openxmlformats.org/officeDocument/2006/relationships/slide" Target="/ppt/slides/slide2.xml" Id="Rb30b85ec694a4fce" /><Relationship Type="http://schemas.openxmlformats.org/officeDocument/2006/relationships/slide" Target="/ppt/slides/slide3.xml" Id="R72e0800f91044c28" /><Relationship Type="http://schemas.openxmlformats.org/officeDocument/2006/relationships/slide" Target="/ppt/slides/slide4.xml" Id="R03bfdf89ec73474b" /><Relationship Type="http://schemas.openxmlformats.org/officeDocument/2006/relationships/slide" Target="/ppt/slides/slide5.xml" Id="R360182af924f43c8" /><Relationship Type="http://schemas.openxmlformats.org/officeDocument/2006/relationships/slide" Target="/ppt/slides/slide6.xml" Id="Rfd7d926bc5ed4906" /><Relationship Type="http://schemas.openxmlformats.org/officeDocument/2006/relationships/slide" Target="/ppt/slides/slide7.xml" Id="R8b4b263a08f143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fbed7c25d3f44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32ffa1e29a4381" /><Relationship Type="http://schemas.openxmlformats.org/officeDocument/2006/relationships/notesMaster" Target="/ppt/notesMasters/notesMaster1.xml" Id="R0207b5b6de1b4c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9d2ebb3e5b4df4" /><Relationship Type="http://schemas.openxmlformats.org/officeDocument/2006/relationships/notesMaster" Target="/ppt/notesMasters/notesMaster1.xml" Id="R177e747103c840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d1c60dc39c4cc9" /><Relationship Type="http://schemas.openxmlformats.org/officeDocument/2006/relationships/notesMaster" Target="/ppt/notesMasters/notesMaster1.xml" Id="Rc2777536f67f4d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86c6047e0a45c5" /><Relationship Type="http://schemas.openxmlformats.org/officeDocument/2006/relationships/notesMaster" Target="/ppt/notesMasters/notesMaster1.xml" Id="R1ff1799559d447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26ca1f14a040d7" /><Relationship Type="http://schemas.openxmlformats.org/officeDocument/2006/relationships/notesMaster" Target="/ppt/notesMasters/notesMaster1.xml" Id="Rc722cfe92f0a4a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c32893e5df4e2f" /><Relationship Type="http://schemas.openxmlformats.org/officeDocument/2006/relationships/notesMaster" Target="/ppt/notesMasters/notesMaster1.xml" Id="R09517eb8fd7e4d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10de5096514d4d" /><Relationship Type="http://schemas.openxmlformats.org/officeDocument/2006/relationships/notesMaster" Target="/ppt/notesMasters/notesMaster1.xml" Id="R4fc6ddf19ebf4e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explains the system as a control room around search. The audience should leave understanding that search serving, evidence gathering, incident intelligence, and release control are separate 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should help the audience separate serving, observability, and decision-making. Meilisearch is deliberately shown as the serving engine, while Prometheus, Jaeger, and the RLM logic are clearly outside that 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most technical slide. The audience should understand that the RLM path is a custom orchestrator with focused subtasks and explicit evidence adapters, not a free-form LLM that directly manipulates production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 the audience asks for real endpoints or ports. It is the concrete map from public routes to internal service connections and keeps the architecture grounded in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should reassure the audience that the control plane survives the transition from a demo engine to a real enterprise AI Search Engine. The serving engine box changes, but the governance and incident logic stay structurally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migration slide. Use it to explain that the demo is not throwaway; the reusable investment is the control plane. Only the search-serving engine box is swapped 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ownership so the audience knows who does what. The most important point is that approval is not mysterious: the business approver signs off after technical evaluation has already narrowed 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06b12d6e014a10"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A5677942-91D8-4450-827E-3C8D28928932}"/>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BCAC9ED7-8C08-46A8-8F21-9AF8E85EBA22}"/>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E2C2C7C6-5347-48EB-A48A-A2E6DF57BF17}"/>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8803089A-B024-43F2-800E-6B63B9EC1C25}"/>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2A6FEF05-D048-440E-A88D-4A745AAB4CEB}"/>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ee77cc7ff27e45c7" /><Relationship Type="http://schemas.openxmlformats.org/officeDocument/2006/relationships/slideLayout" Target="/ppt/slideLayouts/slideLayout2.xml" Id="R580139c5c00e44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4D876026-241A-4769-9023-AAC176747DBA}"/>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0139c5c00e44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3c4675138dea4383" /><Relationship Type="http://schemas.openxmlformats.org/officeDocument/2006/relationships/notesSlide" Target="/ppt/notesSlides/notesSlide1.xml" Id="Raf6ae1c78e414c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d5bd96e52ee4e22" /><Relationship Type="http://schemas.openxmlformats.org/officeDocument/2006/relationships/notesSlide" Target="/ppt/notesSlides/notesSlide2.xml" Id="Rd5bf01fb27b747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9f056b5229d462d" /><Relationship Type="http://schemas.openxmlformats.org/officeDocument/2006/relationships/notesSlide" Target="/ppt/notesSlides/notesSlide3.xml" Id="R79f71ae2bae34e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52e9d463a0b4093" /><Relationship Type="http://schemas.openxmlformats.org/officeDocument/2006/relationships/notesSlide" Target="/ppt/notesSlides/notesSlide4.xml" Id="Rbd0eeb769a3a46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57efb2543544a56" /><Relationship Type="http://schemas.openxmlformats.org/officeDocument/2006/relationships/notesSlide" Target="/ppt/notesSlides/notesSlide5.xml" Id="R9cefa83c1d7a4c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d1746e6799841b1" /><Relationship Type="http://schemas.openxmlformats.org/officeDocument/2006/relationships/notesSlide" Target="/ppt/notesSlides/notesSlide6.xml" Id="Re67b0ad53a6b4d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09d2aa9a8f04e15" /><Relationship Type="http://schemas.openxmlformats.org/officeDocument/2006/relationships/notesSlide" Target="/ppt/notesSlides/notesSlide7.xml" Id="R0729a6b6c47f40b9" /></Relationships>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A6FEF05-D048-440E-A88D-4A745AAB4CEB}"/>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14441DC-4E04-4EE2-BEB7-383CEF176EB0}"/>
              </a:ext>
            </a:extLst>
          </p:cNvPr>
          <p:cNvSpPr>
            <a:spLocks xmlns:a="http://schemas.openxmlformats.org/drawingml/2006/main" noGrp="1"/>
          </p:cNvSpPr>
          <p:nvPr/>
        </p:nvSpPr>
        <p:spPr>
          <a:xfrm xmlns:a="http://schemas.openxmlformats.org/drawingml/2006/main">
            <a:off x="685800" y="457200"/>
            <a:ext cx="2362200" cy="285750"/>
          </a:xfrm>
          <a:prstGeom xmlns:a="http://schemas.openxmlformats.org/drawingml/2006/main" prst="roundRect">
            <a:avLst>
              <a:gd name="adj" fmla="val 26667"/>
            </a:avLst>
          </a:prstGeom>
          <a:solidFill xmlns:a="http://schemas.openxmlformats.org/drawingml/2006/main">
            <a:srgbClr val="2D6CDF"/>
          </a:solidFill>
          <a:ln xmlns:a="http://schemas.openxmlformats.org/drawingml/2006/main" w="0">
            <a:solidFill>
              <a:srgbClr val="2D6CDF"/>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SEARCH INCIDENT CONTROL SYSTEM</a:t>
            </a:r>
          </a:p>
        </p:txBody>
      </p:sp>
      <p:sp>
        <p:nvSpPr>
          <p:cNvPr id="3" name="">
            <a:extLst xmlns:a="http://schemas.openxmlformats.org/drawingml/2006/main">
              <a:ext uri="{FF2B5EF4-FFF2-40B4-BE49-F238E27FC236}">
                <a16:creationId xmlns:a16="http://schemas.microsoft.com/office/drawing/2014/main" id="{591832B7-E1FC-49D8-981D-C82AC5C8AD01}"/>
              </a:ext>
            </a:extLst>
          </p:cNvPr>
          <p:cNvSpPr>
            <a:spLocks xmlns:a="http://schemas.openxmlformats.org/drawingml/2006/main" noGrp="1"/>
          </p:cNvSpPr>
          <p:nvPr/>
        </p:nvSpPr>
        <p:spPr>
          <a:xfrm xmlns:a="http://schemas.openxmlformats.org/drawingml/2006/main">
            <a:off x="685800" y="914400"/>
            <a:ext cx="6191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2850" b="1">
                <a:solidFill>
                  <a:srgbClr val="17202A"/>
                </a:solidFill>
              </a:defRPr>
            </a:pPr>
            <a:r>
              <a:rPr sz="2850" b="1">
                <a:solidFill>
                  <a:srgbClr val="17202A"/>
                </a:solidFill>
              </a:rPr>
              <a:t>Architecture Package</a:t>
            </a:r>
          </a:p>
        </p:txBody>
      </p:sp>
      <p:sp>
        <p:nvSpPr>
          <p:cNvPr id="4" name="">
            <a:extLst xmlns:a="http://schemas.openxmlformats.org/drawingml/2006/main">
              <a:ext uri="{FF2B5EF4-FFF2-40B4-BE49-F238E27FC236}">
                <a16:creationId xmlns:a16="http://schemas.microsoft.com/office/drawing/2014/main" id="{CEE17916-8AF7-4FE5-A6F5-8A6AE06DAEA5}"/>
              </a:ext>
            </a:extLst>
          </p:cNvPr>
          <p:cNvSpPr>
            <a:spLocks xmlns:a="http://schemas.openxmlformats.org/drawingml/2006/main" noGrp="1"/>
          </p:cNvSpPr>
          <p:nvPr/>
        </p:nvSpPr>
        <p:spPr>
          <a:xfrm xmlns:a="http://schemas.openxmlformats.org/drawingml/2006/main">
            <a:off x="685800" y="173355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425" b="0">
                <a:solidFill>
                  <a:srgbClr val="5D6975"/>
                </a:solidFill>
              </a:defRPr>
            </a:pPr>
            <a:r>
              <a:rPr sz="1425" b="0">
                <a:solidFill>
                  <a:srgbClr val="5D6975"/>
                </a:solidFill>
              </a:rPr>
              <a:t>A human-readable engineering view of the current Meilisearch demo and the target enterprise AI Ops control plane.</a:t>
            </a:r>
          </a:p>
        </p:txBody>
      </p:sp>
      <p:sp>
        <p:nvSpPr>
          <p:cNvPr id="5" name="">
            <a:extLst xmlns:a="http://schemas.openxmlformats.org/drawingml/2006/main">
              <a:ext uri="{FF2B5EF4-FFF2-40B4-BE49-F238E27FC236}">
                <a16:creationId xmlns:a16="http://schemas.microsoft.com/office/drawing/2014/main" id="{AC9A9A87-008E-4C46-B6F4-35CCAC9025D4}"/>
              </a:ext>
            </a:extLst>
          </p:cNvPr>
          <p:cNvSpPr>
            <a:spLocks xmlns:a="http://schemas.openxmlformats.org/drawingml/2006/main" noGrp="1"/>
          </p:cNvSpPr>
          <p:nvPr/>
        </p:nvSpPr>
        <p:spPr>
          <a:xfrm xmlns:a="http://schemas.openxmlformats.org/drawingml/2006/main">
            <a:off x="685800" y="2781300"/>
            <a:ext cx="25717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D6DADF"/>
            </a:solidFill>
            <a:prstDash val="solid"/>
          </a:ln>
        </p:spPr>
      </p:sp>
      <p:sp>
        <p:nvSpPr>
          <p:cNvPr id="6" name="">
            <a:extLst xmlns:a="http://schemas.openxmlformats.org/drawingml/2006/main">
              <a:ext uri="{FF2B5EF4-FFF2-40B4-BE49-F238E27FC236}">
                <a16:creationId xmlns:a16="http://schemas.microsoft.com/office/drawing/2014/main" id="{B353DF52-B1B8-414A-AAD9-EAB8534CEE1A}"/>
              </a:ext>
            </a:extLst>
          </p:cNvPr>
          <p:cNvSpPr>
            <a:spLocks xmlns:a="http://schemas.openxmlformats.org/drawingml/2006/main" noGrp="1"/>
          </p:cNvSpPr>
          <p:nvPr/>
        </p:nvSpPr>
        <p:spPr>
          <a:xfrm xmlns:a="http://schemas.openxmlformats.org/drawingml/2006/main">
            <a:off x="685800" y="2781300"/>
            <a:ext cx="2571750" cy="76200"/>
          </a:xfrm>
          <a:prstGeom xmlns:a="http://schemas.openxmlformats.org/drawingml/2006/main" prst="roundRect">
            <a:avLst>
              <a:gd name="adj" fmla="val 50000"/>
            </a:avLst>
          </a:prstGeom>
          <a:solidFill xmlns:a="http://schemas.openxmlformats.org/drawingml/2006/main">
            <a:srgbClr val="22A06B"/>
          </a:solidFill>
          <a:ln xmlns:a="http://schemas.openxmlformats.org/drawingml/2006/main" w="0">
            <a:solidFill>
              <a:srgbClr val="22A06B"/>
            </a:solidFill>
            <a:prstDash val="solid"/>
          </a:ln>
        </p:spPr>
      </p:sp>
      <p:sp>
        <p:nvSpPr>
          <p:cNvPr id="7" name="">
            <a:extLst xmlns:a="http://schemas.openxmlformats.org/drawingml/2006/main">
              <a:ext uri="{FF2B5EF4-FFF2-40B4-BE49-F238E27FC236}">
                <a16:creationId xmlns:a16="http://schemas.microsoft.com/office/drawing/2014/main" id="{35A138BC-C6D6-4422-9314-F349017A479C}"/>
              </a:ext>
            </a:extLst>
          </p:cNvPr>
          <p:cNvSpPr>
            <a:spLocks xmlns:a="http://schemas.openxmlformats.org/drawingml/2006/main" noGrp="1"/>
          </p:cNvSpPr>
          <p:nvPr/>
        </p:nvSpPr>
        <p:spPr>
          <a:xfrm xmlns:a="http://schemas.openxmlformats.org/drawingml/2006/main">
            <a:off x="819150" y="2933700"/>
            <a:ext cx="2305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Serving Plane</a:t>
            </a:r>
          </a:p>
        </p:txBody>
      </p:sp>
      <p:sp>
        <p:nvSpPr>
          <p:cNvPr id="8" name="">
            <a:extLst xmlns:a="http://schemas.openxmlformats.org/drawingml/2006/main">
              <a:ext uri="{FF2B5EF4-FFF2-40B4-BE49-F238E27FC236}">
                <a16:creationId xmlns:a16="http://schemas.microsoft.com/office/drawing/2014/main" id="{DB7112AF-44A9-47E9-855E-82BFE020695A}"/>
              </a:ext>
            </a:extLst>
          </p:cNvPr>
          <p:cNvSpPr>
            <a:spLocks xmlns:a="http://schemas.openxmlformats.org/drawingml/2006/main" noGrp="1"/>
          </p:cNvSpPr>
          <p:nvPr/>
        </p:nvSpPr>
        <p:spPr>
          <a:xfrm xmlns:a="http://schemas.openxmlformats.org/drawingml/2006/main">
            <a:off x="819150" y="3238500"/>
            <a:ext cx="23050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FastAPI receives the search request, routes it, and calls the mock search engine.</a:t>
            </a:r>
          </a:p>
        </p:txBody>
      </p:sp>
      <p:sp>
        <p:nvSpPr>
          <p:cNvPr id="9" name="">
            <a:extLst xmlns:a="http://schemas.openxmlformats.org/drawingml/2006/main">
              <a:ext uri="{FF2B5EF4-FFF2-40B4-BE49-F238E27FC236}">
                <a16:creationId xmlns:a16="http://schemas.microsoft.com/office/drawing/2014/main" id="{D6F3783F-5F77-4B62-A91B-A5B0EF6CB031}"/>
              </a:ext>
            </a:extLst>
          </p:cNvPr>
          <p:cNvSpPr>
            <a:spLocks xmlns:a="http://schemas.openxmlformats.org/drawingml/2006/main" noGrp="1"/>
          </p:cNvSpPr>
          <p:nvPr/>
        </p:nvSpPr>
        <p:spPr>
          <a:xfrm xmlns:a="http://schemas.openxmlformats.org/drawingml/2006/main">
            <a:off x="2952750" y="2895600"/>
            <a:ext cx="152400" cy="152400"/>
          </a:xfrm>
          <a:prstGeom xmlns:a="http://schemas.openxmlformats.org/drawingml/2006/main" prst="roundRect">
            <a:avLst>
              <a:gd name="adj" fmla="val 50000"/>
            </a:avLst>
          </a:prstGeom>
          <a:solidFill xmlns:a="http://schemas.openxmlformats.org/drawingml/2006/main">
            <a:srgbClr val="EAF8F1"/>
          </a:solidFill>
          <a:ln xmlns:a="http://schemas.openxmlformats.org/drawingml/2006/main" w="9525">
            <a:solidFill>
              <a:srgbClr val="22A06B"/>
            </a:solidFill>
            <a:prstDash val="solid"/>
          </a:ln>
        </p:spPr>
      </p:sp>
      <p:sp>
        <p:nvSpPr>
          <p:cNvPr id="10" name="">
            <a:extLst xmlns:a="http://schemas.openxmlformats.org/drawingml/2006/main">
              <a:ext uri="{FF2B5EF4-FFF2-40B4-BE49-F238E27FC236}">
                <a16:creationId xmlns:a16="http://schemas.microsoft.com/office/drawing/2014/main" id="{6720B01F-4A30-4868-8ED7-5C6344CD7A29}"/>
              </a:ext>
            </a:extLst>
          </p:cNvPr>
          <p:cNvSpPr>
            <a:spLocks xmlns:a="http://schemas.openxmlformats.org/drawingml/2006/main" noGrp="1"/>
          </p:cNvSpPr>
          <p:nvPr/>
        </p:nvSpPr>
        <p:spPr>
          <a:xfrm xmlns:a="http://schemas.openxmlformats.org/drawingml/2006/main">
            <a:off x="3486150" y="2781300"/>
            <a:ext cx="25717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D6DADF"/>
            </a:solidFill>
            <a:prstDash val="solid"/>
          </a:ln>
        </p:spPr>
      </p:sp>
      <p:sp>
        <p:nvSpPr>
          <p:cNvPr id="11" name="">
            <a:extLst xmlns:a="http://schemas.openxmlformats.org/drawingml/2006/main">
              <a:ext uri="{FF2B5EF4-FFF2-40B4-BE49-F238E27FC236}">
                <a16:creationId xmlns:a16="http://schemas.microsoft.com/office/drawing/2014/main" id="{5422375A-B65C-433F-B17A-239B1ACC64A2}"/>
              </a:ext>
            </a:extLst>
          </p:cNvPr>
          <p:cNvSpPr>
            <a:spLocks xmlns:a="http://schemas.openxmlformats.org/drawingml/2006/main" noGrp="1"/>
          </p:cNvSpPr>
          <p:nvPr/>
        </p:nvSpPr>
        <p:spPr>
          <a:xfrm xmlns:a="http://schemas.openxmlformats.org/drawingml/2006/main">
            <a:off x="3486150" y="2781300"/>
            <a:ext cx="257175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2" name="">
            <a:extLst xmlns:a="http://schemas.openxmlformats.org/drawingml/2006/main">
              <a:ext uri="{FF2B5EF4-FFF2-40B4-BE49-F238E27FC236}">
                <a16:creationId xmlns:a16="http://schemas.microsoft.com/office/drawing/2014/main" id="{E6AF5725-426F-4FC3-97EA-45EB563407EF}"/>
              </a:ext>
            </a:extLst>
          </p:cNvPr>
          <p:cNvSpPr>
            <a:spLocks xmlns:a="http://schemas.openxmlformats.org/drawingml/2006/main" noGrp="1"/>
          </p:cNvSpPr>
          <p:nvPr/>
        </p:nvSpPr>
        <p:spPr>
          <a:xfrm xmlns:a="http://schemas.openxmlformats.org/drawingml/2006/main">
            <a:off x="3619500" y="2933700"/>
            <a:ext cx="2305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Observability</a:t>
            </a:r>
          </a:p>
        </p:txBody>
      </p:sp>
      <p:sp>
        <p:nvSpPr>
          <p:cNvPr id="13" name="">
            <a:extLst xmlns:a="http://schemas.openxmlformats.org/drawingml/2006/main">
              <a:ext uri="{FF2B5EF4-FFF2-40B4-BE49-F238E27FC236}">
                <a16:creationId xmlns:a16="http://schemas.microsoft.com/office/drawing/2014/main" id="{B4448B3C-2F83-4BDC-87B8-B84B3A6D68DC}"/>
              </a:ext>
            </a:extLst>
          </p:cNvPr>
          <p:cNvSpPr>
            <a:spLocks xmlns:a="http://schemas.openxmlformats.org/drawingml/2006/main" noGrp="1"/>
          </p:cNvSpPr>
          <p:nvPr/>
        </p:nvSpPr>
        <p:spPr>
          <a:xfrm xmlns:a="http://schemas.openxmlformats.org/drawingml/2006/main">
            <a:off x="3619500" y="3238500"/>
            <a:ext cx="23050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Prometheus, Grafana, and Jaeger capture evidence about search behavior and incidents.</a:t>
            </a:r>
          </a:p>
        </p:txBody>
      </p:sp>
      <p:sp>
        <p:nvSpPr>
          <p:cNvPr id="14" name="">
            <a:extLst xmlns:a="http://schemas.openxmlformats.org/drawingml/2006/main">
              <a:ext uri="{FF2B5EF4-FFF2-40B4-BE49-F238E27FC236}">
                <a16:creationId xmlns:a16="http://schemas.microsoft.com/office/drawing/2014/main" id="{40FAF414-7241-4338-923D-2EB04656503B}"/>
              </a:ext>
            </a:extLst>
          </p:cNvPr>
          <p:cNvSpPr>
            <a:spLocks xmlns:a="http://schemas.openxmlformats.org/drawingml/2006/main" noGrp="1"/>
          </p:cNvSpPr>
          <p:nvPr/>
        </p:nvSpPr>
        <p:spPr>
          <a:xfrm xmlns:a="http://schemas.openxmlformats.org/drawingml/2006/main">
            <a:off x="5753100" y="289560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15" name="">
            <a:extLst xmlns:a="http://schemas.openxmlformats.org/drawingml/2006/main">
              <a:ext uri="{FF2B5EF4-FFF2-40B4-BE49-F238E27FC236}">
                <a16:creationId xmlns:a16="http://schemas.microsoft.com/office/drawing/2014/main" id="{6E2E0E83-EECB-4C6C-93F9-1CCBDBB586ED}"/>
              </a:ext>
            </a:extLst>
          </p:cNvPr>
          <p:cNvSpPr>
            <a:spLocks xmlns:a="http://schemas.openxmlformats.org/drawingml/2006/main" noGrp="1"/>
          </p:cNvSpPr>
          <p:nvPr/>
        </p:nvSpPr>
        <p:spPr>
          <a:xfrm xmlns:a="http://schemas.openxmlformats.org/drawingml/2006/main">
            <a:off x="6286500" y="2781300"/>
            <a:ext cx="25717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D6DADF"/>
            </a:solidFill>
            <a:prstDash val="solid"/>
          </a:ln>
        </p:spPr>
      </p:sp>
      <p:sp>
        <p:nvSpPr>
          <p:cNvPr id="16" name="">
            <a:extLst xmlns:a="http://schemas.openxmlformats.org/drawingml/2006/main">
              <a:ext uri="{FF2B5EF4-FFF2-40B4-BE49-F238E27FC236}">
                <a16:creationId xmlns:a16="http://schemas.microsoft.com/office/drawing/2014/main" id="{09C8EE56-9755-4117-AFE2-31C6E558509E}"/>
              </a:ext>
            </a:extLst>
          </p:cNvPr>
          <p:cNvSpPr>
            <a:spLocks xmlns:a="http://schemas.openxmlformats.org/drawingml/2006/main" noGrp="1"/>
          </p:cNvSpPr>
          <p:nvPr/>
        </p:nvSpPr>
        <p:spPr>
          <a:xfrm xmlns:a="http://schemas.openxmlformats.org/drawingml/2006/main">
            <a:off x="6286500" y="2781300"/>
            <a:ext cx="2571750" cy="76200"/>
          </a:xfrm>
          <a:prstGeom xmlns:a="http://schemas.openxmlformats.org/drawingml/2006/main" prst="roundRect">
            <a:avLst>
              <a:gd name="adj" fmla="val 50000"/>
            </a:avLst>
          </a:prstGeom>
          <a:solidFill xmlns:a="http://schemas.openxmlformats.org/drawingml/2006/main">
            <a:srgbClr val="F0883E"/>
          </a:solidFill>
          <a:ln xmlns:a="http://schemas.openxmlformats.org/drawingml/2006/main" w="0">
            <a:solidFill>
              <a:srgbClr val="F0883E"/>
            </a:solidFill>
            <a:prstDash val="solid"/>
          </a:ln>
        </p:spPr>
      </p:sp>
      <p:sp>
        <p:nvSpPr>
          <p:cNvPr id="17" name="">
            <a:extLst xmlns:a="http://schemas.openxmlformats.org/drawingml/2006/main">
              <a:ext uri="{FF2B5EF4-FFF2-40B4-BE49-F238E27FC236}">
                <a16:creationId xmlns:a16="http://schemas.microsoft.com/office/drawing/2014/main" id="{CD008DA4-A3A6-4571-82B9-892696E27C3A}"/>
              </a:ext>
            </a:extLst>
          </p:cNvPr>
          <p:cNvSpPr>
            <a:spLocks xmlns:a="http://schemas.openxmlformats.org/drawingml/2006/main" noGrp="1"/>
          </p:cNvSpPr>
          <p:nvPr/>
        </p:nvSpPr>
        <p:spPr>
          <a:xfrm xmlns:a="http://schemas.openxmlformats.org/drawingml/2006/main">
            <a:off x="6419850" y="2933700"/>
            <a:ext cx="2305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Incident Intelligence</a:t>
            </a:r>
          </a:p>
        </p:txBody>
      </p:sp>
      <p:sp>
        <p:nvSpPr>
          <p:cNvPr id="18" name="">
            <a:extLst xmlns:a="http://schemas.openxmlformats.org/drawingml/2006/main">
              <a:ext uri="{FF2B5EF4-FFF2-40B4-BE49-F238E27FC236}">
                <a16:creationId xmlns:a16="http://schemas.microsoft.com/office/drawing/2014/main" id="{621E61B0-EAD7-45A4-B5A9-0D94E00DE6CD}"/>
              </a:ext>
            </a:extLst>
          </p:cNvPr>
          <p:cNvSpPr>
            <a:spLocks xmlns:a="http://schemas.openxmlformats.org/drawingml/2006/main" noGrp="1"/>
          </p:cNvSpPr>
          <p:nvPr/>
        </p:nvSpPr>
        <p:spPr>
          <a:xfrm xmlns:a="http://schemas.openxmlformats.org/drawingml/2006/main">
            <a:off x="6419850" y="3238500"/>
            <a:ext cx="23050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Signals, RCA, incident packets, and RLM analysis explain what is broken and who owns it.</a:t>
            </a:r>
          </a:p>
        </p:txBody>
      </p:sp>
      <p:sp>
        <p:nvSpPr>
          <p:cNvPr id="19" name="">
            <a:extLst xmlns:a="http://schemas.openxmlformats.org/drawingml/2006/main">
              <a:ext uri="{FF2B5EF4-FFF2-40B4-BE49-F238E27FC236}">
                <a16:creationId xmlns:a16="http://schemas.microsoft.com/office/drawing/2014/main" id="{0D82CAA9-8848-4526-86D1-030C23B2E42B}"/>
              </a:ext>
            </a:extLst>
          </p:cNvPr>
          <p:cNvSpPr>
            <a:spLocks xmlns:a="http://schemas.openxmlformats.org/drawingml/2006/main" noGrp="1"/>
          </p:cNvSpPr>
          <p:nvPr/>
        </p:nvSpPr>
        <p:spPr>
          <a:xfrm xmlns:a="http://schemas.openxmlformats.org/drawingml/2006/main">
            <a:off x="8553450" y="2895600"/>
            <a:ext cx="152400" cy="152400"/>
          </a:xfrm>
          <a:prstGeom xmlns:a="http://schemas.openxmlformats.org/drawingml/2006/main" prst="roundRect">
            <a:avLst>
              <a:gd name="adj" fmla="val 50000"/>
            </a:avLst>
          </a:prstGeom>
          <a:solidFill xmlns:a="http://schemas.openxmlformats.org/drawingml/2006/main">
            <a:srgbClr val="FFF1E8"/>
          </a:solidFill>
          <a:ln xmlns:a="http://schemas.openxmlformats.org/drawingml/2006/main" w="9525">
            <a:solidFill>
              <a:srgbClr val="F0883E"/>
            </a:solidFill>
            <a:prstDash val="solid"/>
          </a:ln>
        </p:spPr>
      </p:sp>
      <p:sp>
        <p:nvSpPr>
          <p:cNvPr id="20" name="">
            <a:extLst xmlns:a="http://schemas.openxmlformats.org/drawingml/2006/main">
              <a:ext uri="{FF2B5EF4-FFF2-40B4-BE49-F238E27FC236}">
                <a16:creationId xmlns:a16="http://schemas.microsoft.com/office/drawing/2014/main" id="{BBF3A706-0DD3-4E56-B614-5705AF36CC5D}"/>
              </a:ext>
            </a:extLst>
          </p:cNvPr>
          <p:cNvSpPr>
            <a:spLocks xmlns:a="http://schemas.openxmlformats.org/drawingml/2006/main" noGrp="1"/>
          </p:cNvSpPr>
          <p:nvPr/>
        </p:nvSpPr>
        <p:spPr>
          <a:xfrm xmlns:a="http://schemas.openxmlformats.org/drawingml/2006/main">
            <a:off x="9086850" y="2781300"/>
            <a:ext cx="24193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9525">
            <a:solidFill>
              <a:srgbClr val="D6DADF"/>
            </a:solidFill>
            <a:prstDash val="solid"/>
          </a:ln>
        </p:spPr>
      </p:sp>
      <p:sp>
        <p:nvSpPr>
          <p:cNvPr id="21" name="">
            <a:extLst xmlns:a="http://schemas.openxmlformats.org/drawingml/2006/main">
              <a:ext uri="{FF2B5EF4-FFF2-40B4-BE49-F238E27FC236}">
                <a16:creationId xmlns:a16="http://schemas.microsoft.com/office/drawing/2014/main" id="{B2207A21-F7CF-4427-A09C-52FACD15F2AF}"/>
              </a:ext>
            </a:extLst>
          </p:cNvPr>
          <p:cNvSpPr>
            <a:spLocks xmlns:a="http://schemas.openxmlformats.org/drawingml/2006/main" noGrp="1"/>
          </p:cNvSpPr>
          <p:nvPr/>
        </p:nvSpPr>
        <p:spPr>
          <a:xfrm xmlns:a="http://schemas.openxmlformats.org/drawingml/2006/main">
            <a:off x="9086850" y="2781300"/>
            <a:ext cx="2419350" cy="76200"/>
          </a:xfrm>
          <a:prstGeom xmlns:a="http://schemas.openxmlformats.org/drawingml/2006/main" prst="roundRect">
            <a:avLst>
              <a:gd name="adj" fmla="val 50000"/>
            </a:avLst>
          </a:prstGeom>
          <a:solidFill xmlns:a="http://schemas.openxmlformats.org/drawingml/2006/main">
            <a:srgbClr val="7A4FD1"/>
          </a:solidFill>
          <a:ln xmlns:a="http://schemas.openxmlformats.org/drawingml/2006/main" w="0">
            <a:solidFill>
              <a:srgbClr val="7A4FD1"/>
            </a:solidFill>
            <a:prstDash val="solid"/>
          </a:ln>
        </p:spPr>
      </p:sp>
      <p:sp>
        <p:nvSpPr>
          <p:cNvPr id="22" name="">
            <a:extLst xmlns:a="http://schemas.openxmlformats.org/drawingml/2006/main">
              <a:ext uri="{FF2B5EF4-FFF2-40B4-BE49-F238E27FC236}">
                <a16:creationId xmlns:a16="http://schemas.microsoft.com/office/drawing/2014/main" id="{FD87033A-F631-4AA9-AE5E-EF659A93FEA0}"/>
              </a:ext>
            </a:extLst>
          </p:cNvPr>
          <p:cNvSpPr>
            <a:spLocks xmlns:a="http://schemas.openxmlformats.org/drawingml/2006/main" noGrp="1"/>
          </p:cNvSpPr>
          <p:nvPr/>
        </p:nvSpPr>
        <p:spPr>
          <a:xfrm xmlns:a="http://schemas.openxmlformats.org/drawingml/2006/main">
            <a:off x="9220200" y="2933700"/>
            <a:ext cx="2152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Release Control</a:t>
            </a:r>
          </a:p>
        </p:txBody>
      </p:sp>
      <p:sp>
        <p:nvSpPr>
          <p:cNvPr id="23" name="">
            <a:extLst xmlns:a="http://schemas.openxmlformats.org/drawingml/2006/main">
              <a:ext uri="{FF2B5EF4-FFF2-40B4-BE49-F238E27FC236}">
                <a16:creationId xmlns:a16="http://schemas.microsoft.com/office/drawing/2014/main" id="{8F1EFD7F-D9D1-4223-994F-132888326CD4}"/>
              </a:ext>
            </a:extLst>
          </p:cNvPr>
          <p:cNvSpPr>
            <a:spLocks xmlns:a="http://schemas.openxmlformats.org/drawingml/2006/main" noGrp="1"/>
          </p:cNvSpPr>
          <p:nvPr/>
        </p:nvSpPr>
        <p:spPr>
          <a:xfrm xmlns:a="http://schemas.openxmlformats.org/drawingml/2006/main">
            <a:off x="9220200" y="3238500"/>
            <a:ext cx="21526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Approval, Temporal workflow, shadow, canary, and rollback keep production changes safe.</a:t>
            </a:r>
          </a:p>
        </p:txBody>
      </p:sp>
      <p:sp>
        <p:nvSpPr>
          <p:cNvPr id="24" name="">
            <a:extLst xmlns:a="http://schemas.openxmlformats.org/drawingml/2006/main">
              <a:ext uri="{FF2B5EF4-FFF2-40B4-BE49-F238E27FC236}">
                <a16:creationId xmlns:a16="http://schemas.microsoft.com/office/drawing/2014/main" id="{F173862E-7A4B-4A52-83FF-DE0FC4900F71}"/>
              </a:ext>
            </a:extLst>
          </p:cNvPr>
          <p:cNvSpPr>
            <a:spLocks xmlns:a="http://schemas.openxmlformats.org/drawingml/2006/main" noGrp="1"/>
          </p:cNvSpPr>
          <p:nvPr/>
        </p:nvSpPr>
        <p:spPr>
          <a:xfrm xmlns:a="http://schemas.openxmlformats.org/drawingml/2006/main">
            <a:off x="11201400" y="2895600"/>
            <a:ext cx="152400" cy="152400"/>
          </a:xfrm>
          <a:prstGeom xmlns:a="http://schemas.openxmlformats.org/drawingml/2006/main" prst="roundRect">
            <a:avLst>
              <a:gd name="adj" fmla="val 50000"/>
            </a:avLst>
          </a:prstGeom>
          <a:solidFill xmlns:a="http://schemas.openxmlformats.org/drawingml/2006/main">
            <a:srgbClr val="F2EBFF"/>
          </a:solidFill>
          <a:ln xmlns:a="http://schemas.openxmlformats.org/drawingml/2006/main" w="9525">
            <a:solidFill>
              <a:srgbClr val="7A4FD1"/>
            </a:solidFill>
            <a:prstDash val="solid"/>
          </a:ln>
        </p:spPr>
      </p:sp>
      <p:sp>
        <p:nvSpPr>
          <p:cNvPr id="25" name="">
            <a:extLst xmlns:a="http://schemas.openxmlformats.org/drawingml/2006/main">
              <a:ext uri="{FF2B5EF4-FFF2-40B4-BE49-F238E27FC236}">
                <a16:creationId xmlns:a16="http://schemas.microsoft.com/office/drawing/2014/main" id="{C824C960-5DD5-4643-8BAA-C5C93D2103C5}"/>
              </a:ext>
            </a:extLst>
          </p:cNvPr>
          <p:cNvSpPr>
            <a:spLocks xmlns:a="http://schemas.openxmlformats.org/drawingml/2006/main" noGrp="1"/>
          </p:cNvSpPr>
          <p:nvPr/>
        </p:nvSpPr>
        <p:spPr>
          <a:xfrm xmlns:a="http://schemas.openxmlformats.org/drawingml/2006/main">
            <a:off x="685800" y="4514850"/>
            <a:ext cx="52959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6DADF"/>
            </a:solidFill>
            <a:prstDash val="solid"/>
          </a:ln>
        </p:spPr>
      </p:sp>
      <p:sp>
        <p:nvSpPr>
          <p:cNvPr id="26" name="">
            <a:extLst xmlns:a="http://schemas.openxmlformats.org/drawingml/2006/main">
              <a:ext uri="{FF2B5EF4-FFF2-40B4-BE49-F238E27FC236}">
                <a16:creationId xmlns:a16="http://schemas.microsoft.com/office/drawing/2014/main" id="{33D71A4B-6CC3-4473-BC8E-CAB9F92BC3AA}"/>
              </a:ext>
            </a:extLst>
          </p:cNvPr>
          <p:cNvSpPr>
            <a:spLocks xmlns:a="http://schemas.openxmlformats.org/drawingml/2006/main" noGrp="1"/>
          </p:cNvSpPr>
          <p:nvPr/>
        </p:nvSpPr>
        <p:spPr>
          <a:xfrm xmlns:a="http://schemas.openxmlformats.org/drawingml/2006/main">
            <a:off x="685800" y="4514850"/>
            <a:ext cx="5295900" cy="76200"/>
          </a:xfrm>
          <a:prstGeom xmlns:a="http://schemas.openxmlformats.org/drawingml/2006/main" prst="roundRect">
            <a:avLst>
              <a:gd name="adj" fmla="val 50000"/>
            </a:avLst>
          </a:prstGeom>
          <a:solidFill xmlns:a="http://schemas.openxmlformats.org/drawingml/2006/main">
            <a:srgbClr val="B98900"/>
          </a:solidFill>
          <a:ln xmlns:a="http://schemas.openxmlformats.org/drawingml/2006/main" w="0">
            <a:solidFill>
              <a:srgbClr val="B98900"/>
            </a:solidFill>
            <a:prstDash val="solid"/>
          </a:ln>
        </p:spPr>
      </p:sp>
      <p:sp>
        <p:nvSpPr>
          <p:cNvPr id="27" name="">
            <a:extLst xmlns:a="http://schemas.openxmlformats.org/drawingml/2006/main">
              <a:ext uri="{FF2B5EF4-FFF2-40B4-BE49-F238E27FC236}">
                <a16:creationId xmlns:a16="http://schemas.microsoft.com/office/drawing/2014/main" id="{E23992E8-EB0E-43BD-9673-6094A5854AC7}"/>
              </a:ext>
            </a:extLst>
          </p:cNvPr>
          <p:cNvSpPr>
            <a:spLocks xmlns:a="http://schemas.openxmlformats.org/drawingml/2006/main" noGrp="1"/>
          </p:cNvSpPr>
          <p:nvPr/>
        </p:nvSpPr>
        <p:spPr>
          <a:xfrm xmlns:a="http://schemas.openxmlformats.org/drawingml/2006/main">
            <a:off x="819150" y="4667250"/>
            <a:ext cx="5029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Current demo</a:t>
            </a:r>
          </a:p>
        </p:txBody>
      </p:sp>
      <p:sp>
        <p:nvSpPr>
          <p:cNvPr id="28" name="">
            <a:extLst xmlns:a="http://schemas.openxmlformats.org/drawingml/2006/main">
              <a:ext uri="{FF2B5EF4-FFF2-40B4-BE49-F238E27FC236}">
                <a16:creationId xmlns:a16="http://schemas.microsoft.com/office/drawing/2014/main" id="{174E802D-B59D-4172-9FBB-57C0AE0267BC}"/>
              </a:ext>
            </a:extLst>
          </p:cNvPr>
          <p:cNvSpPr>
            <a:spLocks xmlns:a="http://schemas.openxmlformats.org/drawingml/2006/main" noGrp="1"/>
          </p:cNvSpPr>
          <p:nvPr/>
        </p:nvSpPr>
        <p:spPr>
          <a:xfrm xmlns:a="http://schemas.openxmlformats.org/drawingml/2006/main">
            <a:off x="819150" y="4972050"/>
            <a:ext cx="502920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Meilisearch is the mock search engine in the serving path. It is not presented as an agent tool. The rest of the system wraps it with safety and diagnosis.</a:t>
            </a:r>
          </a:p>
        </p:txBody>
      </p:sp>
      <p:sp>
        <p:nvSpPr>
          <p:cNvPr id="29" name="">
            <a:extLst xmlns:a="http://schemas.openxmlformats.org/drawingml/2006/main">
              <a:ext uri="{FF2B5EF4-FFF2-40B4-BE49-F238E27FC236}">
                <a16:creationId xmlns:a16="http://schemas.microsoft.com/office/drawing/2014/main" id="{F6E7F473-81D2-4167-951B-8DBD5FA3DC16}"/>
              </a:ext>
            </a:extLst>
          </p:cNvPr>
          <p:cNvSpPr>
            <a:spLocks xmlns:a="http://schemas.openxmlformats.org/drawingml/2006/main" noGrp="1"/>
          </p:cNvSpPr>
          <p:nvPr/>
        </p:nvSpPr>
        <p:spPr>
          <a:xfrm xmlns:a="http://schemas.openxmlformats.org/drawingml/2006/main">
            <a:off x="5676900" y="4629150"/>
            <a:ext cx="152400" cy="152400"/>
          </a:xfrm>
          <a:prstGeom xmlns:a="http://schemas.openxmlformats.org/drawingml/2006/main" prst="roundRect">
            <a:avLst>
              <a:gd name="adj" fmla="val 50000"/>
            </a:avLst>
          </a:prstGeom>
          <a:solidFill xmlns:a="http://schemas.openxmlformats.org/drawingml/2006/main">
            <a:srgbClr val="FFF9E8"/>
          </a:solidFill>
          <a:ln xmlns:a="http://schemas.openxmlformats.org/drawingml/2006/main" w="9525">
            <a:solidFill>
              <a:srgbClr val="B98900"/>
            </a:solidFill>
            <a:prstDash val="solid"/>
          </a:ln>
        </p:spPr>
      </p:sp>
      <p:sp>
        <p:nvSpPr>
          <p:cNvPr id="30" name="">
            <a:extLst xmlns:a="http://schemas.openxmlformats.org/drawingml/2006/main">
              <a:ext uri="{FF2B5EF4-FFF2-40B4-BE49-F238E27FC236}">
                <a16:creationId xmlns:a16="http://schemas.microsoft.com/office/drawing/2014/main" id="{8732A501-0F8A-4914-AE43-86A3A9F6C4EC}"/>
              </a:ext>
            </a:extLst>
          </p:cNvPr>
          <p:cNvSpPr>
            <a:spLocks xmlns:a="http://schemas.openxmlformats.org/drawingml/2006/main" noGrp="1"/>
          </p:cNvSpPr>
          <p:nvPr/>
        </p:nvSpPr>
        <p:spPr>
          <a:xfrm xmlns:a="http://schemas.openxmlformats.org/drawingml/2006/main">
            <a:off x="6210300" y="4514850"/>
            <a:ext cx="52959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6DADF"/>
            </a:solidFill>
            <a:prstDash val="solid"/>
          </a:ln>
        </p:spPr>
      </p:sp>
      <p:sp>
        <p:nvSpPr>
          <p:cNvPr id="31" name="">
            <a:extLst xmlns:a="http://schemas.openxmlformats.org/drawingml/2006/main">
              <a:ext uri="{FF2B5EF4-FFF2-40B4-BE49-F238E27FC236}">
                <a16:creationId xmlns:a16="http://schemas.microsoft.com/office/drawing/2014/main" id="{9582730A-605F-47E3-8EF9-45AD6519CA3A}"/>
              </a:ext>
            </a:extLst>
          </p:cNvPr>
          <p:cNvSpPr>
            <a:spLocks xmlns:a="http://schemas.openxmlformats.org/drawingml/2006/main" noGrp="1"/>
          </p:cNvSpPr>
          <p:nvPr/>
        </p:nvSpPr>
        <p:spPr>
          <a:xfrm xmlns:a="http://schemas.openxmlformats.org/drawingml/2006/main">
            <a:off x="6210300" y="4514850"/>
            <a:ext cx="5295900" cy="76200"/>
          </a:xfrm>
          <a:prstGeom xmlns:a="http://schemas.openxmlformats.org/drawingml/2006/main" prst="roundRect">
            <a:avLst>
              <a:gd name="adj" fmla="val 50000"/>
            </a:avLst>
          </a:prstGeom>
          <a:solidFill xmlns:a="http://schemas.openxmlformats.org/drawingml/2006/main">
            <a:srgbClr val="4B5EAA"/>
          </a:solidFill>
          <a:ln xmlns:a="http://schemas.openxmlformats.org/drawingml/2006/main" w="0">
            <a:solidFill>
              <a:srgbClr val="4B5EAA"/>
            </a:solidFill>
            <a:prstDash val="solid"/>
          </a:ln>
        </p:spPr>
      </p:sp>
      <p:sp>
        <p:nvSpPr>
          <p:cNvPr id="32" name="">
            <a:extLst xmlns:a="http://schemas.openxmlformats.org/drawingml/2006/main">
              <a:ext uri="{FF2B5EF4-FFF2-40B4-BE49-F238E27FC236}">
                <a16:creationId xmlns:a16="http://schemas.microsoft.com/office/drawing/2014/main" id="{CB35CE09-25ED-4431-8B80-0E5526FA1A47}"/>
              </a:ext>
            </a:extLst>
          </p:cNvPr>
          <p:cNvSpPr>
            <a:spLocks xmlns:a="http://schemas.openxmlformats.org/drawingml/2006/main" noGrp="1"/>
          </p:cNvSpPr>
          <p:nvPr/>
        </p:nvSpPr>
        <p:spPr>
          <a:xfrm xmlns:a="http://schemas.openxmlformats.org/drawingml/2006/main">
            <a:off x="6343650" y="4667250"/>
            <a:ext cx="5029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Target enterprise model</a:t>
            </a:r>
          </a:p>
        </p:txBody>
      </p:sp>
      <p:sp>
        <p:nvSpPr>
          <p:cNvPr id="33" name="">
            <a:extLst xmlns:a="http://schemas.openxmlformats.org/drawingml/2006/main">
              <a:ext uri="{FF2B5EF4-FFF2-40B4-BE49-F238E27FC236}">
                <a16:creationId xmlns:a16="http://schemas.microsoft.com/office/drawing/2014/main" id="{DD598286-1FED-49ED-ADA9-E6D7DDC6F21A}"/>
              </a:ext>
            </a:extLst>
          </p:cNvPr>
          <p:cNvSpPr>
            <a:spLocks xmlns:a="http://schemas.openxmlformats.org/drawingml/2006/main" noGrp="1"/>
          </p:cNvSpPr>
          <p:nvPr/>
        </p:nvSpPr>
        <p:spPr>
          <a:xfrm xmlns:a="http://schemas.openxmlformats.org/drawingml/2006/main">
            <a:off x="6343650" y="4972050"/>
            <a:ext cx="502920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A real AI Search Engine already exists. This project becomes the AI Ops control plane around it, reusing the same signal, diagnosis, approval, and rollout pattern.</a:t>
            </a:r>
          </a:p>
        </p:txBody>
      </p:sp>
      <p:sp>
        <p:nvSpPr>
          <p:cNvPr id="34" name="">
            <a:extLst xmlns:a="http://schemas.openxmlformats.org/drawingml/2006/main">
              <a:ext uri="{FF2B5EF4-FFF2-40B4-BE49-F238E27FC236}">
                <a16:creationId xmlns:a16="http://schemas.microsoft.com/office/drawing/2014/main" id="{B4060835-BC5A-43DE-B445-C0416BF49F5B}"/>
              </a:ext>
            </a:extLst>
          </p:cNvPr>
          <p:cNvSpPr>
            <a:spLocks xmlns:a="http://schemas.openxmlformats.org/drawingml/2006/main" noGrp="1"/>
          </p:cNvSpPr>
          <p:nvPr/>
        </p:nvSpPr>
        <p:spPr>
          <a:xfrm xmlns:a="http://schemas.openxmlformats.org/drawingml/2006/main">
            <a:off x="11201400" y="4629150"/>
            <a:ext cx="152400" cy="152400"/>
          </a:xfrm>
          <a:prstGeom xmlns:a="http://schemas.openxmlformats.org/drawingml/2006/main" prst="roundRect">
            <a:avLst>
              <a:gd name="adj" fmla="val 50000"/>
            </a:avLst>
          </a:prstGeom>
          <a:solidFill xmlns:a="http://schemas.openxmlformats.org/drawingml/2006/main">
            <a:srgbClr val="EEF1FF"/>
          </a:solidFill>
          <a:ln xmlns:a="http://schemas.openxmlformats.org/drawingml/2006/main" w="9525">
            <a:solidFill>
              <a:srgbClr val="4B5EAA"/>
            </a:solidFill>
            <a:prstDash val="solid"/>
          </a:ln>
        </p:spPr>
      </p:sp>
    </p:spTree>
    <p:extLst>
      <p:ext uri="{BB962C8B-B14F-4D97-AF65-F5344CB8AC3E}">
        <p14:creationId xmlns:p14="http://schemas.microsoft.com/office/powerpoint/2010/main" val="547680161"/>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A6FEF05-D048-440E-A88D-4A745AAB4CEB}"/>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DC26B05B-6931-49CF-8EC4-2CF5C8402A48}"/>
              </a:ext>
            </a:extLst>
          </p:cNvPr>
          <p:cNvSpPr>
            <a:spLocks xmlns:a="http://schemas.openxmlformats.org/drawingml/2006/main" noGrp="1"/>
          </p:cNvSpPr>
          <p:nvPr/>
        </p:nvSpPr>
        <p:spPr>
          <a:xfrm xmlns:a="http://schemas.openxmlformats.org/drawingml/2006/main">
            <a:off x="647700" y="400050"/>
            <a:ext cx="7239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2325" b="1">
                <a:solidFill>
                  <a:srgbClr val="17202A"/>
                </a:solidFill>
              </a:defRPr>
            </a:pPr>
            <a:r>
              <a:rPr sz="2325" b="1">
                <a:solidFill>
                  <a:srgbClr val="17202A"/>
                </a:solidFill>
              </a:rPr>
              <a:t>Current Demo Architecture</a:t>
            </a:r>
          </a:p>
        </p:txBody>
      </p:sp>
      <p:sp>
        <p:nvSpPr>
          <p:cNvPr id="3" name="">
            <a:extLst xmlns:a="http://schemas.openxmlformats.org/drawingml/2006/main">
              <a:ext uri="{FF2B5EF4-FFF2-40B4-BE49-F238E27FC236}">
                <a16:creationId xmlns:a16="http://schemas.microsoft.com/office/drawing/2014/main" id="{B4C0FAE8-BFDF-488C-A4BA-269BB8C5A347}"/>
              </a:ext>
            </a:extLst>
          </p:cNvPr>
          <p:cNvSpPr>
            <a:spLocks xmlns:a="http://schemas.openxmlformats.org/drawingml/2006/main" noGrp="1"/>
          </p:cNvSpPr>
          <p:nvPr/>
        </p:nvSpPr>
        <p:spPr>
          <a:xfrm xmlns:a="http://schemas.openxmlformats.org/drawingml/2006/main">
            <a:off x="647700" y="87630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275" b="0">
                <a:solidFill>
                  <a:srgbClr val="5D6975"/>
                </a:solidFill>
              </a:defRPr>
            </a:pPr>
            <a:r>
              <a:rPr sz="1275" b="0">
                <a:solidFill>
                  <a:srgbClr val="5D6975"/>
                </a:solidFill>
              </a:rPr>
              <a:t>Today, the control plane wraps a Meilisearch-based serving path and uses observability plus workflow control to manage risky search changes.</a:t>
            </a:r>
          </a:p>
        </p:txBody>
      </p:sp>
      <p:sp>
        <p:nvSpPr>
          <p:cNvPr id="4" name="">
            <a:extLst xmlns:a="http://schemas.openxmlformats.org/drawingml/2006/main">
              <a:ext uri="{FF2B5EF4-FFF2-40B4-BE49-F238E27FC236}">
                <a16:creationId xmlns:a16="http://schemas.microsoft.com/office/drawing/2014/main" id="{189703E9-2089-4804-BBC5-4D511F46EBE7}"/>
              </a:ext>
            </a:extLst>
          </p:cNvPr>
          <p:cNvSpPr>
            <a:spLocks xmlns:a="http://schemas.openxmlformats.org/drawingml/2006/main" noGrp="1"/>
          </p:cNvSpPr>
          <p:nvPr/>
        </p:nvSpPr>
        <p:spPr>
          <a:xfrm xmlns:a="http://schemas.openxmlformats.org/drawingml/2006/main">
            <a:off x="647700" y="1352550"/>
            <a:ext cx="10896600" cy="1200150"/>
          </a:xfrm>
          <a:prstGeom xmlns:a="http://schemas.openxmlformats.org/drawingml/2006/main" prst="roundRect">
            <a:avLst>
              <a:gd name="adj" fmla="val 6349"/>
            </a:avLst>
          </a:prstGeom>
          <a:solidFill xmlns:a="http://schemas.openxmlformats.org/drawingml/2006/main">
            <a:srgbClr val="EAF8F1"/>
          </a:solidFill>
          <a:ln xmlns:a="http://schemas.openxmlformats.org/drawingml/2006/main" w="9525">
            <a:solidFill>
              <a:srgbClr val="D6DADF"/>
            </a:solidFill>
            <a:prstDash val="solid"/>
          </a:ln>
        </p:spPr>
      </p:sp>
      <p:sp>
        <p:nvSpPr>
          <p:cNvPr id="5" name="">
            <a:extLst xmlns:a="http://schemas.openxmlformats.org/drawingml/2006/main">
              <a:ext uri="{FF2B5EF4-FFF2-40B4-BE49-F238E27FC236}">
                <a16:creationId xmlns:a16="http://schemas.microsoft.com/office/drawing/2014/main" id="{2034E1AE-84B9-4F0A-8508-C4C09AB22E5B}"/>
              </a:ext>
            </a:extLst>
          </p:cNvPr>
          <p:cNvSpPr>
            <a:spLocks xmlns:a="http://schemas.openxmlformats.org/drawingml/2006/main" noGrp="1"/>
          </p:cNvSpPr>
          <p:nvPr/>
        </p:nvSpPr>
        <p:spPr>
          <a:xfrm xmlns:a="http://schemas.openxmlformats.org/drawingml/2006/main">
            <a:off x="819150" y="1466850"/>
            <a:ext cx="1714500" cy="266700"/>
          </a:xfrm>
          <a:prstGeom xmlns:a="http://schemas.openxmlformats.org/drawingml/2006/main" prst="roundRect">
            <a:avLst>
              <a:gd name="adj" fmla="val 28571"/>
            </a:avLst>
          </a:prstGeom>
          <a:solidFill xmlns:a="http://schemas.openxmlformats.org/drawingml/2006/main">
            <a:srgbClr val="22A06B"/>
          </a:solidFill>
          <a:ln xmlns:a="http://schemas.openxmlformats.org/drawingml/2006/main" w="0">
            <a:solidFill>
              <a:srgbClr val="22A06B"/>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Serving Plane</a:t>
            </a:r>
          </a:p>
        </p:txBody>
      </p:sp>
      <p:sp>
        <p:nvSpPr>
          <p:cNvPr id="6" name="">
            <a:extLst xmlns:a="http://schemas.openxmlformats.org/drawingml/2006/main">
              <a:ext uri="{FF2B5EF4-FFF2-40B4-BE49-F238E27FC236}">
                <a16:creationId xmlns:a16="http://schemas.microsoft.com/office/drawing/2014/main" id="{E3484850-3F8D-4676-A629-FC5324171935}"/>
              </a:ext>
            </a:extLst>
          </p:cNvPr>
          <p:cNvSpPr>
            <a:spLocks xmlns:a="http://schemas.openxmlformats.org/drawingml/2006/main" noGrp="1"/>
          </p:cNvSpPr>
          <p:nvPr/>
        </p:nvSpPr>
        <p:spPr>
          <a:xfrm xmlns:a="http://schemas.openxmlformats.org/drawingml/2006/main">
            <a:off x="895350" y="1733550"/>
            <a:ext cx="16764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6DADF"/>
            </a:solidFill>
            <a:prstDash val="solid"/>
          </a:ln>
        </p:spPr>
      </p:sp>
      <p:sp>
        <p:nvSpPr>
          <p:cNvPr id="7" name="">
            <a:extLst xmlns:a="http://schemas.openxmlformats.org/drawingml/2006/main">
              <a:ext uri="{FF2B5EF4-FFF2-40B4-BE49-F238E27FC236}">
                <a16:creationId xmlns:a16="http://schemas.microsoft.com/office/drawing/2014/main" id="{85DDDC31-8472-44CE-8A74-27290D2A4DF2}"/>
              </a:ext>
            </a:extLst>
          </p:cNvPr>
          <p:cNvSpPr>
            <a:spLocks xmlns:a="http://schemas.openxmlformats.org/drawingml/2006/main" noGrp="1"/>
          </p:cNvSpPr>
          <p:nvPr/>
        </p:nvSpPr>
        <p:spPr>
          <a:xfrm xmlns:a="http://schemas.openxmlformats.org/drawingml/2006/main">
            <a:off x="895350" y="1733550"/>
            <a:ext cx="1676400" cy="76200"/>
          </a:xfrm>
          <a:prstGeom xmlns:a="http://schemas.openxmlformats.org/drawingml/2006/main" prst="roundRect">
            <a:avLst>
              <a:gd name="adj" fmla="val 50000"/>
            </a:avLst>
          </a:prstGeom>
          <a:solidFill xmlns:a="http://schemas.openxmlformats.org/drawingml/2006/main">
            <a:srgbClr val="22A06B"/>
          </a:solidFill>
          <a:ln xmlns:a="http://schemas.openxmlformats.org/drawingml/2006/main" w="0">
            <a:solidFill>
              <a:srgbClr val="22A06B"/>
            </a:solidFill>
            <a:prstDash val="solid"/>
          </a:ln>
        </p:spPr>
      </p:sp>
      <p:sp>
        <p:nvSpPr>
          <p:cNvPr id="8" name="">
            <a:extLst xmlns:a="http://schemas.openxmlformats.org/drawingml/2006/main">
              <a:ext uri="{FF2B5EF4-FFF2-40B4-BE49-F238E27FC236}">
                <a16:creationId xmlns:a16="http://schemas.microsoft.com/office/drawing/2014/main" id="{C28A900F-5EB7-401F-91AC-5CA0D8A16D24}"/>
              </a:ext>
            </a:extLst>
          </p:cNvPr>
          <p:cNvSpPr>
            <a:spLocks xmlns:a="http://schemas.openxmlformats.org/drawingml/2006/main" noGrp="1"/>
          </p:cNvSpPr>
          <p:nvPr/>
        </p:nvSpPr>
        <p:spPr>
          <a:xfrm xmlns:a="http://schemas.openxmlformats.org/drawingml/2006/main">
            <a:off x="1028700" y="1885950"/>
            <a:ext cx="1409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User / Search Client</a:t>
            </a:r>
          </a:p>
        </p:txBody>
      </p:sp>
      <p:sp>
        <p:nvSpPr>
          <p:cNvPr id="9" name="">
            <a:extLst xmlns:a="http://schemas.openxmlformats.org/drawingml/2006/main">
              <a:ext uri="{FF2B5EF4-FFF2-40B4-BE49-F238E27FC236}">
                <a16:creationId xmlns:a16="http://schemas.microsoft.com/office/drawing/2014/main" id="{B357A556-B6C5-4364-A1BB-6B764911FFAB}"/>
              </a:ext>
            </a:extLst>
          </p:cNvPr>
          <p:cNvSpPr>
            <a:spLocks xmlns:a="http://schemas.openxmlformats.org/drawingml/2006/main" noGrp="1"/>
          </p:cNvSpPr>
          <p:nvPr/>
        </p:nvSpPr>
        <p:spPr>
          <a:xfrm xmlns:a="http://schemas.openxmlformats.org/drawingml/2006/main">
            <a:off x="1028700" y="2190750"/>
            <a:ext cx="1409700" cy="76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Submits queries to the API.</a:t>
            </a:r>
          </a:p>
        </p:txBody>
      </p:sp>
      <p:sp>
        <p:nvSpPr>
          <p:cNvPr id="10" name="">
            <a:extLst xmlns:a="http://schemas.openxmlformats.org/drawingml/2006/main">
              <a:ext uri="{FF2B5EF4-FFF2-40B4-BE49-F238E27FC236}">
                <a16:creationId xmlns:a16="http://schemas.microsoft.com/office/drawing/2014/main" id="{2E2BFF50-4FFF-4F34-8D8B-3A3108F7EB58}"/>
              </a:ext>
            </a:extLst>
          </p:cNvPr>
          <p:cNvSpPr>
            <a:spLocks xmlns:a="http://schemas.openxmlformats.org/drawingml/2006/main" noGrp="1"/>
          </p:cNvSpPr>
          <p:nvPr/>
        </p:nvSpPr>
        <p:spPr>
          <a:xfrm xmlns:a="http://schemas.openxmlformats.org/drawingml/2006/main">
            <a:off x="2266950" y="1847850"/>
            <a:ext cx="152400" cy="152400"/>
          </a:xfrm>
          <a:prstGeom xmlns:a="http://schemas.openxmlformats.org/drawingml/2006/main" prst="roundRect">
            <a:avLst>
              <a:gd name="adj" fmla="val 50000"/>
            </a:avLst>
          </a:prstGeom>
          <a:solidFill xmlns:a="http://schemas.openxmlformats.org/drawingml/2006/main">
            <a:srgbClr val="EAF8F1"/>
          </a:solidFill>
          <a:ln xmlns:a="http://schemas.openxmlformats.org/drawingml/2006/main" w="9525">
            <a:solidFill>
              <a:srgbClr val="22A06B"/>
            </a:solidFill>
            <a:prstDash val="solid"/>
          </a:ln>
        </p:spPr>
      </p:sp>
      <p:sp>
        <p:nvSpPr>
          <p:cNvPr id="11" name="">
            <a:extLst xmlns:a="http://schemas.openxmlformats.org/drawingml/2006/main">
              <a:ext uri="{FF2B5EF4-FFF2-40B4-BE49-F238E27FC236}">
                <a16:creationId xmlns:a16="http://schemas.microsoft.com/office/drawing/2014/main" id="{5980A53D-E14F-4BB2-9D45-7343E774E808}"/>
              </a:ext>
            </a:extLst>
          </p:cNvPr>
          <p:cNvSpPr>
            <a:spLocks xmlns:a="http://schemas.openxmlformats.org/drawingml/2006/main" noGrp="1"/>
          </p:cNvSpPr>
          <p:nvPr/>
        </p:nvSpPr>
        <p:spPr>
          <a:xfrm xmlns:a="http://schemas.openxmlformats.org/drawingml/2006/main">
            <a:off x="2609850" y="19050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12" name="">
            <a:extLst xmlns:a="http://schemas.openxmlformats.org/drawingml/2006/main">
              <a:ext uri="{FF2B5EF4-FFF2-40B4-BE49-F238E27FC236}">
                <a16:creationId xmlns:a16="http://schemas.microsoft.com/office/drawing/2014/main" id="{277C5FBA-FC3A-4DAB-8F09-5D24C2FAA5F3}"/>
              </a:ext>
            </a:extLst>
          </p:cNvPr>
          <p:cNvSpPr>
            <a:spLocks xmlns:a="http://schemas.openxmlformats.org/drawingml/2006/main" noGrp="1"/>
          </p:cNvSpPr>
          <p:nvPr/>
        </p:nvSpPr>
        <p:spPr>
          <a:xfrm xmlns:a="http://schemas.openxmlformats.org/drawingml/2006/main">
            <a:off x="3028950" y="1733550"/>
            <a:ext cx="16764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6DADF"/>
            </a:solidFill>
            <a:prstDash val="solid"/>
          </a:ln>
        </p:spPr>
      </p:sp>
      <p:sp>
        <p:nvSpPr>
          <p:cNvPr id="13" name="">
            <a:extLst xmlns:a="http://schemas.openxmlformats.org/drawingml/2006/main">
              <a:ext uri="{FF2B5EF4-FFF2-40B4-BE49-F238E27FC236}">
                <a16:creationId xmlns:a16="http://schemas.microsoft.com/office/drawing/2014/main" id="{A55647DE-2679-40F1-AAFA-6D1525F363C2}"/>
              </a:ext>
            </a:extLst>
          </p:cNvPr>
          <p:cNvSpPr>
            <a:spLocks xmlns:a="http://schemas.openxmlformats.org/drawingml/2006/main" noGrp="1"/>
          </p:cNvSpPr>
          <p:nvPr/>
        </p:nvSpPr>
        <p:spPr>
          <a:xfrm xmlns:a="http://schemas.openxmlformats.org/drawingml/2006/main">
            <a:off x="3028950" y="1733550"/>
            <a:ext cx="1676400" cy="76200"/>
          </a:xfrm>
          <a:prstGeom xmlns:a="http://schemas.openxmlformats.org/drawingml/2006/main" prst="roundRect">
            <a:avLst>
              <a:gd name="adj" fmla="val 50000"/>
            </a:avLst>
          </a:prstGeom>
          <a:solidFill xmlns:a="http://schemas.openxmlformats.org/drawingml/2006/main">
            <a:srgbClr val="22A06B"/>
          </a:solidFill>
          <a:ln xmlns:a="http://schemas.openxmlformats.org/drawingml/2006/main" w="0">
            <a:solidFill>
              <a:srgbClr val="22A06B"/>
            </a:solidFill>
            <a:prstDash val="solid"/>
          </a:ln>
        </p:spPr>
      </p:sp>
      <p:sp>
        <p:nvSpPr>
          <p:cNvPr id="14" name="">
            <a:extLst xmlns:a="http://schemas.openxmlformats.org/drawingml/2006/main">
              <a:ext uri="{FF2B5EF4-FFF2-40B4-BE49-F238E27FC236}">
                <a16:creationId xmlns:a16="http://schemas.microsoft.com/office/drawing/2014/main" id="{05863F48-BAE0-4A56-97E0-B557B26F69FB}"/>
              </a:ext>
            </a:extLst>
          </p:cNvPr>
          <p:cNvSpPr>
            <a:spLocks xmlns:a="http://schemas.openxmlformats.org/drawingml/2006/main" noGrp="1"/>
          </p:cNvSpPr>
          <p:nvPr/>
        </p:nvSpPr>
        <p:spPr>
          <a:xfrm xmlns:a="http://schemas.openxmlformats.org/drawingml/2006/main">
            <a:off x="3162300" y="1885950"/>
            <a:ext cx="1409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FastAPI Search API</a:t>
            </a:r>
          </a:p>
        </p:txBody>
      </p:sp>
      <p:sp>
        <p:nvSpPr>
          <p:cNvPr id="15" name="">
            <a:extLst xmlns:a="http://schemas.openxmlformats.org/drawingml/2006/main">
              <a:ext uri="{FF2B5EF4-FFF2-40B4-BE49-F238E27FC236}">
                <a16:creationId xmlns:a16="http://schemas.microsoft.com/office/drawing/2014/main" id="{7CC1C908-3649-457B-9A0F-F12D94E38824}"/>
              </a:ext>
            </a:extLst>
          </p:cNvPr>
          <p:cNvSpPr>
            <a:spLocks xmlns:a="http://schemas.openxmlformats.org/drawingml/2006/main" noGrp="1"/>
          </p:cNvSpPr>
          <p:nvPr/>
        </p:nvSpPr>
        <p:spPr>
          <a:xfrm xmlns:a="http://schemas.openxmlformats.org/drawingml/2006/main">
            <a:off x="3162300" y="2190750"/>
            <a:ext cx="1409700" cy="76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Handles /search and console routes.</a:t>
            </a:r>
          </a:p>
        </p:txBody>
      </p:sp>
      <p:sp>
        <p:nvSpPr>
          <p:cNvPr id="16" name="">
            <a:extLst xmlns:a="http://schemas.openxmlformats.org/drawingml/2006/main">
              <a:ext uri="{FF2B5EF4-FFF2-40B4-BE49-F238E27FC236}">
                <a16:creationId xmlns:a16="http://schemas.microsoft.com/office/drawing/2014/main" id="{A6AA1959-B33D-4104-B734-7269247E6E8A}"/>
              </a:ext>
            </a:extLst>
          </p:cNvPr>
          <p:cNvSpPr>
            <a:spLocks xmlns:a="http://schemas.openxmlformats.org/drawingml/2006/main" noGrp="1"/>
          </p:cNvSpPr>
          <p:nvPr/>
        </p:nvSpPr>
        <p:spPr>
          <a:xfrm xmlns:a="http://schemas.openxmlformats.org/drawingml/2006/main">
            <a:off x="4400550" y="1847850"/>
            <a:ext cx="152400" cy="152400"/>
          </a:xfrm>
          <a:prstGeom xmlns:a="http://schemas.openxmlformats.org/drawingml/2006/main" prst="roundRect">
            <a:avLst>
              <a:gd name="adj" fmla="val 50000"/>
            </a:avLst>
          </a:prstGeom>
          <a:solidFill xmlns:a="http://schemas.openxmlformats.org/drawingml/2006/main">
            <a:srgbClr val="EAF8F1"/>
          </a:solidFill>
          <a:ln xmlns:a="http://schemas.openxmlformats.org/drawingml/2006/main" w="9525">
            <a:solidFill>
              <a:srgbClr val="22A06B"/>
            </a:solidFill>
            <a:prstDash val="solid"/>
          </a:ln>
        </p:spPr>
      </p:sp>
      <p:sp>
        <p:nvSpPr>
          <p:cNvPr id="17" name="">
            <a:extLst xmlns:a="http://schemas.openxmlformats.org/drawingml/2006/main">
              <a:ext uri="{FF2B5EF4-FFF2-40B4-BE49-F238E27FC236}">
                <a16:creationId xmlns:a16="http://schemas.microsoft.com/office/drawing/2014/main" id="{AA03DA48-FEB0-4705-AFEB-0C0D2D5CA2F8}"/>
              </a:ext>
            </a:extLst>
          </p:cNvPr>
          <p:cNvSpPr>
            <a:spLocks xmlns:a="http://schemas.openxmlformats.org/drawingml/2006/main" noGrp="1"/>
          </p:cNvSpPr>
          <p:nvPr/>
        </p:nvSpPr>
        <p:spPr>
          <a:xfrm xmlns:a="http://schemas.openxmlformats.org/drawingml/2006/main">
            <a:off x="4743450" y="19050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18" name="">
            <a:extLst xmlns:a="http://schemas.openxmlformats.org/drawingml/2006/main">
              <a:ext uri="{FF2B5EF4-FFF2-40B4-BE49-F238E27FC236}">
                <a16:creationId xmlns:a16="http://schemas.microsoft.com/office/drawing/2014/main" id="{7D37DB1C-5AF3-42C1-ACFB-5C420576BB84}"/>
              </a:ext>
            </a:extLst>
          </p:cNvPr>
          <p:cNvSpPr>
            <a:spLocks xmlns:a="http://schemas.openxmlformats.org/drawingml/2006/main" noGrp="1"/>
          </p:cNvSpPr>
          <p:nvPr/>
        </p:nvSpPr>
        <p:spPr>
          <a:xfrm xmlns:a="http://schemas.openxmlformats.org/drawingml/2006/main">
            <a:off x="5162550" y="1733550"/>
            <a:ext cx="16192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6DADF"/>
            </a:solidFill>
            <a:prstDash val="solid"/>
          </a:ln>
        </p:spPr>
      </p:sp>
      <p:sp>
        <p:nvSpPr>
          <p:cNvPr id="19" name="">
            <a:extLst xmlns:a="http://schemas.openxmlformats.org/drawingml/2006/main">
              <a:ext uri="{FF2B5EF4-FFF2-40B4-BE49-F238E27FC236}">
                <a16:creationId xmlns:a16="http://schemas.microsoft.com/office/drawing/2014/main" id="{5C6EC426-FDD2-42BD-9FDF-85BCE174882B}"/>
              </a:ext>
            </a:extLst>
          </p:cNvPr>
          <p:cNvSpPr>
            <a:spLocks xmlns:a="http://schemas.openxmlformats.org/drawingml/2006/main" noGrp="1"/>
          </p:cNvSpPr>
          <p:nvPr/>
        </p:nvSpPr>
        <p:spPr>
          <a:xfrm xmlns:a="http://schemas.openxmlformats.org/drawingml/2006/main">
            <a:off x="5162550" y="1733550"/>
            <a:ext cx="1619250" cy="76200"/>
          </a:xfrm>
          <a:prstGeom xmlns:a="http://schemas.openxmlformats.org/drawingml/2006/main" prst="roundRect">
            <a:avLst>
              <a:gd name="adj" fmla="val 50000"/>
            </a:avLst>
          </a:prstGeom>
          <a:solidFill xmlns:a="http://schemas.openxmlformats.org/drawingml/2006/main">
            <a:srgbClr val="22A06B"/>
          </a:solidFill>
          <a:ln xmlns:a="http://schemas.openxmlformats.org/drawingml/2006/main" w="0">
            <a:solidFill>
              <a:srgbClr val="22A06B"/>
            </a:solidFill>
            <a:prstDash val="solid"/>
          </a:ln>
        </p:spPr>
      </p:sp>
      <p:sp>
        <p:nvSpPr>
          <p:cNvPr id="20" name="">
            <a:extLst xmlns:a="http://schemas.openxmlformats.org/drawingml/2006/main">
              <a:ext uri="{FF2B5EF4-FFF2-40B4-BE49-F238E27FC236}">
                <a16:creationId xmlns:a16="http://schemas.microsoft.com/office/drawing/2014/main" id="{028C6B44-C619-4157-B9ED-B59CEDBBAEAE}"/>
              </a:ext>
            </a:extLst>
          </p:cNvPr>
          <p:cNvSpPr>
            <a:spLocks xmlns:a="http://schemas.openxmlformats.org/drawingml/2006/main" noGrp="1"/>
          </p:cNvSpPr>
          <p:nvPr/>
        </p:nvSpPr>
        <p:spPr>
          <a:xfrm xmlns:a="http://schemas.openxmlformats.org/drawingml/2006/main">
            <a:off x="5295900" y="1885950"/>
            <a:ext cx="1352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Traffic Router</a:t>
            </a:r>
          </a:p>
        </p:txBody>
      </p:sp>
      <p:sp>
        <p:nvSpPr>
          <p:cNvPr id="21" name="">
            <a:extLst xmlns:a="http://schemas.openxmlformats.org/drawingml/2006/main">
              <a:ext uri="{FF2B5EF4-FFF2-40B4-BE49-F238E27FC236}">
                <a16:creationId xmlns:a16="http://schemas.microsoft.com/office/drawing/2014/main" id="{13A7787C-9858-4299-BFF2-0199F131AF08}"/>
              </a:ext>
            </a:extLst>
          </p:cNvPr>
          <p:cNvSpPr>
            <a:spLocks xmlns:a="http://schemas.openxmlformats.org/drawingml/2006/main" noGrp="1"/>
          </p:cNvSpPr>
          <p:nvPr/>
        </p:nvSpPr>
        <p:spPr>
          <a:xfrm xmlns:a="http://schemas.openxmlformats.org/drawingml/2006/main">
            <a:off x="5295900" y="2190750"/>
            <a:ext cx="1352550" cy="76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Chooses baseline, shadow, or canary path.</a:t>
            </a:r>
          </a:p>
        </p:txBody>
      </p:sp>
      <p:sp>
        <p:nvSpPr>
          <p:cNvPr id="22" name="">
            <a:extLst xmlns:a="http://schemas.openxmlformats.org/drawingml/2006/main">
              <a:ext uri="{FF2B5EF4-FFF2-40B4-BE49-F238E27FC236}">
                <a16:creationId xmlns:a16="http://schemas.microsoft.com/office/drawing/2014/main" id="{ED59F54C-1D02-4946-B095-6544488A18C9}"/>
              </a:ext>
            </a:extLst>
          </p:cNvPr>
          <p:cNvSpPr>
            <a:spLocks xmlns:a="http://schemas.openxmlformats.org/drawingml/2006/main" noGrp="1"/>
          </p:cNvSpPr>
          <p:nvPr/>
        </p:nvSpPr>
        <p:spPr>
          <a:xfrm xmlns:a="http://schemas.openxmlformats.org/drawingml/2006/main">
            <a:off x="6477000" y="1847850"/>
            <a:ext cx="152400" cy="152400"/>
          </a:xfrm>
          <a:prstGeom xmlns:a="http://schemas.openxmlformats.org/drawingml/2006/main" prst="roundRect">
            <a:avLst>
              <a:gd name="adj" fmla="val 50000"/>
            </a:avLst>
          </a:prstGeom>
          <a:solidFill xmlns:a="http://schemas.openxmlformats.org/drawingml/2006/main">
            <a:srgbClr val="EAF8F1"/>
          </a:solidFill>
          <a:ln xmlns:a="http://schemas.openxmlformats.org/drawingml/2006/main" w="9525">
            <a:solidFill>
              <a:srgbClr val="22A06B"/>
            </a:solidFill>
            <a:prstDash val="solid"/>
          </a:ln>
        </p:spPr>
      </p:sp>
      <p:sp>
        <p:nvSpPr>
          <p:cNvPr id="23" name="">
            <a:extLst xmlns:a="http://schemas.openxmlformats.org/drawingml/2006/main">
              <a:ext uri="{FF2B5EF4-FFF2-40B4-BE49-F238E27FC236}">
                <a16:creationId xmlns:a16="http://schemas.microsoft.com/office/drawing/2014/main" id="{2E963910-AF6C-4A87-8F3B-121FEB81A280}"/>
              </a:ext>
            </a:extLst>
          </p:cNvPr>
          <p:cNvSpPr>
            <a:spLocks xmlns:a="http://schemas.openxmlformats.org/drawingml/2006/main" noGrp="1"/>
          </p:cNvSpPr>
          <p:nvPr/>
        </p:nvSpPr>
        <p:spPr>
          <a:xfrm xmlns:a="http://schemas.openxmlformats.org/drawingml/2006/main">
            <a:off x="6819900" y="19050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24" name="">
            <a:extLst xmlns:a="http://schemas.openxmlformats.org/drawingml/2006/main">
              <a:ext uri="{FF2B5EF4-FFF2-40B4-BE49-F238E27FC236}">
                <a16:creationId xmlns:a16="http://schemas.microsoft.com/office/drawing/2014/main" id="{6BF391D3-DCF2-4DEC-A4F2-B6485DF037C9}"/>
              </a:ext>
            </a:extLst>
          </p:cNvPr>
          <p:cNvSpPr>
            <a:spLocks xmlns:a="http://schemas.openxmlformats.org/drawingml/2006/main" noGrp="1"/>
          </p:cNvSpPr>
          <p:nvPr/>
        </p:nvSpPr>
        <p:spPr>
          <a:xfrm xmlns:a="http://schemas.openxmlformats.org/drawingml/2006/main">
            <a:off x="7239000" y="1619250"/>
            <a:ext cx="1790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6DADF"/>
            </a:solidFill>
            <a:prstDash val="solid"/>
          </a:ln>
        </p:spPr>
      </p:sp>
      <p:sp>
        <p:nvSpPr>
          <p:cNvPr id="25" name="">
            <a:extLst xmlns:a="http://schemas.openxmlformats.org/drawingml/2006/main">
              <a:ext uri="{FF2B5EF4-FFF2-40B4-BE49-F238E27FC236}">
                <a16:creationId xmlns:a16="http://schemas.microsoft.com/office/drawing/2014/main" id="{1362BE40-04CB-426F-BCDC-B78B37D02563}"/>
              </a:ext>
            </a:extLst>
          </p:cNvPr>
          <p:cNvSpPr>
            <a:spLocks xmlns:a="http://schemas.openxmlformats.org/drawingml/2006/main" noGrp="1"/>
          </p:cNvSpPr>
          <p:nvPr/>
        </p:nvSpPr>
        <p:spPr>
          <a:xfrm xmlns:a="http://schemas.openxmlformats.org/drawingml/2006/main">
            <a:off x="7239000" y="1619250"/>
            <a:ext cx="1790700" cy="76200"/>
          </a:xfrm>
          <a:prstGeom xmlns:a="http://schemas.openxmlformats.org/drawingml/2006/main" prst="roundRect">
            <a:avLst>
              <a:gd name="adj" fmla="val 50000"/>
            </a:avLst>
          </a:prstGeom>
          <a:solidFill xmlns:a="http://schemas.openxmlformats.org/drawingml/2006/main">
            <a:srgbClr val="22A06B"/>
          </a:solidFill>
          <a:ln xmlns:a="http://schemas.openxmlformats.org/drawingml/2006/main" w="0">
            <a:solidFill>
              <a:srgbClr val="22A06B"/>
            </a:solidFill>
            <a:prstDash val="solid"/>
          </a:ln>
        </p:spPr>
      </p:sp>
      <p:sp>
        <p:nvSpPr>
          <p:cNvPr id="26" name="">
            <a:extLst xmlns:a="http://schemas.openxmlformats.org/drawingml/2006/main">
              <a:ext uri="{FF2B5EF4-FFF2-40B4-BE49-F238E27FC236}">
                <a16:creationId xmlns:a16="http://schemas.microsoft.com/office/drawing/2014/main" id="{62CEC3CC-25AA-4546-8F21-B92BBC20A21E}"/>
              </a:ext>
            </a:extLst>
          </p:cNvPr>
          <p:cNvSpPr>
            <a:spLocks xmlns:a="http://schemas.openxmlformats.org/drawingml/2006/main" noGrp="1"/>
          </p:cNvSpPr>
          <p:nvPr/>
        </p:nvSpPr>
        <p:spPr>
          <a:xfrm xmlns:a="http://schemas.openxmlformats.org/drawingml/2006/main">
            <a:off x="7372350" y="1771650"/>
            <a:ext cx="152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Meilisearch baseline</a:t>
            </a:r>
          </a:p>
        </p:txBody>
      </p:sp>
      <p:sp>
        <p:nvSpPr>
          <p:cNvPr id="27" name="">
            <a:extLst xmlns:a="http://schemas.openxmlformats.org/drawingml/2006/main">
              <a:ext uri="{FF2B5EF4-FFF2-40B4-BE49-F238E27FC236}">
                <a16:creationId xmlns:a16="http://schemas.microsoft.com/office/drawing/2014/main" id="{1CCF1C59-AB78-4C6C-A5E3-B1073592D633}"/>
              </a:ext>
            </a:extLst>
          </p:cNvPr>
          <p:cNvSpPr>
            <a:spLocks xmlns:a="http://schemas.openxmlformats.org/drawingml/2006/main" noGrp="1"/>
          </p:cNvSpPr>
          <p:nvPr/>
        </p:nvSpPr>
        <p:spPr>
          <a:xfrm xmlns:a="http://schemas.openxmlformats.org/drawingml/2006/main">
            <a:off x="7372350" y="2076450"/>
            <a:ext cx="1524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Current visible index for live traffic.</a:t>
            </a:r>
          </a:p>
        </p:txBody>
      </p:sp>
      <p:sp>
        <p:nvSpPr>
          <p:cNvPr id="28" name="">
            <a:extLst xmlns:a="http://schemas.openxmlformats.org/drawingml/2006/main">
              <a:ext uri="{FF2B5EF4-FFF2-40B4-BE49-F238E27FC236}">
                <a16:creationId xmlns:a16="http://schemas.microsoft.com/office/drawing/2014/main" id="{E35D26C4-BCCE-4709-860E-DE7FE520D915}"/>
              </a:ext>
            </a:extLst>
          </p:cNvPr>
          <p:cNvSpPr>
            <a:spLocks xmlns:a="http://schemas.openxmlformats.org/drawingml/2006/main" noGrp="1"/>
          </p:cNvSpPr>
          <p:nvPr/>
        </p:nvSpPr>
        <p:spPr>
          <a:xfrm xmlns:a="http://schemas.openxmlformats.org/drawingml/2006/main">
            <a:off x="8724900" y="1733550"/>
            <a:ext cx="152400" cy="152400"/>
          </a:xfrm>
          <a:prstGeom xmlns:a="http://schemas.openxmlformats.org/drawingml/2006/main" prst="roundRect">
            <a:avLst>
              <a:gd name="adj" fmla="val 50000"/>
            </a:avLst>
          </a:prstGeom>
          <a:solidFill xmlns:a="http://schemas.openxmlformats.org/drawingml/2006/main">
            <a:srgbClr val="EAF8F1"/>
          </a:solidFill>
          <a:ln xmlns:a="http://schemas.openxmlformats.org/drawingml/2006/main" w="9525">
            <a:solidFill>
              <a:srgbClr val="22A06B"/>
            </a:solidFill>
            <a:prstDash val="solid"/>
          </a:ln>
        </p:spPr>
      </p:sp>
      <p:sp>
        <p:nvSpPr>
          <p:cNvPr id="29" name="">
            <a:extLst xmlns:a="http://schemas.openxmlformats.org/drawingml/2006/main">
              <a:ext uri="{FF2B5EF4-FFF2-40B4-BE49-F238E27FC236}">
                <a16:creationId xmlns:a16="http://schemas.microsoft.com/office/drawing/2014/main" id="{3293EB0E-3C52-49DE-914D-BE55617A25C5}"/>
              </a:ext>
            </a:extLst>
          </p:cNvPr>
          <p:cNvSpPr>
            <a:spLocks xmlns:a="http://schemas.openxmlformats.org/drawingml/2006/main" noGrp="1"/>
          </p:cNvSpPr>
          <p:nvPr/>
        </p:nvSpPr>
        <p:spPr>
          <a:xfrm xmlns:a="http://schemas.openxmlformats.org/drawingml/2006/main">
            <a:off x="9277350" y="1619250"/>
            <a:ext cx="1790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6DADF"/>
            </a:solidFill>
            <a:prstDash val="solid"/>
          </a:ln>
        </p:spPr>
      </p:sp>
      <p:sp>
        <p:nvSpPr>
          <p:cNvPr id="30" name="">
            <a:extLst xmlns:a="http://schemas.openxmlformats.org/drawingml/2006/main">
              <a:ext uri="{FF2B5EF4-FFF2-40B4-BE49-F238E27FC236}">
                <a16:creationId xmlns:a16="http://schemas.microsoft.com/office/drawing/2014/main" id="{A2AB4527-9028-43AD-877F-8311595F639C}"/>
              </a:ext>
            </a:extLst>
          </p:cNvPr>
          <p:cNvSpPr>
            <a:spLocks xmlns:a="http://schemas.openxmlformats.org/drawingml/2006/main" noGrp="1"/>
          </p:cNvSpPr>
          <p:nvPr/>
        </p:nvSpPr>
        <p:spPr>
          <a:xfrm xmlns:a="http://schemas.openxmlformats.org/drawingml/2006/main">
            <a:off x="9277350" y="1619250"/>
            <a:ext cx="1790700" cy="76200"/>
          </a:xfrm>
          <a:prstGeom xmlns:a="http://schemas.openxmlformats.org/drawingml/2006/main" prst="roundRect">
            <a:avLst>
              <a:gd name="adj" fmla="val 50000"/>
            </a:avLst>
          </a:prstGeom>
          <a:solidFill xmlns:a="http://schemas.openxmlformats.org/drawingml/2006/main">
            <a:srgbClr val="22A06B"/>
          </a:solidFill>
          <a:ln xmlns:a="http://schemas.openxmlformats.org/drawingml/2006/main" w="0">
            <a:solidFill>
              <a:srgbClr val="22A06B"/>
            </a:solidFill>
            <a:prstDash val="solid"/>
          </a:ln>
        </p:spPr>
      </p:sp>
      <p:sp>
        <p:nvSpPr>
          <p:cNvPr id="31" name="">
            <a:extLst xmlns:a="http://schemas.openxmlformats.org/drawingml/2006/main">
              <a:ext uri="{FF2B5EF4-FFF2-40B4-BE49-F238E27FC236}">
                <a16:creationId xmlns:a16="http://schemas.microsoft.com/office/drawing/2014/main" id="{46867AB4-421F-4F4C-B445-F1DBC15C7D44}"/>
              </a:ext>
            </a:extLst>
          </p:cNvPr>
          <p:cNvSpPr>
            <a:spLocks xmlns:a="http://schemas.openxmlformats.org/drawingml/2006/main" noGrp="1"/>
          </p:cNvSpPr>
          <p:nvPr/>
        </p:nvSpPr>
        <p:spPr>
          <a:xfrm xmlns:a="http://schemas.openxmlformats.org/drawingml/2006/main">
            <a:off x="9410700" y="1771650"/>
            <a:ext cx="152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Meilisearch candidate</a:t>
            </a:r>
          </a:p>
        </p:txBody>
      </p:sp>
      <p:sp>
        <p:nvSpPr>
          <p:cNvPr id="32" name="">
            <a:extLst xmlns:a="http://schemas.openxmlformats.org/drawingml/2006/main">
              <a:ext uri="{FF2B5EF4-FFF2-40B4-BE49-F238E27FC236}">
                <a16:creationId xmlns:a16="http://schemas.microsoft.com/office/drawing/2014/main" id="{98965BC9-37FD-404B-8870-AA1D01A8E3B1}"/>
              </a:ext>
            </a:extLst>
          </p:cNvPr>
          <p:cNvSpPr>
            <a:spLocks xmlns:a="http://schemas.openxmlformats.org/drawingml/2006/main" noGrp="1"/>
          </p:cNvSpPr>
          <p:nvPr/>
        </p:nvSpPr>
        <p:spPr>
          <a:xfrm xmlns:a="http://schemas.openxmlformats.org/drawingml/2006/main">
            <a:off x="9410700" y="2076450"/>
            <a:ext cx="1524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Shadow/canary index for evaluation.</a:t>
            </a:r>
          </a:p>
        </p:txBody>
      </p:sp>
      <p:sp>
        <p:nvSpPr>
          <p:cNvPr id="33" name="">
            <a:extLst xmlns:a="http://schemas.openxmlformats.org/drawingml/2006/main">
              <a:ext uri="{FF2B5EF4-FFF2-40B4-BE49-F238E27FC236}">
                <a16:creationId xmlns:a16="http://schemas.microsoft.com/office/drawing/2014/main" id="{CC99D2B3-8AA3-41BA-8F8C-118CAF106221}"/>
              </a:ext>
            </a:extLst>
          </p:cNvPr>
          <p:cNvSpPr>
            <a:spLocks xmlns:a="http://schemas.openxmlformats.org/drawingml/2006/main" noGrp="1"/>
          </p:cNvSpPr>
          <p:nvPr/>
        </p:nvSpPr>
        <p:spPr>
          <a:xfrm xmlns:a="http://schemas.openxmlformats.org/drawingml/2006/main">
            <a:off x="10763250" y="1733550"/>
            <a:ext cx="152400" cy="152400"/>
          </a:xfrm>
          <a:prstGeom xmlns:a="http://schemas.openxmlformats.org/drawingml/2006/main" prst="roundRect">
            <a:avLst>
              <a:gd name="adj" fmla="val 50000"/>
            </a:avLst>
          </a:prstGeom>
          <a:solidFill xmlns:a="http://schemas.openxmlformats.org/drawingml/2006/main">
            <a:srgbClr val="EAF8F1"/>
          </a:solidFill>
          <a:ln xmlns:a="http://schemas.openxmlformats.org/drawingml/2006/main" w="9525">
            <a:solidFill>
              <a:srgbClr val="22A06B"/>
            </a:solidFill>
            <a:prstDash val="solid"/>
          </a:ln>
        </p:spPr>
      </p:sp>
      <p:sp>
        <p:nvSpPr>
          <p:cNvPr id="34" name="">
            <a:extLst xmlns:a="http://schemas.openxmlformats.org/drawingml/2006/main">
              <a:ext uri="{FF2B5EF4-FFF2-40B4-BE49-F238E27FC236}">
                <a16:creationId xmlns:a16="http://schemas.microsoft.com/office/drawing/2014/main" id="{99B92D43-2C2E-41C6-A6DA-566A8990C970}"/>
              </a:ext>
            </a:extLst>
          </p:cNvPr>
          <p:cNvSpPr>
            <a:spLocks xmlns:a="http://schemas.openxmlformats.org/drawingml/2006/main" noGrp="1"/>
          </p:cNvSpPr>
          <p:nvPr/>
        </p:nvSpPr>
        <p:spPr>
          <a:xfrm xmlns:a="http://schemas.openxmlformats.org/drawingml/2006/main">
            <a:off x="647700" y="2724150"/>
            <a:ext cx="10896600" cy="1200150"/>
          </a:xfrm>
          <a:prstGeom xmlns:a="http://schemas.openxmlformats.org/drawingml/2006/main" prst="roundRect">
            <a:avLst>
              <a:gd name="adj" fmla="val 6349"/>
            </a:avLst>
          </a:prstGeom>
          <a:solidFill xmlns:a="http://schemas.openxmlformats.org/drawingml/2006/main">
            <a:srgbClr val="EBF2FF"/>
          </a:solidFill>
          <a:ln xmlns:a="http://schemas.openxmlformats.org/drawingml/2006/main" w="9525">
            <a:solidFill>
              <a:srgbClr val="D6DADF"/>
            </a:solidFill>
            <a:prstDash val="solid"/>
          </a:ln>
        </p:spPr>
      </p:sp>
      <p:sp>
        <p:nvSpPr>
          <p:cNvPr id="35" name="">
            <a:extLst xmlns:a="http://schemas.openxmlformats.org/drawingml/2006/main">
              <a:ext uri="{FF2B5EF4-FFF2-40B4-BE49-F238E27FC236}">
                <a16:creationId xmlns:a16="http://schemas.microsoft.com/office/drawing/2014/main" id="{3EF565DB-C5AE-4700-B60C-188A745CC37E}"/>
              </a:ext>
            </a:extLst>
          </p:cNvPr>
          <p:cNvSpPr>
            <a:spLocks xmlns:a="http://schemas.openxmlformats.org/drawingml/2006/main" noGrp="1"/>
          </p:cNvSpPr>
          <p:nvPr/>
        </p:nvSpPr>
        <p:spPr>
          <a:xfrm xmlns:a="http://schemas.openxmlformats.org/drawingml/2006/main">
            <a:off x="819150" y="2838450"/>
            <a:ext cx="1714500" cy="26670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0">
            <a:solidFill>
              <a:srgbClr val="2D6CDF"/>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Observability + Detection</a:t>
            </a:r>
          </a:p>
        </p:txBody>
      </p:sp>
      <p:sp>
        <p:nvSpPr>
          <p:cNvPr id="36" name="">
            <a:extLst xmlns:a="http://schemas.openxmlformats.org/drawingml/2006/main">
              <a:ext uri="{FF2B5EF4-FFF2-40B4-BE49-F238E27FC236}">
                <a16:creationId xmlns:a16="http://schemas.microsoft.com/office/drawing/2014/main" id="{E4109028-EF7F-490B-BA67-2015BB6E2984}"/>
              </a:ext>
            </a:extLst>
          </p:cNvPr>
          <p:cNvSpPr>
            <a:spLocks xmlns:a="http://schemas.openxmlformats.org/drawingml/2006/main" noGrp="1"/>
          </p:cNvSpPr>
          <p:nvPr/>
        </p:nvSpPr>
        <p:spPr>
          <a:xfrm xmlns:a="http://schemas.openxmlformats.org/drawingml/2006/main">
            <a:off x="895350" y="3105150"/>
            <a:ext cx="14478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6DADF"/>
            </a:solidFill>
            <a:prstDash val="solid"/>
          </a:ln>
        </p:spPr>
      </p:sp>
      <p:sp>
        <p:nvSpPr>
          <p:cNvPr id="37" name="">
            <a:extLst xmlns:a="http://schemas.openxmlformats.org/drawingml/2006/main">
              <a:ext uri="{FF2B5EF4-FFF2-40B4-BE49-F238E27FC236}">
                <a16:creationId xmlns:a16="http://schemas.microsoft.com/office/drawing/2014/main" id="{5A531DAB-0B6B-48D5-8419-D022163E43F9}"/>
              </a:ext>
            </a:extLst>
          </p:cNvPr>
          <p:cNvSpPr>
            <a:spLocks xmlns:a="http://schemas.openxmlformats.org/drawingml/2006/main" noGrp="1"/>
          </p:cNvSpPr>
          <p:nvPr/>
        </p:nvSpPr>
        <p:spPr>
          <a:xfrm xmlns:a="http://schemas.openxmlformats.org/drawingml/2006/main">
            <a:off x="895350" y="3105150"/>
            <a:ext cx="144780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38" name="">
            <a:extLst xmlns:a="http://schemas.openxmlformats.org/drawingml/2006/main">
              <a:ext uri="{FF2B5EF4-FFF2-40B4-BE49-F238E27FC236}">
                <a16:creationId xmlns:a16="http://schemas.microsoft.com/office/drawing/2014/main" id="{B7007F08-D01B-4178-A72F-590E8736BA73}"/>
              </a:ext>
            </a:extLst>
          </p:cNvPr>
          <p:cNvSpPr>
            <a:spLocks xmlns:a="http://schemas.openxmlformats.org/drawingml/2006/main" noGrp="1"/>
          </p:cNvSpPr>
          <p:nvPr/>
        </p:nvSpPr>
        <p:spPr>
          <a:xfrm xmlns:a="http://schemas.openxmlformats.org/drawingml/2006/main">
            <a:off x="1028700" y="3257550"/>
            <a:ext cx="1181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Prometheus</a:t>
            </a:r>
          </a:p>
        </p:txBody>
      </p:sp>
      <p:sp>
        <p:nvSpPr>
          <p:cNvPr id="39" name="">
            <a:extLst xmlns:a="http://schemas.openxmlformats.org/drawingml/2006/main">
              <a:ext uri="{FF2B5EF4-FFF2-40B4-BE49-F238E27FC236}">
                <a16:creationId xmlns:a16="http://schemas.microsoft.com/office/drawing/2014/main" id="{AC0C8653-CAD0-41B0-848B-7118AFC81120}"/>
              </a:ext>
            </a:extLst>
          </p:cNvPr>
          <p:cNvSpPr>
            <a:spLocks xmlns:a="http://schemas.openxmlformats.org/drawingml/2006/main" noGrp="1"/>
          </p:cNvSpPr>
          <p:nvPr/>
        </p:nvSpPr>
        <p:spPr>
          <a:xfrm xmlns:a="http://schemas.openxmlformats.org/drawingml/2006/main">
            <a:off x="1028700" y="3562350"/>
            <a:ext cx="1181100" cy="76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Request rate, latency, signal totals.</a:t>
            </a:r>
          </a:p>
        </p:txBody>
      </p:sp>
      <p:sp>
        <p:nvSpPr>
          <p:cNvPr id="40" name="">
            <a:extLst xmlns:a="http://schemas.openxmlformats.org/drawingml/2006/main">
              <a:ext uri="{FF2B5EF4-FFF2-40B4-BE49-F238E27FC236}">
                <a16:creationId xmlns:a16="http://schemas.microsoft.com/office/drawing/2014/main" id="{EF36FC3E-815F-411B-99FA-AAF18AB78AAD}"/>
              </a:ext>
            </a:extLst>
          </p:cNvPr>
          <p:cNvSpPr>
            <a:spLocks xmlns:a="http://schemas.openxmlformats.org/drawingml/2006/main" noGrp="1"/>
          </p:cNvSpPr>
          <p:nvPr/>
        </p:nvSpPr>
        <p:spPr>
          <a:xfrm xmlns:a="http://schemas.openxmlformats.org/drawingml/2006/main">
            <a:off x="2038350" y="321945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41" name="">
            <a:extLst xmlns:a="http://schemas.openxmlformats.org/drawingml/2006/main">
              <a:ext uri="{FF2B5EF4-FFF2-40B4-BE49-F238E27FC236}">
                <a16:creationId xmlns:a16="http://schemas.microsoft.com/office/drawing/2014/main" id="{74902409-E436-40D0-9293-11E99590CC2F}"/>
              </a:ext>
            </a:extLst>
          </p:cNvPr>
          <p:cNvSpPr>
            <a:spLocks xmlns:a="http://schemas.openxmlformats.org/drawingml/2006/main" noGrp="1"/>
          </p:cNvSpPr>
          <p:nvPr/>
        </p:nvSpPr>
        <p:spPr>
          <a:xfrm xmlns:a="http://schemas.openxmlformats.org/drawingml/2006/main">
            <a:off x="2495550" y="3105150"/>
            <a:ext cx="14478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6DADF"/>
            </a:solidFill>
            <a:prstDash val="solid"/>
          </a:ln>
        </p:spPr>
      </p:sp>
      <p:sp>
        <p:nvSpPr>
          <p:cNvPr id="42" name="">
            <a:extLst xmlns:a="http://schemas.openxmlformats.org/drawingml/2006/main">
              <a:ext uri="{FF2B5EF4-FFF2-40B4-BE49-F238E27FC236}">
                <a16:creationId xmlns:a16="http://schemas.microsoft.com/office/drawing/2014/main" id="{277E5FC4-DD79-4C6B-9A42-8B2E632E70D4}"/>
              </a:ext>
            </a:extLst>
          </p:cNvPr>
          <p:cNvSpPr>
            <a:spLocks xmlns:a="http://schemas.openxmlformats.org/drawingml/2006/main" noGrp="1"/>
          </p:cNvSpPr>
          <p:nvPr/>
        </p:nvSpPr>
        <p:spPr>
          <a:xfrm xmlns:a="http://schemas.openxmlformats.org/drawingml/2006/main">
            <a:off x="2495550" y="3105150"/>
            <a:ext cx="144780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43" name="">
            <a:extLst xmlns:a="http://schemas.openxmlformats.org/drawingml/2006/main">
              <a:ext uri="{FF2B5EF4-FFF2-40B4-BE49-F238E27FC236}">
                <a16:creationId xmlns:a16="http://schemas.microsoft.com/office/drawing/2014/main" id="{C0B2705E-7771-432D-8C43-E64EC4D5C98A}"/>
              </a:ext>
            </a:extLst>
          </p:cNvPr>
          <p:cNvSpPr>
            <a:spLocks xmlns:a="http://schemas.openxmlformats.org/drawingml/2006/main" noGrp="1"/>
          </p:cNvSpPr>
          <p:nvPr/>
        </p:nvSpPr>
        <p:spPr>
          <a:xfrm xmlns:a="http://schemas.openxmlformats.org/drawingml/2006/main">
            <a:off x="2628900" y="3257550"/>
            <a:ext cx="1181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Jaeger</a:t>
            </a:r>
          </a:p>
        </p:txBody>
      </p:sp>
      <p:sp>
        <p:nvSpPr>
          <p:cNvPr id="44" name="">
            <a:extLst xmlns:a="http://schemas.openxmlformats.org/drawingml/2006/main">
              <a:ext uri="{FF2B5EF4-FFF2-40B4-BE49-F238E27FC236}">
                <a16:creationId xmlns:a16="http://schemas.microsoft.com/office/drawing/2014/main" id="{8D2F7B59-79CF-4468-8685-566BCA928200}"/>
              </a:ext>
            </a:extLst>
          </p:cNvPr>
          <p:cNvSpPr>
            <a:spLocks xmlns:a="http://schemas.openxmlformats.org/drawingml/2006/main" noGrp="1"/>
          </p:cNvSpPr>
          <p:nvPr/>
        </p:nvSpPr>
        <p:spPr>
          <a:xfrm xmlns:a="http://schemas.openxmlformats.org/drawingml/2006/main">
            <a:off x="2628900" y="3562350"/>
            <a:ext cx="1181100" cy="76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Trace evidence for search and signals.</a:t>
            </a:r>
          </a:p>
        </p:txBody>
      </p:sp>
      <p:sp>
        <p:nvSpPr>
          <p:cNvPr id="45" name="">
            <a:extLst xmlns:a="http://schemas.openxmlformats.org/drawingml/2006/main">
              <a:ext uri="{FF2B5EF4-FFF2-40B4-BE49-F238E27FC236}">
                <a16:creationId xmlns:a16="http://schemas.microsoft.com/office/drawing/2014/main" id="{E24C306C-160B-451E-882A-EFF256A2DA22}"/>
              </a:ext>
            </a:extLst>
          </p:cNvPr>
          <p:cNvSpPr>
            <a:spLocks xmlns:a="http://schemas.openxmlformats.org/drawingml/2006/main" noGrp="1"/>
          </p:cNvSpPr>
          <p:nvPr/>
        </p:nvSpPr>
        <p:spPr>
          <a:xfrm xmlns:a="http://schemas.openxmlformats.org/drawingml/2006/main">
            <a:off x="3638550" y="321945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46" name="">
            <a:extLst xmlns:a="http://schemas.openxmlformats.org/drawingml/2006/main">
              <a:ext uri="{FF2B5EF4-FFF2-40B4-BE49-F238E27FC236}">
                <a16:creationId xmlns:a16="http://schemas.microsoft.com/office/drawing/2014/main" id="{069095D6-09C2-400E-A279-88E6BDE54EB1}"/>
              </a:ext>
            </a:extLst>
          </p:cNvPr>
          <p:cNvSpPr>
            <a:spLocks xmlns:a="http://schemas.openxmlformats.org/drawingml/2006/main" noGrp="1"/>
          </p:cNvSpPr>
          <p:nvPr/>
        </p:nvSpPr>
        <p:spPr>
          <a:xfrm xmlns:a="http://schemas.openxmlformats.org/drawingml/2006/main">
            <a:off x="4095750" y="3105150"/>
            <a:ext cx="14478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6DADF"/>
            </a:solidFill>
            <a:prstDash val="solid"/>
          </a:ln>
        </p:spPr>
      </p:sp>
      <p:sp>
        <p:nvSpPr>
          <p:cNvPr id="47" name="">
            <a:extLst xmlns:a="http://schemas.openxmlformats.org/drawingml/2006/main">
              <a:ext uri="{FF2B5EF4-FFF2-40B4-BE49-F238E27FC236}">
                <a16:creationId xmlns:a16="http://schemas.microsoft.com/office/drawing/2014/main" id="{41D7BAB5-98B9-4D33-BC06-301F7CA4A3BB}"/>
              </a:ext>
            </a:extLst>
          </p:cNvPr>
          <p:cNvSpPr>
            <a:spLocks xmlns:a="http://schemas.openxmlformats.org/drawingml/2006/main" noGrp="1"/>
          </p:cNvSpPr>
          <p:nvPr/>
        </p:nvSpPr>
        <p:spPr>
          <a:xfrm xmlns:a="http://schemas.openxmlformats.org/drawingml/2006/main">
            <a:off x="4095750" y="3105150"/>
            <a:ext cx="144780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48" name="">
            <a:extLst xmlns:a="http://schemas.openxmlformats.org/drawingml/2006/main">
              <a:ext uri="{FF2B5EF4-FFF2-40B4-BE49-F238E27FC236}">
                <a16:creationId xmlns:a16="http://schemas.microsoft.com/office/drawing/2014/main" id="{37EEDDDA-1F2C-416E-B7D4-528FA42ED03B}"/>
              </a:ext>
            </a:extLst>
          </p:cNvPr>
          <p:cNvSpPr>
            <a:spLocks xmlns:a="http://schemas.openxmlformats.org/drawingml/2006/main" noGrp="1"/>
          </p:cNvSpPr>
          <p:nvPr/>
        </p:nvSpPr>
        <p:spPr>
          <a:xfrm xmlns:a="http://schemas.openxmlformats.org/drawingml/2006/main">
            <a:off x="4229100" y="3257550"/>
            <a:ext cx="1181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Grafana</a:t>
            </a:r>
          </a:p>
        </p:txBody>
      </p:sp>
      <p:sp>
        <p:nvSpPr>
          <p:cNvPr id="49" name="">
            <a:extLst xmlns:a="http://schemas.openxmlformats.org/drawingml/2006/main">
              <a:ext uri="{FF2B5EF4-FFF2-40B4-BE49-F238E27FC236}">
                <a16:creationId xmlns:a16="http://schemas.microsoft.com/office/drawing/2014/main" id="{9948A3D6-C361-4212-9FDD-B51591060F1A}"/>
              </a:ext>
            </a:extLst>
          </p:cNvPr>
          <p:cNvSpPr>
            <a:spLocks xmlns:a="http://schemas.openxmlformats.org/drawingml/2006/main" noGrp="1"/>
          </p:cNvSpPr>
          <p:nvPr/>
        </p:nvSpPr>
        <p:spPr>
          <a:xfrm xmlns:a="http://schemas.openxmlformats.org/drawingml/2006/main">
            <a:off x="4229100" y="3562350"/>
            <a:ext cx="1181100" cy="76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Dashboards for operators.</a:t>
            </a:r>
          </a:p>
        </p:txBody>
      </p:sp>
      <p:sp>
        <p:nvSpPr>
          <p:cNvPr id="50" name="">
            <a:extLst xmlns:a="http://schemas.openxmlformats.org/drawingml/2006/main">
              <a:ext uri="{FF2B5EF4-FFF2-40B4-BE49-F238E27FC236}">
                <a16:creationId xmlns:a16="http://schemas.microsoft.com/office/drawing/2014/main" id="{4EC09E37-0933-443D-91D7-6BE40C9FDDB5}"/>
              </a:ext>
            </a:extLst>
          </p:cNvPr>
          <p:cNvSpPr>
            <a:spLocks xmlns:a="http://schemas.openxmlformats.org/drawingml/2006/main" noGrp="1"/>
          </p:cNvSpPr>
          <p:nvPr/>
        </p:nvSpPr>
        <p:spPr>
          <a:xfrm xmlns:a="http://schemas.openxmlformats.org/drawingml/2006/main">
            <a:off x="5238750" y="321945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51" name="">
            <a:extLst xmlns:a="http://schemas.openxmlformats.org/drawingml/2006/main">
              <a:ext uri="{FF2B5EF4-FFF2-40B4-BE49-F238E27FC236}">
                <a16:creationId xmlns:a16="http://schemas.microsoft.com/office/drawing/2014/main" id="{5FFA25E9-3575-4191-8FA7-8A90F9D5B756}"/>
              </a:ext>
            </a:extLst>
          </p:cNvPr>
          <p:cNvSpPr>
            <a:spLocks xmlns:a="http://schemas.openxmlformats.org/drawingml/2006/main" noGrp="1"/>
          </p:cNvSpPr>
          <p:nvPr/>
        </p:nvSpPr>
        <p:spPr>
          <a:xfrm xmlns:a="http://schemas.openxmlformats.org/drawingml/2006/main">
            <a:off x="5905500" y="2990850"/>
            <a:ext cx="20193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6DADF"/>
            </a:solidFill>
            <a:prstDash val="solid"/>
          </a:ln>
        </p:spPr>
      </p:sp>
      <p:sp>
        <p:nvSpPr>
          <p:cNvPr id="52" name="">
            <a:extLst xmlns:a="http://schemas.openxmlformats.org/drawingml/2006/main">
              <a:ext uri="{FF2B5EF4-FFF2-40B4-BE49-F238E27FC236}">
                <a16:creationId xmlns:a16="http://schemas.microsoft.com/office/drawing/2014/main" id="{401D58EB-138B-4C13-8131-B90FC2AA38FB}"/>
              </a:ext>
            </a:extLst>
          </p:cNvPr>
          <p:cNvSpPr>
            <a:spLocks xmlns:a="http://schemas.openxmlformats.org/drawingml/2006/main" noGrp="1"/>
          </p:cNvSpPr>
          <p:nvPr/>
        </p:nvSpPr>
        <p:spPr>
          <a:xfrm xmlns:a="http://schemas.openxmlformats.org/drawingml/2006/main">
            <a:off x="5905500" y="2990850"/>
            <a:ext cx="201930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53" name="">
            <a:extLst xmlns:a="http://schemas.openxmlformats.org/drawingml/2006/main">
              <a:ext uri="{FF2B5EF4-FFF2-40B4-BE49-F238E27FC236}">
                <a16:creationId xmlns:a16="http://schemas.microsoft.com/office/drawing/2014/main" id="{73D03DC0-A0A2-47B0-AA13-6A5E8FDD703F}"/>
              </a:ext>
            </a:extLst>
          </p:cNvPr>
          <p:cNvSpPr>
            <a:spLocks xmlns:a="http://schemas.openxmlformats.org/drawingml/2006/main" noGrp="1"/>
          </p:cNvSpPr>
          <p:nvPr/>
        </p:nvSpPr>
        <p:spPr>
          <a:xfrm xmlns:a="http://schemas.openxmlformats.org/drawingml/2006/main">
            <a:off x="6038850" y="3143250"/>
            <a:ext cx="1752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Signal Pipeline</a:t>
            </a:r>
          </a:p>
        </p:txBody>
      </p:sp>
      <p:sp>
        <p:nvSpPr>
          <p:cNvPr id="54" name="">
            <a:extLst xmlns:a="http://schemas.openxmlformats.org/drawingml/2006/main">
              <a:ext uri="{FF2B5EF4-FFF2-40B4-BE49-F238E27FC236}">
                <a16:creationId xmlns:a16="http://schemas.microsoft.com/office/drawing/2014/main" id="{265F8F7A-5117-4314-934F-90357C5ECB04}"/>
              </a:ext>
            </a:extLst>
          </p:cNvPr>
          <p:cNvSpPr>
            <a:spLocks xmlns:a="http://schemas.openxmlformats.org/drawingml/2006/main" noGrp="1"/>
          </p:cNvSpPr>
          <p:nvPr/>
        </p:nvSpPr>
        <p:spPr>
          <a:xfrm xmlns:a="http://schemas.openxmlformats.org/drawingml/2006/main">
            <a:off x="6038850" y="3448050"/>
            <a:ext cx="1752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Detectors convert search events into operational signals.</a:t>
            </a:r>
          </a:p>
        </p:txBody>
      </p:sp>
      <p:sp>
        <p:nvSpPr>
          <p:cNvPr id="55" name="">
            <a:extLst xmlns:a="http://schemas.openxmlformats.org/drawingml/2006/main">
              <a:ext uri="{FF2B5EF4-FFF2-40B4-BE49-F238E27FC236}">
                <a16:creationId xmlns:a16="http://schemas.microsoft.com/office/drawing/2014/main" id="{2669ECC2-1DD6-44B8-9114-D6249E0F874F}"/>
              </a:ext>
            </a:extLst>
          </p:cNvPr>
          <p:cNvSpPr>
            <a:spLocks xmlns:a="http://schemas.openxmlformats.org/drawingml/2006/main" noGrp="1"/>
          </p:cNvSpPr>
          <p:nvPr/>
        </p:nvSpPr>
        <p:spPr>
          <a:xfrm xmlns:a="http://schemas.openxmlformats.org/drawingml/2006/main">
            <a:off x="7620000" y="310515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56" name="">
            <a:extLst xmlns:a="http://schemas.openxmlformats.org/drawingml/2006/main">
              <a:ext uri="{FF2B5EF4-FFF2-40B4-BE49-F238E27FC236}">
                <a16:creationId xmlns:a16="http://schemas.microsoft.com/office/drawing/2014/main" id="{9F09C951-2D06-45AE-B9DD-64E89C0E0565}"/>
              </a:ext>
            </a:extLst>
          </p:cNvPr>
          <p:cNvSpPr>
            <a:spLocks xmlns:a="http://schemas.openxmlformats.org/drawingml/2006/main" noGrp="1"/>
          </p:cNvSpPr>
          <p:nvPr/>
        </p:nvSpPr>
        <p:spPr>
          <a:xfrm xmlns:a="http://schemas.openxmlformats.org/drawingml/2006/main">
            <a:off x="7962900" y="32004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57" name="">
            <a:extLst xmlns:a="http://schemas.openxmlformats.org/drawingml/2006/main">
              <a:ext uri="{FF2B5EF4-FFF2-40B4-BE49-F238E27FC236}">
                <a16:creationId xmlns:a16="http://schemas.microsoft.com/office/drawing/2014/main" id="{A15EC5B5-E25F-4272-A477-5A84B1DB2416}"/>
              </a:ext>
            </a:extLst>
          </p:cNvPr>
          <p:cNvSpPr>
            <a:spLocks xmlns:a="http://schemas.openxmlformats.org/drawingml/2006/main" noGrp="1"/>
          </p:cNvSpPr>
          <p:nvPr/>
        </p:nvSpPr>
        <p:spPr>
          <a:xfrm xmlns:a="http://schemas.openxmlformats.org/drawingml/2006/main">
            <a:off x="8382000" y="2990850"/>
            <a:ext cx="14478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6DADF"/>
            </a:solidFill>
            <a:prstDash val="solid"/>
          </a:ln>
        </p:spPr>
      </p:sp>
      <p:sp>
        <p:nvSpPr>
          <p:cNvPr id="58" name="">
            <a:extLst xmlns:a="http://schemas.openxmlformats.org/drawingml/2006/main">
              <a:ext uri="{FF2B5EF4-FFF2-40B4-BE49-F238E27FC236}">
                <a16:creationId xmlns:a16="http://schemas.microsoft.com/office/drawing/2014/main" id="{F1A7A3ED-19B2-42F5-9B3C-F0B90DAD38C5}"/>
              </a:ext>
            </a:extLst>
          </p:cNvPr>
          <p:cNvSpPr>
            <a:spLocks xmlns:a="http://schemas.openxmlformats.org/drawingml/2006/main" noGrp="1"/>
          </p:cNvSpPr>
          <p:nvPr/>
        </p:nvSpPr>
        <p:spPr>
          <a:xfrm xmlns:a="http://schemas.openxmlformats.org/drawingml/2006/main">
            <a:off x="8382000" y="2990850"/>
            <a:ext cx="144780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59" name="">
            <a:extLst xmlns:a="http://schemas.openxmlformats.org/drawingml/2006/main">
              <a:ext uri="{FF2B5EF4-FFF2-40B4-BE49-F238E27FC236}">
                <a16:creationId xmlns:a16="http://schemas.microsoft.com/office/drawing/2014/main" id="{FE78C517-89B1-48F8-AC06-BA896B03ED28}"/>
              </a:ext>
            </a:extLst>
          </p:cNvPr>
          <p:cNvSpPr>
            <a:spLocks xmlns:a="http://schemas.openxmlformats.org/drawingml/2006/main" noGrp="1"/>
          </p:cNvSpPr>
          <p:nvPr/>
        </p:nvSpPr>
        <p:spPr>
          <a:xfrm xmlns:a="http://schemas.openxmlformats.org/drawingml/2006/main">
            <a:off x="8515350" y="3143250"/>
            <a:ext cx="1181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Ops Ledger</a:t>
            </a:r>
          </a:p>
        </p:txBody>
      </p:sp>
      <p:sp>
        <p:nvSpPr>
          <p:cNvPr id="60" name="">
            <a:extLst xmlns:a="http://schemas.openxmlformats.org/drawingml/2006/main">
              <a:ext uri="{FF2B5EF4-FFF2-40B4-BE49-F238E27FC236}">
                <a16:creationId xmlns:a16="http://schemas.microsoft.com/office/drawing/2014/main" id="{7E5AD27E-28B3-40CA-B200-AAD3BAB2EB99}"/>
              </a:ext>
            </a:extLst>
          </p:cNvPr>
          <p:cNvSpPr>
            <a:spLocks xmlns:a="http://schemas.openxmlformats.org/drawingml/2006/main" noGrp="1"/>
          </p:cNvSpPr>
          <p:nvPr/>
        </p:nvSpPr>
        <p:spPr>
          <a:xfrm xmlns:a="http://schemas.openxmlformats.org/drawingml/2006/main">
            <a:off x="8515350" y="3448050"/>
            <a:ext cx="1181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Stores recent active signals.</a:t>
            </a:r>
          </a:p>
        </p:txBody>
      </p:sp>
      <p:sp>
        <p:nvSpPr>
          <p:cNvPr id="61" name="">
            <a:extLst xmlns:a="http://schemas.openxmlformats.org/drawingml/2006/main">
              <a:ext uri="{FF2B5EF4-FFF2-40B4-BE49-F238E27FC236}">
                <a16:creationId xmlns:a16="http://schemas.microsoft.com/office/drawing/2014/main" id="{9E89D5BD-E128-41FC-A140-004BF32A0A30}"/>
              </a:ext>
            </a:extLst>
          </p:cNvPr>
          <p:cNvSpPr>
            <a:spLocks xmlns:a="http://schemas.openxmlformats.org/drawingml/2006/main" noGrp="1"/>
          </p:cNvSpPr>
          <p:nvPr/>
        </p:nvSpPr>
        <p:spPr>
          <a:xfrm xmlns:a="http://schemas.openxmlformats.org/drawingml/2006/main">
            <a:off x="9525000" y="310515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62" name="">
            <a:extLst xmlns:a="http://schemas.openxmlformats.org/drawingml/2006/main">
              <a:ext uri="{FF2B5EF4-FFF2-40B4-BE49-F238E27FC236}">
                <a16:creationId xmlns:a16="http://schemas.microsoft.com/office/drawing/2014/main" id="{AD427DAC-FF74-4220-9CBC-E3A1D31AA4B7}"/>
              </a:ext>
            </a:extLst>
          </p:cNvPr>
          <p:cNvSpPr>
            <a:spLocks xmlns:a="http://schemas.openxmlformats.org/drawingml/2006/main" noGrp="1"/>
          </p:cNvSpPr>
          <p:nvPr/>
        </p:nvSpPr>
        <p:spPr>
          <a:xfrm xmlns:a="http://schemas.openxmlformats.org/drawingml/2006/main">
            <a:off x="9867900" y="32004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63" name="">
            <a:extLst xmlns:a="http://schemas.openxmlformats.org/drawingml/2006/main">
              <a:ext uri="{FF2B5EF4-FFF2-40B4-BE49-F238E27FC236}">
                <a16:creationId xmlns:a16="http://schemas.microsoft.com/office/drawing/2014/main" id="{2FD626FF-66DD-4DDE-8A5B-3CD01DED1D35}"/>
              </a:ext>
            </a:extLst>
          </p:cNvPr>
          <p:cNvSpPr>
            <a:spLocks xmlns:a="http://schemas.openxmlformats.org/drawingml/2006/main" noGrp="1"/>
          </p:cNvSpPr>
          <p:nvPr/>
        </p:nvSpPr>
        <p:spPr>
          <a:xfrm xmlns:a="http://schemas.openxmlformats.org/drawingml/2006/main">
            <a:off x="10287000" y="2990850"/>
            <a:ext cx="10096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6DADF"/>
            </a:solidFill>
            <a:prstDash val="solid"/>
          </a:ln>
        </p:spPr>
      </p:sp>
      <p:sp>
        <p:nvSpPr>
          <p:cNvPr id="64" name="">
            <a:extLst xmlns:a="http://schemas.openxmlformats.org/drawingml/2006/main">
              <a:ext uri="{FF2B5EF4-FFF2-40B4-BE49-F238E27FC236}">
                <a16:creationId xmlns:a16="http://schemas.microsoft.com/office/drawing/2014/main" id="{B4A74BA6-27DF-4C63-825C-D1FDCE1FCC22}"/>
              </a:ext>
            </a:extLst>
          </p:cNvPr>
          <p:cNvSpPr>
            <a:spLocks xmlns:a="http://schemas.openxmlformats.org/drawingml/2006/main" noGrp="1"/>
          </p:cNvSpPr>
          <p:nvPr/>
        </p:nvSpPr>
        <p:spPr>
          <a:xfrm xmlns:a="http://schemas.openxmlformats.org/drawingml/2006/main">
            <a:off x="10287000" y="2990850"/>
            <a:ext cx="100965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65" name="">
            <a:extLst xmlns:a="http://schemas.openxmlformats.org/drawingml/2006/main">
              <a:ext uri="{FF2B5EF4-FFF2-40B4-BE49-F238E27FC236}">
                <a16:creationId xmlns:a16="http://schemas.microsoft.com/office/drawing/2014/main" id="{A62B9CAE-5147-4952-84C8-5B0399EC04AB}"/>
              </a:ext>
            </a:extLst>
          </p:cNvPr>
          <p:cNvSpPr>
            <a:spLocks xmlns:a="http://schemas.openxmlformats.org/drawingml/2006/main" noGrp="1"/>
          </p:cNvSpPr>
          <p:nvPr/>
        </p:nvSpPr>
        <p:spPr>
          <a:xfrm xmlns:a="http://schemas.openxmlformats.org/drawingml/2006/main">
            <a:off x="10420350" y="3143250"/>
            <a:ext cx="742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Kafka</a:t>
            </a:r>
          </a:p>
        </p:txBody>
      </p:sp>
      <p:sp>
        <p:nvSpPr>
          <p:cNvPr id="66" name="">
            <a:extLst xmlns:a="http://schemas.openxmlformats.org/drawingml/2006/main">
              <a:ext uri="{FF2B5EF4-FFF2-40B4-BE49-F238E27FC236}">
                <a16:creationId xmlns:a16="http://schemas.microsoft.com/office/drawing/2014/main" id="{B01BE1F5-AA93-4D78-B477-94A97A73D847}"/>
              </a:ext>
            </a:extLst>
          </p:cNvPr>
          <p:cNvSpPr>
            <a:spLocks xmlns:a="http://schemas.openxmlformats.org/drawingml/2006/main" noGrp="1"/>
          </p:cNvSpPr>
          <p:nvPr/>
        </p:nvSpPr>
        <p:spPr>
          <a:xfrm xmlns:a="http://schemas.openxmlformats.org/drawingml/2006/main">
            <a:off x="10420350" y="3448050"/>
            <a:ext cx="74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Optional event bus.</a:t>
            </a:r>
          </a:p>
        </p:txBody>
      </p:sp>
      <p:sp>
        <p:nvSpPr>
          <p:cNvPr id="67" name="">
            <a:extLst xmlns:a="http://schemas.openxmlformats.org/drawingml/2006/main">
              <a:ext uri="{FF2B5EF4-FFF2-40B4-BE49-F238E27FC236}">
                <a16:creationId xmlns:a16="http://schemas.microsoft.com/office/drawing/2014/main" id="{F5645BF4-B81E-4DAD-B11A-7C7F847A24E7}"/>
              </a:ext>
            </a:extLst>
          </p:cNvPr>
          <p:cNvSpPr>
            <a:spLocks xmlns:a="http://schemas.openxmlformats.org/drawingml/2006/main" noGrp="1"/>
          </p:cNvSpPr>
          <p:nvPr/>
        </p:nvSpPr>
        <p:spPr>
          <a:xfrm xmlns:a="http://schemas.openxmlformats.org/drawingml/2006/main">
            <a:off x="10991850" y="310515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68" name="">
            <a:extLst xmlns:a="http://schemas.openxmlformats.org/drawingml/2006/main">
              <a:ext uri="{FF2B5EF4-FFF2-40B4-BE49-F238E27FC236}">
                <a16:creationId xmlns:a16="http://schemas.microsoft.com/office/drawing/2014/main" id="{050F92A4-B2AF-471B-8568-3E34E47FA042}"/>
              </a:ext>
            </a:extLst>
          </p:cNvPr>
          <p:cNvSpPr>
            <a:spLocks xmlns:a="http://schemas.openxmlformats.org/drawingml/2006/main" noGrp="1"/>
          </p:cNvSpPr>
          <p:nvPr/>
        </p:nvSpPr>
        <p:spPr>
          <a:xfrm xmlns:a="http://schemas.openxmlformats.org/drawingml/2006/main">
            <a:off x="647700" y="4095750"/>
            <a:ext cx="10896600" cy="2095500"/>
          </a:xfrm>
          <a:prstGeom xmlns:a="http://schemas.openxmlformats.org/drawingml/2006/main" prst="roundRect">
            <a:avLst>
              <a:gd name="adj" fmla="val 3636"/>
            </a:avLst>
          </a:prstGeom>
          <a:solidFill xmlns:a="http://schemas.openxmlformats.org/drawingml/2006/main">
            <a:srgbClr val="FFF1E8"/>
          </a:solidFill>
          <a:ln xmlns:a="http://schemas.openxmlformats.org/drawingml/2006/main" w="9525">
            <a:solidFill>
              <a:srgbClr val="D6DADF"/>
            </a:solidFill>
            <a:prstDash val="solid"/>
          </a:ln>
        </p:spPr>
      </p:sp>
      <p:sp>
        <p:nvSpPr>
          <p:cNvPr id="69" name="">
            <a:extLst xmlns:a="http://schemas.openxmlformats.org/drawingml/2006/main">
              <a:ext uri="{FF2B5EF4-FFF2-40B4-BE49-F238E27FC236}">
                <a16:creationId xmlns:a16="http://schemas.microsoft.com/office/drawing/2014/main" id="{533E230C-0DF8-44D8-AB3C-8086382BCA78}"/>
              </a:ext>
            </a:extLst>
          </p:cNvPr>
          <p:cNvSpPr>
            <a:spLocks xmlns:a="http://schemas.openxmlformats.org/drawingml/2006/main" noGrp="1"/>
          </p:cNvSpPr>
          <p:nvPr/>
        </p:nvSpPr>
        <p:spPr>
          <a:xfrm xmlns:a="http://schemas.openxmlformats.org/drawingml/2006/main">
            <a:off x="819150" y="4210050"/>
            <a:ext cx="1714500" cy="266700"/>
          </a:xfrm>
          <a:prstGeom xmlns:a="http://schemas.openxmlformats.org/drawingml/2006/main" prst="roundRect">
            <a:avLst>
              <a:gd name="adj" fmla="val 28571"/>
            </a:avLst>
          </a:prstGeom>
          <a:solidFill xmlns:a="http://schemas.openxmlformats.org/drawingml/2006/main">
            <a:srgbClr val="F0883E"/>
          </a:solidFill>
          <a:ln xmlns:a="http://schemas.openxmlformats.org/drawingml/2006/main" w="0">
            <a:solidFill>
              <a:srgbClr val="F0883E"/>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Decision + Execution Plane</a:t>
            </a:r>
          </a:p>
        </p:txBody>
      </p:sp>
      <p:sp>
        <p:nvSpPr>
          <p:cNvPr id="70" name="">
            <a:extLst xmlns:a="http://schemas.openxmlformats.org/drawingml/2006/main">
              <a:ext uri="{FF2B5EF4-FFF2-40B4-BE49-F238E27FC236}">
                <a16:creationId xmlns:a16="http://schemas.microsoft.com/office/drawing/2014/main" id="{54910387-BB6F-4884-AC42-9C1921B6FC2E}"/>
              </a:ext>
            </a:extLst>
          </p:cNvPr>
          <p:cNvSpPr>
            <a:spLocks xmlns:a="http://schemas.openxmlformats.org/drawingml/2006/main" noGrp="1"/>
          </p:cNvSpPr>
          <p:nvPr/>
        </p:nvSpPr>
        <p:spPr>
          <a:xfrm xmlns:a="http://schemas.openxmlformats.org/drawingml/2006/main">
            <a:off x="895350" y="4476750"/>
            <a:ext cx="16192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71" name="">
            <a:extLst xmlns:a="http://schemas.openxmlformats.org/drawingml/2006/main">
              <a:ext uri="{FF2B5EF4-FFF2-40B4-BE49-F238E27FC236}">
                <a16:creationId xmlns:a16="http://schemas.microsoft.com/office/drawing/2014/main" id="{9281D3D7-3C6D-461C-BCE6-E3CC9EFA6221}"/>
              </a:ext>
            </a:extLst>
          </p:cNvPr>
          <p:cNvSpPr>
            <a:spLocks xmlns:a="http://schemas.openxmlformats.org/drawingml/2006/main" noGrp="1"/>
          </p:cNvSpPr>
          <p:nvPr/>
        </p:nvSpPr>
        <p:spPr>
          <a:xfrm xmlns:a="http://schemas.openxmlformats.org/drawingml/2006/main">
            <a:off x="895350" y="4476750"/>
            <a:ext cx="1619250" cy="76200"/>
          </a:xfrm>
          <a:prstGeom xmlns:a="http://schemas.openxmlformats.org/drawingml/2006/main" prst="roundRect">
            <a:avLst>
              <a:gd name="adj" fmla="val 50000"/>
            </a:avLst>
          </a:prstGeom>
          <a:solidFill xmlns:a="http://schemas.openxmlformats.org/drawingml/2006/main">
            <a:srgbClr val="F0883E"/>
          </a:solidFill>
          <a:ln xmlns:a="http://schemas.openxmlformats.org/drawingml/2006/main" w="0">
            <a:solidFill>
              <a:srgbClr val="F0883E"/>
            </a:solidFill>
            <a:prstDash val="solid"/>
          </a:ln>
        </p:spPr>
      </p:sp>
      <p:sp>
        <p:nvSpPr>
          <p:cNvPr id="72" name="">
            <a:extLst xmlns:a="http://schemas.openxmlformats.org/drawingml/2006/main">
              <a:ext uri="{FF2B5EF4-FFF2-40B4-BE49-F238E27FC236}">
                <a16:creationId xmlns:a16="http://schemas.microsoft.com/office/drawing/2014/main" id="{3DE393B8-9E92-474A-8954-CFB34AEAC864}"/>
              </a:ext>
            </a:extLst>
          </p:cNvPr>
          <p:cNvSpPr>
            <a:spLocks xmlns:a="http://schemas.openxmlformats.org/drawingml/2006/main" noGrp="1"/>
          </p:cNvSpPr>
          <p:nvPr/>
        </p:nvSpPr>
        <p:spPr>
          <a:xfrm xmlns:a="http://schemas.openxmlformats.org/drawingml/2006/main">
            <a:off x="1028700" y="4629150"/>
            <a:ext cx="1352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Diagnostics / RCA</a:t>
            </a:r>
          </a:p>
        </p:txBody>
      </p:sp>
      <p:sp>
        <p:nvSpPr>
          <p:cNvPr id="73" name="">
            <a:extLst xmlns:a="http://schemas.openxmlformats.org/drawingml/2006/main">
              <a:ext uri="{FF2B5EF4-FFF2-40B4-BE49-F238E27FC236}">
                <a16:creationId xmlns:a16="http://schemas.microsoft.com/office/drawing/2014/main" id="{C2DF13FE-1293-4A0A-838F-FC67884A1426}"/>
              </a:ext>
            </a:extLst>
          </p:cNvPr>
          <p:cNvSpPr>
            <a:spLocks xmlns:a="http://schemas.openxmlformats.org/drawingml/2006/main" noGrp="1"/>
          </p:cNvSpPr>
          <p:nvPr/>
        </p:nvSpPr>
        <p:spPr>
          <a:xfrm xmlns:a="http://schemas.openxmlformats.org/drawingml/2006/main">
            <a:off x="1028700" y="4933950"/>
            <a:ext cx="1352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Health checks across search, Kafka, Postgres, telemetry, and Temporal.</a:t>
            </a:r>
          </a:p>
        </p:txBody>
      </p:sp>
      <p:sp>
        <p:nvSpPr>
          <p:cNvPr id="74" name="">
            <a:extLst xmlns:a="http://schemas.openxmlformats.org/drawingml/2006/main">
              <a:ext uri="{FF2B5EF4-FFF2-40B4-BE49-F238E27FC236}">
                <a16:creationId xmlns:a16="http://schemas.microsoft.com/office/drawing/2014/main" id="{3A5DA2D4-2FDA-4AC7-BB56-87422FABF322}"/>
              </a:ext>
            </a:extLst>
          </p:cNvPr>
          <p:cNvSpPr>
            <a:spLocks xmlns:a="http://schemas.openxmlformats.org/drawingml/2006/main" noGrp="1"/>
          </p:cNvSpPr>
          <p:nvPr/>
        </p:nvSpPr>
        <p:spPr>
          <a:xfrm xmlns:a="http://schemas.openxmlformats.org/drawingml/2006/main">
            <a:off x="2209800" y="4591050"/>
            <a:ext cx="152400" cy="152400"/>
          </a:xfrm>
          <a:prstGeom xmlns:a="http://schemas.openxmlformats.org/drawingml/2006/main" prst="roundRect">
            <a:avLst>
              <a:gd name="adj" fmla="val 50000"/>
            </a:avLst>
          </a:prstGeom>
          <a:solidFill xmlns:a="http://schemas.openxmlformats.org/drawingml/2006/main">
            <a:srgbClr val="FFF1E8"/>
          </a:solidFill>
          <a:ln xmlns:a="http://schemas.openxmlformats.org/drawingml/2006/main" w="9525">
            <a:solidFill>
              <a:srgbClr val="F0883E"/>
            </a:solidFill>
            <a:prstDash val="solid"/>
          </a:ln>
        </p:spPr>
      </p:sp>
      <p:sp>
        <p:nvSpPr>
          <p:cNvPr id="75" name="">
            <a:extLst xmlns:a="http://schemas.openxmlformats.org/drawingml/2006/main">
              <a:ext uri="{FF2B5EF4-FFF2-40B4-BE49-F238E27FC236}">
                <a16:creationId xmlns:a16="http://schemas.microsoft.com/office/drawing/2014/main" id="{EC9FC284-4122-41A7-9AB3-084462CD768B}"/>
              </a:ext>
            </a:extLst>
          </p:cNvPr>
          <p:cNvSpPr>
            <a:spLocks xmlns:a="http://schemas.openxmlformats.org/drawingml/2006/main" noGrp="1"/>
          </p:cNvSpPr>
          <p:nvPr/>
        </p:nvSpPr>
        <p:spPr>
          <a:xfrm xmlns:a="http://schemas.openxmlformats.org/drawingml/2006/main">
            <a:off x="2571750" y="47625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76" name="">
            <a:extLst xmlns:a="http://schemas.openxmlformats.org/drawingml/2006/main">
              <a:ext uri="{FF2B5EF4-FFF2-40B4-BE49-F238E27FC236}">
                <a16:creationId xmlns:a16="http://schemas.microsoft.com/office/drawing/2014/main" id="{080710B6-C43D-498E-B5C7-F17503AB1FB1}"/>
              </a:ext>
            </a:extLst>
          </p:cNvPr>
          <p:cNvSpPr>
            <a:spLocks xmlns:a="http://schemas.openxmlformats.org/drawingml/2006/main" noGrp="1"/>
          </p:cNvSpPr>
          <p:nvPr/>
        </p:nvSpPr>
        <p:spPr>
          <a:xfrm xmlns:a="http://schemas.openxmlformats.org/drawingml/2006/main">
            <a:off x="2990850" y="4476750"/>
            <a:ext cx="17907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77" name="">
            <a:extLst xmlns:a="http://schemas.openxmlformats.org/drawingml/2006/main">
              <a:ext uri="{FF2B5EF4-FFF2-40B4-BE49-F238E27FC236}">
                <a16:creationId xmlns:a16="http://schemas.microsoft.com/office/drawing/2014/main" id="{3662E9A7-D91E-4BFA-92FF-0F8E24D04726}"/>
              </a:ext>
            </a:extLst>
          </p:cNvPr>
          <p:cNvSpPr>
            <a:spLocks xmlns:a="http://schemas.openxmlformats.org/drawingml/2006/main" noGrp="1"/>
          </p:cNvSpPr>
          <p:nvPr/>
        </p:nvSpPr>
        <p:spPr>
          <a:xfrm xmlns:a="http://schemas.openxmlformats.org/drawingml/2006/main">
            <a:off x="2990850" y="4476750"/>
            <a:ext cx="1790700" cy="76200"/>
          </a:xfrm>
          <a:prstGeom xmlns:a="http://schemas.openxmlformats.org/drawingml/2006/main" prst="roundRect">
            <a:avLst>
              <a:gd name="adj" fmla="val 50000"/>
            </a:avLst>
          </a:prstGeom>
          <a:solidFill xmlns:a="http://schemas.openxmlformats.org/drawingml/2006/main">
            <a:srgbClr val="F0883E"/>
          </a:solidFill>
          <a:ln xmlns:a="http://schemas.openxmlformats.org/drawingml/2006/main" w="0">
            <a:solidFill>
              <a:srgbClr val="F0883E"/>
            </a:solidFill>
            <a:prstDash val="solid"/>
          </a:ln>
        </p:spPr>
      </p:sp>
      <p:sp>
        <p:nvSpPr>
          <p:cNvPr id="78" name="">
            <a:extLst xmlns:a="http://schemas.openxmlformats.org/drawingml/2006/main">
              <a:ext uri="{FF2B5EF4-FFF2-40B4-BE49-F238E27FC236}">
                <a16:creationId xmlns:a16="http://schemas.microsoft.com/office/drawing/2014/main" id="{1C1CC532-219D-45E8-9C11-EEC3C91AF3B4}"/>
              </a:ext>
            </a:extLst>
          </p:cNvPr>
          <p:cNvSpPr>
            <a:spLocks xmlns:a="http://schemas.openxmlformats.org/drawingml/2006/main" noGrp="1"/>
          </p:cNvSpPr>
          <p:nvPr/>
        </p:nvSpPr>
        <p:spPr>
          <a:xfrm xmlns:a="http://schemas.openxmlformats.org/drawingml/2006/main">
            <a:off x="3124200" y="4629150"/>
            <a:ext cx="152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Incident Packet + RLM</a:t>
            </a:r>
          </a:p>
        </p:txBody>
      </p:sp>
      <p:sp>
        <p:nvSpPr>
          <p:cNvPr id="79" name="">
            <a:extLst xmlns:a="http://schemas.openxmlformats.org/drawingml/2006/main">
              <a:ext uri="{FF2B5EF4-FFF2-40B4-BE49-F238E27FC236}">
                <a16:creationId xmlns:a16="http://schemas.microsoft.com/office/drawing/2014/main" id="{4035258A-45F6-45C9-BFCF-B302279F75D3}"/>
              </a:ext>
            </a:extLst>
          </p:cNvPr>
          <p:cNvSpPr>
            <a:spLocks xmlns:a="http://schemas.openxmlformats.org/drawingml/2006/main" noGrp="1"/>
          </p:cNvSpPr>
          <p:nvPr/>
        </p:nvSpPr>
        <p:spPr>
          <a:xfrm xmlns:a="http://schemas.openxmlformats.org/drawingml/2006/main">
            <a:off x="3124200" y="4933950"/>
            <a:ext cx="1524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Capability, evidence, owner path, and root-cause synthesis.</a:t>
            </a:r>
          </a:p>
        </p:txBody>
      </p:sp>
      <p:sp>
        <p:nvSpPr>
          <p:cNvPr id="80" name="">
            <a:extLst xmlns:a="http://schemas.openxmlformats.org/drawingml/2006/main">
              <a:ext uri="{FF2B5EF4-FFF2-40B4-BE49-F238E27FC236}">
                <a16:creationId xmlns:a16="http://schemas.microsoft.com/office/drawing/2014/main" id="{89409335-17A4-46AF-9961-C8E19DB618BB}"/>
              </a:ext>
            </a:extLst>
          </p:cNvPr>
          <p:cNvSpPr>
            <a:spLocks xmlns:a="http://schemas.openxmlformats.org/drawingml/2006/main" noGrp="1"/>
          </p:cNvSpPr>
          <p:nvPr/>
        </p:nvSpPr>
        <p:spPr>
          <a:xfrm xmlns:a="http://schemas.openxmlformats.org/drawingml/2006/main">
            <a:off x="4476750" y="4591050"/>
            <a:ext cx="152400" cy="152400"/>
          </a:xfrm>
          <a:prstGeom xmlns:a="http://schemas.openxmlformats.org/drawingml/2006/main" prst="roundRect">
            <a:avLst>
              <a:gd name="adj" fmla="val 50000"/>
            </a:avLst>
          </a:prstGeom>
          <a:solidFill xmlns:a="http://schemas.openxmlformats.org/drawingml/2006/main">
            <a:srgbClr val="FFF1E8"/>
          </a:solidFill>
          <a:ln xmlns:a="http://schemas.openxmlformats.org/drawingml/2006/main" w="9525">
            <a:solidFill>
              <a:srgbClr val="F0883E"/>
            </a:solidFill>
            <a:prstDash val="solid"/>
          </a:ln>
        </p:spPr>
      </p:sp>
      <p:sp>
        <p:nvSpPr>
          <p:cNvPr id="81" name="">
            <a:extLst xmlns:a="http://schemas.openxmlformats.org/drawingml/2006/main">
              <a:ext uri="{FF2B5EF4-FFF2-40B4-BE49-F238E27FC236}">
                <a16:creationId xmlns:a16="http://schemas.microsoft.com/office/drawing/2014/main" id="{45F7A725-4B74-463D-BB80-2F2F1AA1DB26}"/>
              </a:ext>
            </a:extLst>
          </p:cNvPr>
          <p:cNvSpPr>
            <a:spLocks xmlns:a="http://schemas.openxmlformats.org/drawingml/2006/main" noGrp="1"/>
          </p:cNvSpPr>
          <p:nvPr/>
        </p:nvSpPr>
        <p:spPr>
          <a:xfrm xmlns:a="http://schemas.openxmlformats.org/drawingml/2006/main">
            <a:off x="4819650" y="47625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82" name="">
            <a:extLst xmlns:a="http://schemas.openxmlformats.org/drawingml/2006/main">
              <a:ext uri="{FF2B5EF4-FFF2-40B4-BE49-F238E27FC236}">
                <a16:creationId xmlns:a16="http://schemas.microsoft.com/office/drawing/2014/main" id="{3DF0EA97-35FC-48D7-AB21-79BA6F4AD22E}"/>
              </a:ext>
            </a:extLst>
          </p:cNvPr>
          <p:cNvSpPr>
            <a:spLocks xmlns:a="http://schemas.openxmlformats.org/drawingml/2006/main" noGrp="1"/>
          </p:cNvSpPr>
          <p:nvPr/>
        </p:nvSpPr>
        <p:spPr>
          <a:xfrm xmlns:a="http://schemas.openxmlformats.org/drawingml/2006/main">
            <a:off x="5238750" y="4476750"/>
            <a:ext cx="16383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83" name="">
            <a:extLst xmlns:a="http://schemas.openxmlformats.org/drawingml/2006/main">
              <a:ext uri="{FF2B5EF4-FFF2-40B4-BE49-F238E27FC236}">
                <a16:creationId xmlns:a16="http://schemas.microsoft.com/office/drawing/2014/main" id="{4287CD3E-26FC-43EA-B81D-E713BB145282}"/>
              </a:ext>
            </a:extLst>
          </p:cNvPr>
          <p:cNvSpPr>
            <a:spLocks xmlns:a="http://schemas.openxmlformats.org/drawingml/2006/main" noGrp="1"/>
          </p:cNvSpPr>
          <p:nvPr/>
        </p:nvSpPr>
        <p:spPr>
          <a:xfrm xmlns:a="http://schemas.openxmlformats.org/drawingml/2006/main">
            <a:off x="5238750" y="4476750"/>
            <a:ext cx="1638300" cy="76200"/>
          </a:xfrm>
          <a:prstGeom xmlns:a="http://schemas.openxmlformats.org/drawingml/2006/main" prst="roundRect">
            <a:avLst>
              <a:gd name="adj" fmla="val 50000"/>
            </a:avLst>
          </a:prstGeom>
          <a:solidFill xmlns:a="http://schemas.openxmlformats.org/drawingml/2006/main">
            <a:srgbClr val="F0883E"/>
          </a:solidFill>
          <a:ln xmlns:a="http://schemas.openxmlformats.org/drawingml/2006/main" w="0">
            <a:solidFill>
              <a:srgbClr val="F0883E"/>
            </a:solidFill>
            <a:prstDash val="solid"/>
          </a:ln>
        </p:spPr>
      </p:sp>
      <p:sp>
        <p:nvSpPr>
          <p:cNvPr id="84" name="">
            <a:extLst xmlns:a="http://schemas.openxmlformats.org/drawingml/2006/main">
              <a:ext uri="{FF2B5EF4-FFF2-40B4-BE49-F238E27FC236}">
                <a16:creationId xmlns:a16="http://schemas.microsoft.com/office/drawing/2014/main" id="{811905E2-F436-4537-A6DD-00058B4CA18F}"/>
              </a:ext>
            </a:extLst>
          </p:cNvPr>
          <p:cNvSpPr>
            <a:spLocks xmlns:a="http://schemas.openxmlformats.org/drawingml/2006/main" noGrp="1"/>
          </p:cNvSpPr>
          <p:nvPr/>
        </p:nvSpPr>
        <p:spPr>
          <a:xfrm xmlns:a="http://schemas.openxmlformats.org/drawingml/2006/main">
            <a:off x="5372100" y="4629150"/>
            <a:ext cx="1371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Runbook + Eval</a:t>
            </a:r>
          </a:p>
        </p:txBody>
      </p:sp>
      <p:sp>
        <p:nvSpPr>
          <p:cNvPr id="85" name="">
            <a:extLst xmlns:a="http://schemas.openxmlformats.org/drawingml/2006/main">
              <a:ext uri="{FF2B5EF4-FFF2-40B4-BE49-F238E27FC236}">
                <a16:creationId xmlns:a16="http://schemas.microsoft.com/office/drawing/2014/main" id="{0D8E6DEA-DCDC-4563-9DBF-A27C441CCE33}"/>
              </a:ext>
            </a:extLst>
          </p:cNvPr>
          <p:cNvSpPr>
            <a:spLocks xmlns:a="http://schemas.openxmlformats.org/drawingml/2006/main" noGrp="1"/>
          </p:cNvSpPr>
          <p:nvPr/>
        </p:nvSpPr>
        <p:spPr>
          <a:xfrm xmlns:a="http://schemas.openxmlformats.org/drawingml/2006/main">
            <a:off x="5372100" y="4933950"/>
            <a:ext cx="137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Candidate fix, eval dataset, and rollback plan.</a:t>
            </a:r>
          </a:p>
        </p:txBody>
      </p:sp>
      <p:sp>
        <p:nvSpPr>
          <p:cNvPr id="86" name="">
            <a:extLst xmlns:a="http://schemas.openxmlformats.org/drawingml/2006/main">
              <a:ext uri="{FF2B5EF4-FFF2-40B4-BE49-F238E27FC236}">
                <a16:creationId xmlns:a16="http://schemas.microsoft.com/office/drawing/2014/main" id="{BF42FC15-74B8-4B38-B298-5B079A261974}"/>
              </a:ext>
            </a:extLst>
          </p:cNvPr>
          <p:cNvSpPr>
            <a:spLocks xmlns:a="http://schemas.openxmlformats.org/drawingml/2006/main" noGrp="1"/>
          </p:cNvSpPr>
          <p:nvPr/>
        </p:nvSpPr>
        <p:spPr>
          <a:xfrm xmlns:a="http://schemas.openxmlformats.org/drawingml/2006/main">
            <a:off x="6572250" y="4591050"/>
            <a:ext cx="152400" cy="152400"/>
          </a:xfrm>
          <a:prstGeom xmlns:a="http://schemas.openxmlformats.org/drawingml/2006/main" prst="roundRect">
            <a:avLst>
              <a:gd name="adj" fmla="val 50000"/>
            </a:avLst>
          </a:prstGeom>
          <a:solidFill xmlns:a="http://schemas.openxmlformats.org/drawingml/2006/main">
            <a:srgbClr val="FFF1E8"/>
          </a:solidFill>
          <a:ln xmlns:a="http://schemas.openxmlformats.org/drawingml/2006/main" w="9525">
            <a:solidFill>
              <a:srgbClr val="F0883E"/>
            </a:solidFill>
            <a:prstDash val="solid"/>
          </a:ln>
        </p:spPr>
      </p:sp>
      <p:sp>
        <p:nvSpPr>
          <p:cNvPr id="87" name="">
            <a:extLst xmlns:a="http://schemas.openxmlformats.org/drawingml/2006/main">
              <a:ext uri="{FF2B5EF4-FFF2-40B4-BE49-F238E27FC236}">
                <a16:creationId xmlns:a16="http://schemas.microsoft.com/office/drawing/2014/main" id="{D2CD2678-6C97-4A56-98E0-DD72AD5A337D}"/>
              </a:ext>
            </a:extLst>
          </p:cNvPr>
          <p:cNvSpPr>
            <a:spLocks xmlns:a="http://schemas.openxmlformats.org/drawingml/2006/main" noGrp="1"/>
          </p:cNvSpPr>
          <p:nvPr/>
        </p:nvSpPr>
        <p:spPr>
          <a:xfrm xmlns:a="http://schemas.openxmlformats.org/drawingml/2006/main">
            <a:off x="6915150" y="47625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88" name="">
            <a:extLst xmlns:a="http://schemas.openxmlformats.org/drawingml/2006/main">
              <a:ext uri="{FF2B5EF4-FFF2-40B4-BE49-F238E27FC236}">
                <a16:creationId xmlns:a16="http://schemas.microsoft.com/office/drawing/2014/main" id="{BEAF1A12-4D3C-4775-AA1F-ADAEBAB41673}"/>
              </a:ext>
            </a:extLst>
          </p:cNvPr>
          <p:cNvSpPr>
            <a:spLocks xmlns:a="http://schemas.openxmlformats.org/drawingml/2006/main" noGrp="1"/>
          </p:cNvSpPr>
          <p:nvPr/>
        </p:nvSpPr>
        <p:spPr>
          <a:xfrm xmlns:a="http://schemas.openxmlformats.org/drawingml/2006/main">
            <a:off x="7334250" y="4476750"/>
            <a:ext cx="1333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89" name="">
            <a:extLst xmlns:a="http://schemas.openxmlformats.org/drawingml/2006/main">
              <a:ext uri="{FF2B5EF4-FFF2-40B4-BE49-F238E27FC236}">
                <a16:creationId xmlns:a16="http://schemas.microsoft.com/office/drawing/2014/main" id="{A174E8C0-225F-45A5-94E3-780E2E91074C}"/>
              </a:ext>
            </a:extLst>
          </p:cNvPr>
          <p:cNvSpPr>
            <a:spLocks xmlns:a="http://schemas.openxmlformats.org/drawingml/2006/main" noGrp="1"/>
          </p:cNvSpPr>
          <p:nvPr/>
        </p:nvSpPr>
        <p:spPr>
          <a:xfrm xmlns:a="http://schemas.openxmlformats.org/drawingml/2006/main">
            <a:off x="7334250" y="4476750"/>
            <a:ext cx="1333500" cy="76200"/>
          </a:xfrm>
          <a:prstGeom xmlns:a="http://schemas.openxmlformats.org/drawingml/2006/main" prst="roundRect">
            <a:avLst>
              <a:gd name="adj" fmla="val 50000"/>
            </a:avLst>
          </a:prstGeom>
          <a:solidFill xmlns:a="http://schemas.openxmlformats.org/drawingml/2006/main">
            <a:srgbClr val="F0883E"/>
          </a:solidFill>
          <a:ln xmlns:a="http://schemas.openxmlformats.org/drawingml/2006/main" w="0">
            <a:solidFill>
              <a:srgbClr val="F0883E"/>
            </a:solidFill>
            <a:prstDash val="solid"/>
          </a:ln>
        </p:spPr>
      </p:sp>
      <p:sp>
        <p:nvSpPr>
          <p:cNvPr id="90" name="">
            <a:extLst xmlns:a="http://schemas.openxmlformats.org/drawingml/2006/main">
              <a:ext uri="{FF2B5EF4-FFF2-40B4-BE49-F238E27FC236}">
                <a16:creationId xmlns:a16="http://schemas.microsoft.com/office/drawing/2014/main" id="{9E6E3EF8-9CA5-48DF-B609-A72D827DF7D0}"/>
              </a:ext>
            </a:extLst>
          </p:cNvPr>
          <p:cNvSpPr>
            <a:spLocks xmlns:a="http://schemas.openxmlformats.org/drawingml/2006/main" noGrp="1"/>
          </p:cNvSpPr>
          <p:nvPr/>
        </p:nvSpPr>
        <p:spPr>
          <a:xfrm xmlns:a="http://schemas.openxmlformats.org/drawingml/2006/main">
            <a:off x="7467600" y="4629150"/>
            <a:ext cx="1066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Human Approval</a:t>
            </a:r>
          </a:p>
        </p:txBody>
      </p:sp>
      <p:sp>
        <p:nvSpPr>
          <p:cNvPr id="91" name="">
            <a:extLst xmlns:a="http://schemas.openxmlformats.org/drawingml/2006/main">
              <a:ext uri="{FF2B5EF4-FFF2-40B4-BE49-F238E27FC236}">
                <a16:creationId xmlns:a16="http://schemas.microsoft.com/office/drawing/2014/main" id="{0776BFF6-234E-496D-B075-42A5C10672D1}"/>
              </a:ext>
            </a:extLst>
          </p:cNvPr>
          <p:cNvSpPr>
            <a:spLocks xmlns:a="http://schemas.openxmlformats.org/drawingml/2006/main" noGrp="1"/>
          </p:cNvSpPr>
          <p:nvPr/>
        </p:nvSpPr>
        <p:spPr>
          <a:xfrm xmlns:a="http://schemas.openxmlformats.org/drawingml/2006/main">
            <a:off x="7467600" y="4933950"/>
            <a:ext cx="1066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Business impact and guardrail review.</a:t>
            </a:r>
          </a:p>
        </p:txBody>
      </p:sp>
      <p:sp>
        <p:nvSpPr>
          <p:cNvPr id="92" name="">
            <a:extLst xmlns:a="http://schemas.openxmlformats.org/drawingml/2006/main">
              <a:ext uri="{FF2B5EF4-FFF2-40B4-BE49-F238E27FC236}">
                <a16:creationId xmlns:a16="http://schemas.microsoft.com/office/drawing/2014/main" id="{2ACF6D1B-3E47-4C6B-BAE7-42C5BA6A33CB}"/>
              </a:ext>
            </a:extLst>
          </p:cNvPr>
          <p:cNvSpPr>
            <a:spLocks xmlns:a="http://schemas.openxmlformats.org/drawingml/2006/main" noGrp="1"/>
          </p:cNvSpPr>
          <p:nvPr/>
        </p:nvSpPr>
        <p:spPr>
          <a:xfrm xmlns:a="http://schemas.openxmlformats.org/drawingml/2006/main">
            <a:off x="8362950" y="4591050"/>
            <a:ext cx="152400" cy="152400"/>
          </a:xfrm>
          <a:prstGeom xmlns:a="http://schemas.openxmlformats.org/drawingml/2006/main" prst="roundRect">
            <a:avLst>
              <a:gd name="adj" fmla="val 50000"/>
            </a:avLst>
          </a:prstGeom>
          <a:solidFill xmlns:a="http://schemas.openxmlformats.org/drawingml/2006/main">
            <a:srgbClr val="FFF1E8"/>
          </a:solidFill>
          <a:ln xmlns:a="http://schemas.openxmlformats.org/drawingml/2006/main" w="9525">
            <a:solidFill>
              <a:srgbClr val="F0883E"/>
            </a:solidFill>
            <a:prstDash val="solid"/>
          </a:ln>
        </p:spPr>
      </p:sp>
      <p:sp>
        <p:nvSpPr>
          <p:cNvPr id="93" name="">
            <a:extLst xmlns:a="http://schemas.openxmlformats.org/drawingml/2006/main">
              <a:ext uri="{FF2B5EF4-FFF2-40B4-BE49-F238E27FC236}">
                <a16:creationId xmlns:a16="http://schemas.microsoft.com/office/drawing/2014/main" id="{43BC9B7C-B099-4891-820C-006486BC7D5A}"/>
              </a:ext>
            </a:extLst>
          </p:cNvPr>
          <p:cNvSpPr>
            <a:spLocks xmlns:a="http://schemas.openxmlformats.org/drawingml/2006/main" noGrp="1"/>
          </p:cNvSpPr>
          <p:nvPr/>
        </p:nvSpPr>
        <p:spPr>
          <a:xfrm xmlns:a="http://schemas.openxmlformats.org/drawingml/2006/main">
            <a:off x="8705850" y="47625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94" name="">
            <a:extLst xmlns:a="http://schemas.openxmlformats.org/drawingml/2006/main">
              <a:ext uri="{FF2B5EF4-FFF2-40B4-BE49-F238E27FC236}">
                <a16:creationId xmlns:a16="http://schemas.microsoft.com/office/drawing/2014/main" id="{04A3303C-4034-41C1-864F-FA14EF0DA307}"/>
              </a:ext>
            </a:extLst>
          </p:cNvPr>
          <p:cNvSpPr>
            <a:spLocks xmlns:a="http://schemas.openxmlformats.org/drawingml/2006/main" noGrp="1"/>
          </p:cNvSpPr>
          <p:nvPr/>
        </p:nvSpPr>
        <p:spPr>
          <a:xfrm xmlns:a="http://schemas.openxmlformats.org/drawingml/2006/main">
            <a:off x="9124950" y="4476750"/>
            <a:ext cx="1333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95" name="">
            <a:extLst xmlns:a="http://schemas.openxmlformats.org/drawingml/2006/main">
              <a:ext uri="{FF2B5EF4-FFF2-40B4-BE49-F238E27FC236}">
                <a16:creationId xmlns:a16="http://schemas.microsoft.com/office/drawing/2014/main" id="{FDAC6C54-E916-4438-BF35-2280A8C5C393}"/>
              </a:ext>
            </a:extLst>
          </p:cNvPr>
          <p:cNvSpPr>
            <a:spLocks xmlns:a="http://schemas.openxmlformats.org/drawingml/2006/main" noGrp="1"/>
          </p:cNvSpPr>
          <p:nvPr/>
        </p:nvSpPr>
        <p:spPr>
          <a:xfrm xmlns:a="http://schemas.openxmlformats.org/drawingml/2006/main">
            <a:off x="9124950" y="4476750"/>
            <a:ext cx="1333500" cy="76200"/>
          </a:xfrm>
          <a:prstGeom xmlns:a="http://schemas.openxmlformats.org/drawingml/2006/main" prst="roundRect">
            <a:avLst>
              <a:gd name="adj" fmla="val 50000"/>
            </a:avLst>
          </a:prstGeom>
          <a:solidFill xmlns:a="http://schemas.openxmlformats.org/drawingml/2006/main">
            <a:srgbClr val="7A4FD1"/>
          </a:solidFill>
          <a:ln xmlns:a="http://schemas.openxmlformats.org/drawingml/2006/main" w="0">
            <a:solidFill>
              <a:srgbClr val="7A4FD1"/>
            </a:solidFill>
            <a:prstDash val="solid"/>
          </a:ln>
        </p:spPr>
      </p:sp>
      <p:sp>
        <p:nvSpPr>
          <p:cNvPr id="96" name="">
            <a:extLst xmlns:a="http://schemas.openxmlformats.org/drawingml/2006/main">
              <a:ext uri="{FF2B5EF4-FFF2-40B4-BE49-F238E27FC236}">
                <a16:creationId xmlns:a16="http://schemas.microsoft.com/office/drawing/2014/main" id="{B21ACB4D-AD5F-4826-BEE6-5BFFD9DCE85D}"/>
              </a:ext>
            </a:extLst>
          </p:cNvPr>
          <p:cNvSpPr>
            <a:spLocks xmlns:a="http://schemas.openxmlformats.org/drawingml/2006/main" noGrp="1"/>
          </p:cNvSpPr>
          <p:nvPr/>
        </p:nvSpPr>
        <p:spPr>
          <a:xfrm xmlns:a="http://schemas.openxmlformats.org/drawingml/2006/main">
            <a:off x="9258300" y="4629150"/>
            <a:ext cx="1066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Temporal</a:t>
            </a:r>
          </a:p>
        </p:txBody>
      </p:sp>
      <p:sp>
        <p:nvSpPr>
          <p:cNvPr id="97" name="">
            <a:extLst xmlns:a="http://schemas.openxmlformats.org/drawingml/2006/main">
              <a:ext uri="{FF2B5EF4-FFF2-40B4-BE49-F238E27FC236}">
                <a16:creationId xmlns:a16="http://schemas.microsoft.com/office/drawing/2014/main" id="{142A392F-5CF3-464C-82B0-F45E84ACA0B8}"/>
              </a:ext>
            </a:extLst>
          </p:cNvPr>
          <p:cNvSpPr>
            <a:spLocks xmlns:a="http://schemas.openxmlformats.org/drawingml/2006/main" noGrp="1"/>
          </p:cNvSpPr>
          <p:nvPr/>
        </p:nvSpPr>
        <p:spPr>
          <a:xfrm xmlns:a="http://schemas.openxmlformats.org/drawingml/2006/main">
            <a:off x="9258300" y="4933950"/>
            <a:ext cx="1066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Durable release workflow state.</a:t>
            </a:r>
          </a:p>
        </p:txBody>
      </p:sp>
      <p:sp>
        <p:nvSpPr>
          <p:cNvPr id="98" name="">
            <a:extLst xmlns:a="http://schemas.openxmlformats.org/drawingml/2006/main">
              <a:ext uri="{FF2B5EF4-FFF2-40B4-BE49-F238E27FC236}">
                <a16:creationId xmlns:a16="http://schemas.microsoft.com/office/drawing/2014/main" id="{F2FCBD6B-A071-4599-989A-09B16869F6FA}"/>
              </a:ext>
            </a:extLst>
          </p:cNvPr>
          <p:cNvSpPr>
            <a:spLocks xmlns:a="http://schemas.openxmlformats.org/drawingml/2006/main" noGrp="1"/>
          </p:cNvSpPr>
          <p:nvPr/>
        </p:nvSpPr>
        <p:spPr>
          <a:xfrm xmlns:a="http://schemas.openxmlformats.org/drawingml/2006/main">
            <a:off x="10153650" y="4591050"/>
            <a:ext cx="152400" cy="152400"/>
          </a:xfrm>
          <a:prstGeom xmlns:a="http://schemas.openxmlformats.org/drawingml/2006/main" prst="roundRect">
            <a:avLst>
              <a:gd name="adj" fmla="val 50000"/>
            </a:avLst>
          </a:prstGeom>
          <a:solidFill xmlns:a="http://schemas.openxmlformats.org/drawingml/2006/main">
            <a:srgbClr val="F2EBFF"/>
          </a:solidFill>
          <a:ln xmlns:a="http://schemas.openxmlformats.org/drawingml/2006/main" w="9525">
            <a:solidFill>
              <a:srgbClr val="7A4FD1"/>
            </a:solidFill>
            <a:prstDash val="solid"/>
          </a:ln>
        </p:spPr>
      </p:sp>
      <p:sp>
        <p:nvSpPr>
          <p:cNvPr id="99" name="">
            <a:extLst xmlns:a="http://schemas.openxmlformats.org/drawingml/2006/main">
              <a:ext uri="{FF2B5EF4-FFF2-40B4-BE49-F238E27FC236}">
                <a16:creationId xmlns:a16="http://schemas.microsoft.com/office/drawing/2014/main" id="{53E7A452-E669-4741-BBA6-6950430D0897}"/>
              </a:ext>
            </a:extLst>
          </p:cNvPr>
          <p:cNvSpPr>
            <a:spLocks xmlns:a="http://schemas.openxmlformats.org/drawingml/2006/main" noGrp="1"/>
          </p:cNvSpPr>
          <p:nvPr/>
        </p:nvSpPr>
        <p:spPr>
          <a:xfrm xmlns:a="http://schemas.openxmlformats.org/drawingml/2006/main">
            <a:off x="10496550" y="47625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100" name="">
            <a:extLst xmlns:a="http://schemas.openxmlformats.org/drawingml/2006/main">
              <a:ext uri="{FF2B5EF4-FFF2-40B4-BE49-F238E27FC236}">
                <a16:creationId xmlns:a16="http://schemas.microsoft.com/office/drawing/2014/main" id="{75D5D8C7-8902-4D06-AE75-8F6DB612F7FF}"/>
              </a:ext>
            </a:extLst>
          </p:cNvPr>
          <p:cNvSpPr>
            <a:spLocks xmlns:a="http://schemas.openxmlformats.org/drawingml/2006/main" noGrp="1"/>
          </p:cNvSpPr>
          <p:nvPr/>
        </p:nvSpPr>
        <p:spPr>
          <a:xfrm xmlns:a="http://schemas.openxmlformats.org/drawingml/2006/main">
            <a:off x="10915650" y="4476750"/>
            <a:ext cx="476250" cy="8763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6DADF"/>
            </a:solidFill>
            <a:prstDash val="solid"/>
          </a:ln>
        </p:spPr>
      </p:sp>
      <p:sp>
        <p:nvSpPr>
          <p:cNvPr id="101" name="">
            <a:extLst xmlns:a="http://schemas.openxmlformats.org/drawingml/2006/main">
              <a:ext uri="{FF2B5EF4-FFF2-40B4-BE49-F238E27FC236}">
                <a16:creationId xmlns:a16="http://schemas.microsoft.com/office/drawing/2014/main" id="{9508071E-FD38-4ED4-8E1F-D423469DE4D8}"/>
              </a:ext>
            </a:extLst>
          </p:cNvPr>
          <p:cNvSpPr>
            <a:spLocks xmlns:a="http://schemas.openxmlformats.org/drawingml/2006/main" noGrp="1"/>
          </p:cNvSpPr>
          <p:nvPr/>
        </p:nvSpPr>
        <p:spPr>
          <a:xfrm xmlns:a="http://schemas.openxmlformats.org/drawingml/2006/main">
            <a:off x="10915650" y="4476750"/>
            <a:ext cx="476250" cy="76200"/>
          </a:xfrm>
          <a:prstGeom xmlns:a="http://schemas.openxmlformats.org/drawingml/2006/main" prst="roundRect">
            <a:avLst>
              <a:gd name="adj" fmla="val 50000"/>
            </a:avLst>
          </a:prstGeom>
          <a:solidFill xmlns:a="http://schemas.openxmlformats.org/drawingml/2006/main">
            <a:srgbClr val="4B5EAA"/>
          </a:solidFill>
          <a:ln xmlns:a="http://schemas.openxmlformats.org/drawingml/2006/main" w="0">
            <a:solidFill>
              <a:srgbClr val="4B5EAA"/>
            </a:solidFill>
            <a:prstDash val="solid"/>
          </a:ln>
        </p:spPr>
      </p:sp>
      <p:sp>
        <p:nvSpPr>
          <p:cNvPr id="102" name="">
            <a:extLst xmlns:a="http://schemas.openxmlformats.org/drawingml/2006/main">
              <a:ext uri="{FF2B5EF4-FFF2-40B4-BE49-F238E27FC236}">
                <a16:creationId xmlns:a16="http://schemas.microsoft.com/office/drawing/2014/main" id="{3BCB78B1-9922-41AC-ADB8-8E55709A7D51}"/>
              </a:ext>
            </a:extLst>
          </p:cNvPr>
          <p:cNvSpPr>
            <a:spLocks xmlns:a="http://schemas.openxmlformats.org/drawingml/2006/main" noGrp="1"/>
          </p:cNvSpPr>
          <p:nvPr/>
        </p:nvSpPr>
        <p:spPr>
          <a:xfrm xmlns:a="http://schemas.openxmlformats.org/drawingml/2006/main">
            <a:off x="11049000" y="4629150"/>
            <a:ext cx="209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PG</a:t>
            </a:r>
          </a:p>
        </p:txBody>
      </p:sp>
      <p:sp>
        <p:nvSpPr>
          <p:cNvPr id="103" name="">
            <a:extLst xmlns:a="http://schemas.openxmlformats.org/drawingml/2006/main">
              <a:ext uri="{FF2B5EF4-FFF2-40B4-BE49-F238E27FC236}">
                <a16:creationId xmlns:a16="http://schemas.microsoft.com/office/drawing/2014/main" id="{72188F07-9D2E-4AAE-A19F-0CEF1EE4DA63}"/>
              </a:ext>
            </a:extLst>
          </p:cNvPr>
          <p:cNvSpPr>
            <a:spLocks xmlns:a="http://schemas.openxmlformats.org/drawingml/2006/main" noGrp="1"/>
          </p:cNvSpPr>
          <p:nvPr/>
        </p:nvSpPr>
        <p:spPr>
          <a:xfrm xmlns:a="http://schemas.openxmlformats.org/drawingml/2006/main">
            <a:off x="11049000" y="4933950"/>
            <a:ext cx="209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Audit</a:t>
            </a:r>
          </a:p>
        </p:txBody>
      </p:sp>
      <p:sp>
        <p:nvSpPr>
          <p:cNvPr id="104" name="">
            <a:extLst xmlns:a="http://schemas.openxmlformats.org/drawingml/2006/main">
              <a:ext uri="{FF2B5EF4-FFF2-40B4-BE49-F238E27FC236}">
                <a16:creationId xmlns:a16="http://schemas.microsoft.com/office/drawing/2014/main" id="{3BAECE31-69C5-42FA-A37B-0C89E42B85B7}"/>
              </a:ext>
            </a:extLst>
          </p:cNvPr>
          <p:cNvSpPr>
            <a:spLocks xmlns:a="http://schemas.openxmlformats.org/drawingml/2006/main" noGrp="1"/>
          </p:cNvSpPr>
          <p:nvPr/>
        </p:nvSpPr>
        <p:spPr>
          <a:xfrm xmlns:a="http://schemas.openxmlformats.org/drawingml/2006/main">
            <a:off x="11087100" y="4591050"/>
            <a:ext cx="152400" cy="152400"/>
          </a:xfrm>
          <a:prstGeom xmlns:a="http://schemas.openxmlformats.org/drawingml/2006/main" prst="roundRect">
            <a:avLst>
              <a:gd name="adj" fmla="val 50000"/>
            </a:avLst>
          </a:prstGeom>
          <a:solidFill xmlns:a="http://schemas.openxmlformats.org/drawingml/2006/main">
            <a:srgbClr val="EEF1FF"/>
          </a:solidFill>
          <a:ln xmlns:a="http://schemas.openxmlformats.org/drawingml/2006/main" w="9525">
            <a:solidFill>
              <a:srgbClr val="4B5EAA"/>
            </a:solidFill>
            <a:prstDash val="solid"/>
          </a:ln>
        </p:spPr>
      </p:sp>
      <p:sp>
        <p:nvSpPr>
          <p:cNvPr id="105" name="">
            <a:extLst xmlns:a="http://schemas.openxmlformats.org/drawingml/2006/main">
              <a:ext uri="{FF2B5EF4-FFF2-40B4-BE49-F238E27FC236}">
                <a16:creationId xmlns:a16="http://schemas.microsoft.com/office/drawing/2014/main" id="{6C2DFEE3-6FCA-41B0-81C1-0C0F32E42831}"/>
              </a:ext>
            </a:extLst>
          </p:cNvPr>
          <p:cNvSpPr>
            <a:spLocks xmlns:a="http://schemas.openxmlformats.org/drawingml/2006/main" noGrp="1"/>
          </p:cNvSpPr>
          <p:nvPr/>
        </p:nvSpPr>
        <p:spPr>
          <a:xfrm xmlns:a="http://schemas.openxmlformats.org/drawingml/2006/main">
            <a:off x="6438900" y="3771900"/>
            <a:ext cx="4000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106" name="">
            <a:extLst xmlns:a="http://schemas.openxmlformats.org/drawingml/2006/main">
              <a:ext uri="{FF2B5EF4-FFF2-40B4-BE49-F238E27FC236}">
                <a16:creationId xmlns:a16="http://schemas.microsoft.com/office/drawing/2014/main" id="{E6206EC1-C3C7-4CA6-9D21-640321C3BCA9}"/>
              </a:ext>
            </a:extLst>
          </p:cNvPr>
          <p:cNvSpPr>
            <a:spLocks xmlns:a="http://schemas.openxmlformats.org/drawingml/2006/main" noGrp="1"/>
          </p:cNvSpPr>
          <p:nvPr/>
        </p:nvSpPr>
        <p:spPr>
          <a:xfrm xmlns:a="http://schemas.openxmlformats.org/drawingml/2006/main">
            <a:off x="6724650" y="3752850"/>
            <a:ext cx="2762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200" b="0">
                <a:solidFill>
                  <a:srgbClr val="5D6975"/>
                </a:solidFill>
              </a:defRPr>
            </a:pPr>
            <a:r>
              <a:rPr sz="1200" b="0">
                <a:solidFill>
                  <a:srgbClr val="5D6975"/>
                </a:solidFill>
              </a:rPr>
              <a:t>Signals and telemetry feed the control plane.</a:t>
            </a:r>
          </a:p>
        </p:txBody>
      </p:sp>
      <p:sp>
        <p:nvSpPr>
          <p:cNvPr id="107" name="">
            <a:extLst xmlns:a="http://schemas.openxmlformats.org/drawingml/2006/main">
              <a:ext uri="{FF2B5EF4-FFF2-40B4-BE49-F238E27FC236}">
                <a16:creationId xmlns:a16="http://schemas.microsoft.com/office/drawing/2014/main" id="{BD738D98-237C-4B27-8E2F-50E082451D14}"/>
              </a:ext>
            </a:extLst>
          </p:cNvPr>
          <p:cNvSpPr>
            <a:spLocks xmlns:a="http://schemas.openxmlformats.org/drawingml/2006/main" noGrp="1"/>
          </p:cNvSpPr>
          <p:nvPr/>
        </p:nvSpPr>
        <p:spPr>
          <a:xfrm xmlns:a="http://schemas.openxmlformats.org/drawingml/2006/main">
            <a:off x="876300" y="5600700"/>
            <a:ext cx="10572750" cy="400050"/>
          </a:xfrm>
          <a:prstGeom xmlns:a="http://schemas.openxmlformats.org/drawingml/2006/main" prst="roundRect">
            <a:avLst>
              <a:gd name="adj" fmla="val 19048"/>
            </a:avLst>
          </a:prstGeom>
          <a:solidFill xmlns:a="http://schemas.openxmlformats.org/drawingml/2006/main">
            <a:srgbClr val="FFF9E8"/>
          </a:solidFill>
          <a:ln xmlns:a="http://schemas.openxmlformats.org/drawingml/2006/main" w="9525">
            <a:solidFill>
              <a:srgbClr val="B98900"/>
            </a:solidFill>
            <a:prstDash val="solid"/>
          </a:ln>
        </p:spPr>
        <p:txBody>
          <a:bodyPr xmlns:a="http://schemas.openxmlformats.org/drawingml/2006/main" lIns="152400" tIns="95250" rIns="152400" bIns="95250" anchor="t"/>
          <a:lstStyle xmlns:a="http://schemas.openxmlformats.org/drawingml/2006/main"/>
          <a:p xmlns:a="http://schemas.openxmlformats.org/drawingml/2006/main">
            <a:pPr algn="l">
              <a:defRPr sz="1200" b="0">
                <a:solidFill>
                  <a:srgbClr val="17202A"/>
                </a:solidFill>
              </a:defRPr>
            </a:pPr>
            <a:r>
              <a:rPr sz="1200" b="0">
                <a:solidFill>
                  <a:srgbClr val="17202A"/>
                </a:solidFill>
              </a:rPr>
              <a:t>Important framing: Meilisearch is the mock search engine in the serving path. The agent-style logic lives in diagnosis and release control, not inside the search engine box.</a:t>
            </a:r>
          </a:p>
        </p:txBody>
      </p:sp>
    </p:spTree>
    <p:extLst>
      <p:ext uri="{BB962C8B-B14F-4D97-AF65-F5344CB8AC3E}">
        <p14:creationId xmlns:p14="http://schemas.microsoft.com/office/powerpoint/2010/main" val="504800610"/>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A6FEF05-D048-440E-A88D-4A745AAB4CEB}"/>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3CEC0D5-8EBE-4D52-ADA5-933AE651CE2F}"/>
              </a:ext>
            </a:extLst>
          </p:cNvPr>
          <p:cNvSpPr>
            <a:spLocks xmlns:a="http://schemas.openxmlformats.org/drawingml/2006/main" noGrp="1"/>
          </p:cNvSpPr>
          <p:nvPr/>
        </p:nvSpPr>
        <p:spPr>
          <a:xfrm xmlns:a="http://schemas.openxmlformats.org/drawingml/2006/main">
            <a:off x="647700" y="400050"/>
            <a:ext cx="7239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2325" b="1">
                <a:solidFill>
                  <a:srgbClr val="17202A"/>
                </a:solidFill>
              </a:defRPr>
            </a:pPr>
            <a:r>
              <a:rPr sz="2325" b="1">
                <a:solidFill>
                  <a:srgbClr val="17202A"/>
                </a:solidFill>
              </a:rPr>
              <a:t>Low-Level Runtime Flow</a:t>
            </a:r>
          </a:p>
        </p:txBody>
      </p:sp>
      <p:sp>
        <p:nvSpPr>
          <p:cNvPr id="3" name="">
            <a:extLst xmlns:a="http://schemas.openxmlformats.org/drawingml/2006/main">
              <a:ext uri="{FF2B5EF4-FFF2-40B4-BE49-F238E27FC236}">
                <a16:creationId xmlns:a16="http://schemas.microsoft.com/office/drawing/2014/main" id="{336474B0-C136-48F5-894A-8588D7BBA531}"/>
              </a:ext>
            </a:extLst>
          </p:cNvPr>
          <p:cNvSpPr>
            <a:spLocks xmlns:a="http://schemas.openxmlformats.org/drawingml/2006/main" noGrp="1"/>
          </p:cNvSpPr>
          <p:nvPr/>
        </p:nvSpPr>
        <p:spPr>
          <a:xfrm xmlns:a="http://schemas.openxmlformats.org/drawingml/2006/main">
            <a:off x="647700" y="87630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275" b="0">
                <a:solidFill>
                  <a:srgbClr val="5D6975"/>
                </a:solidFill>
              </a:defRPr>
            </a:pPr>
            <a:r>
              <a:rPr sz="1275" b="0">
                <a:solidFill>
                  <a:srgbClr val="5D6975"/>
                </a:solidFill>
              </a:rPr>
              <a:t>One search request can become a signal, then a diagnosis, then a controlled rollout decision. The system is code-first and only uses the LLM as optional synthesis.</a:t>
            </a:r>
          </a:p>
        </p:txBody>
      </p:sp>
      <p:sp>
        <p:nvSpPr>
          <p:cNvPr id="4" name="">
            <a:extLst xmlns:a="http://schemas.openxmlformats.org/drawingml/2006/main">
              <a:ext uri="{FF2B5EF4-FFF2-40B4-BE49-F238E27FC236}">
                <a16:creationId xmlns:a16="http://schemas.microsoft.com/office/drawing/2014/main" id="{2CEBCF62-6BE4-4503-BA93-CBA568D9CD9B}"/>
              </a:ext>
            </a:extLst>
          </p:cNvPr>
          <p:cNvSpPr>
            <a:spLocks xmlns:a="http://schemas.openxmlformats.org/drawingml/2006/main" noGrp="1"/>
          </p:cNvSpPr>
          <p:nvPr/>
        </p:nvSpPr>
        <p:spPr>
          <a:xfrm xmlns:a="http://schemas.openxmlformats.org/drawingml/2006/main">
            <a:off x="647700" y="1314450"/>
            <a:ext cx="2247900" cy="266700"/>
          </a:xfrm>
          <a:prstGeom xmlns:a="http://schemas.openxmlformats.org/drawingml/2006/main" prst="roundRect">
            <a:avLst>
              <a:gd name="adj" fmla="val 28571"/>
            </a:avLst>
          </a:prstGeom>
          <a:solidFill xmlns:a="http://schemas.openxmlformats.org/drawingml/2006/main">
            <a:srgbClr val="F0883E"/>
          </a:solidFill>
          <a:ln xmlns:a="http://schemas.openxmlformats.org/drawingml/2006/main" w="0">
            <a:solidFill>
              <a:srgbClr val="F0883E"/>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REQUEST TO ROLLOUT FLOW</a:t>
            </a:r>
          </a:p>
        </p:txBody>
      </p:sp>
      <p:sp>
        <p:nvSpPr>
          <p:cNvPr id="5" name="">
            <a:extLst xmlns:a="http://schemas.openxmlformats.org/drawingml/2006/main">
              <a:ext uri="{FF2B5EF4-FFF2-40B4-BE49-F238E27FC236}">
                <a16:creationId xmlns:a16="http://schemas.microsoft.com/office/drawing/2014/main" id="{F415D17C-582A-4B7C-8CE4-4F4E0562D7A2}"/>
              </a:ext>
            </a:extLst>
          </p:cNvPr>
          <p:cNvSpPr>
            <a:spLocks xmlns:a="http://schemas.openxmlformats.org/drawingml/2006/main" noGrp="1"/>
          </p:cNvSpPr>
          <p:nvPr/>
        </p:nvSpPr>
        <p:spPr>
          <a:xfrm xmlns:a="http://schemas.openxmlformats.org/drawingml/2006/main">
            <a:off x="647700" y="1714500"/>
            <a:ext cx="5905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6DADF"/>
            </a:solidFill>
            <a:prstDash val="solid"/>
          </a:ln>
        </p:spPr>
      </p:sp>
      <p:sp>
        <p:nvSpPr>
          <p:cNvPr id="6" name="">
            <a:extLst xmlns:a="http://schemas.openxmlformats.org/drawingml/2006/main">
              <a:ext uri="{FF2B5EF4-FFF2-40B4-BE49-F238E27FC236}">
                <a16:creationId xmlns:a16="http://schemas.microsoft.com/office/drawing/2014/main" id="{34CEBB0B-AF22-4EC4-AAB6-510400CA6E81}"/>
              </a:ext>
            </a:extLst>
          </p:cNvPr>
          <p:cNvSpPr>
            <a:spLocks xmlns:a="http://schemas.openxmlformats.org/drawingml/2006/main" noGrp="1"/>
          </p:cNvSpPr>
          <p:nvPr/>
        </p:nvSpPr>
        <p:spPr>
          <a:xfrm xmlns:a="http://schemas.openxmlformats.org/drawingml/2006/main">
            <a:off x="647700" y="1714500"/>
            <a:ext cx="476250" cy="590550"/>
          </a:xfrm>
          <a:prstGeom xmlns:a="http://schemas.openxmlformats.org/drawingml/2006/main" prst="roundRect">
            <a:avLst>
              <a:gd name="adj" fmla="val 16000"/>
            </a:avLst>
          </a:prstGeom>
          <a:solidFill xmlns:a="http://schemas.openxmlformats.org/drawingml/2006/main">
            <a:srgbClr val="22A06B"/>
          </a:solidFill>
          <a:ln xmlns:a="http://schemas.openxmlformats.org/drawingml/2006/main" w="0">
            <a:solidFill>
              <a:srgbClr val="22A06B"/>
            </a:solidFill>
            <a:prstDash val="solid"/>
          </a:ln>
        </p:spPr>
        <p:txBody>
          <a:bodyPr xmlns:a="http://schemas.openxmlformats.org/drawingml/2006/main" lIns="76200" tIns="57150" rIns="76200" bIns="57150" anchor="t"/>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3DA62925-D9EB-4EC2-BD8E-32810E66042F}"/>
              </a:ext>
            </a:extLst>
          </p:cNvPr>
          <p:cNvSpPr>
            <a:spLocks xmlns:a="http://schemas.openxmlformats.org/drawingml/2006/main" noGrp="1"/>
          </p:cNvSpPr>
          <p:nvPr/>
        </p:nvSpPr>
        <p:spPr>
          <a:xfrm xmlns:a="http://schemas.openxmlformats.org/drawingml/2006/main">
            <a:off x="695325" y="1809750"/>
            <a:ext cx="381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650" b="1">
                <a:solidFill>
                  <a:srgbClr val="FFFFFF"/>
                </a:solidFill>
              </a:defRPr>
            </a:pPr>
            <a:r>
              <a:rPr sz="1650" b="1">
                <a:solidFill>
                  <a:srgbClr val="FFFFFF"/>
                </a:solidFill>
              </a:rPr>
              <a:t>1</a:t>
            </a:r>
          </a:p>
        </p:txBody>
      </p:sp>
      <p:sp>
        <p:nvSpPr>
          <p:cNvPr id="8" name="">
            <a:extLst xmlns:a="http://schemas.openxmlformats.org/drawingml/2006/main">
              <a:ext uri="{FF2B5EF4-FFF2-40B4-BE49-F238E27FC236}">
                <a16:creationId xmlns:a16="http://schemas.microsoft.com/office/drawing/2014/main" id="{339D251B-31E2-445B-BBA7-87FBBBFB17A5}"/>
              </a:ext>
            </a:extLst>
          </p:cNvPr>
          <p:cNvSpPr>
            <a:spLocks xmlns:a="http://schemas.openxmlformats.org/drawingml/2006/main" noGrp="1"/>
          </p:cNvSpPr>
          <p:nvPr/>
        </p:nvSpPr>
        <p:spPr>
          <a:xfrm xmlns:a="http://schemas.openxmlformats.org/drawingml/2006/main">
            <a:off x="1238250" y="1809750"/>
            <a:ext cx="5219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/search enters FastAPI</a:t>
            </a:r>
          </a:p>
        </p:txBody>
      </p:sp>
      <p:sp>
        <p:nvSpPr>
          <p:cNvPr id="9" name="">
            <a:extLst xmlns:a="http://schemas.openxmlformats.org/drawingml/2006/main">
              <a:ext uri="{FF2B5EF4-FFF2-40B4-BE49-F238E27FC236}">
                <a16:creationId xmlns:a16="http://schemas.microsoft.com/office/drawing/2014/main" id="{A97A19C7-0052-4BFF-B974-B61D438E92B3}"/>
              </a:ext>
            </a:extLst>
          </p:cNvPr>
          <p:cNvSpPr>
            <a:spLocks xmlns:a="http://schemas.openxmlformats.org/drawingml/2006/main" noGrp="1"/>
          </p:cNvSpPr>
          <p:nvPr/>
        </p:nvSpPr>
        <p:spPr>
          <a:xfrm xmlns:a="http://schemas.openxmlformats.org/drawingml/2006/main">
            <a:off x="1238250" y="2057400"/>
            <a:ext cx="5219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125" b="0">
                <a:solidFill>
                  <a:srgbClr val="5D6975"/>
                </a:solidFill>
              </a:defRPr>
            </a:pPr>
            <a:r>
              <a:rPr sz="1125" b="0">
                <a:solidFill>
                  <a:srgbClr val="5D6975"/>
                </a:solidFill>
              </a:rPr>
              <a:t>The API receives the query and derives the routing key.</a:t>
            </a:r>
          </a:p>
        </p:txBody>
      </p:sp>
      <p:sp>
        <p:nvSpPr>
          <p:cNvPr id="10" name="">
            <a:extLst xmlns:a="http://schemas.openxmlformats.org/drawingml/2006/main">
              <a:ext uri="{FF2B5EF4-FFF2-40B4-BE49-F238E27FC236}">
                <a16:creationId xmlns:a16="http://schemas.microsoft.com/office/drawing/2014/main" id="{20E6BFA5-9FC6-4B64-9FBC-21AEAFD649A9}"/>
              </a:ext>
            </a:extLst>
          </p:cNvPr>
          <p:cNvSpPr>
            <a:spLocks xmlns:a="http://schemas.openxmlformats.org/drawingml/2006/main" noGrp="1"/>
          </p:cNvSpPr>
          <p:nvPr/>
        </p:nvSpPr>
        <p:spPr>
          <a:xfrm xmlns:a="http://schemas.openxmlformats.org/drawingml/2006/main">
            <a:off x="647700" y="2400300"/>
            <a:ext cx="5905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6DADF"/>
            </a:solidFill>
            <a:prstDash val="solid"/>
          </a:ln>
        </p:spPr>
      </p:sp>
      <p:sp>
        <p:nvSpPr>
          <p:cNvPr id="11" name="">
            <a:extLst xmlns:a="http://schemas.openxmlformats.org/drawingml/2006/main">
              <a:ext uri="{FF2B5EF4-FFF2-40B4-BE49-F238E27FC236}">
                <a16:creationId xmlns:a16="http://schemas.microsoft.com/office/drawing/2014/main" id="{28EA54E0-0145-4C6B-A2F0-44C9E7DDDE8D}"/>
              </a:ext>
            </a:extLst>
          </p:cNvPr>
          <p:cNvSpPr>
            <a:spLocks xmlns:a="http://schemas.openxmlformats.org/drawingml/2006/main" noGrp="1"/>
          </p:cNvSpPr>
          <p:nvPr/>
        </p:nvSpPr>
        <p:spPr>
          <a:xfrm xmlns:a="http://schemas.openxmlformats.org/drawingml/2006/main">
            <a:off x="647700" y="2400300"/>
            <a:ext cx="476250" cy="590550"/>
          </a:xfrm>
          <a:prstGeom xmlns:a="http://schemas.openxmlformats.org/drawingml/2006/main" prst="roundRect">
            <a:avLst>
              <a:gd name="adj" fmla="val 16000"/>
            </a:avLst>
          </a:prstGeom>
          <a:solidFill xmlns:a="http://schemas.openxmlformats.org/drawingml/2006/main">
            <a:srgbClr val="22A06B"/>
          </a:solidFill>
          <a:ln xmlns:a="http://schemas.openxmlformats.org/drawingml/2006/main" w="0">
            <a:solidFill>
              <a:srgbClr val="22A06B"/>
            </a:solidFill>
            <a:prstDash val="solid"/>
          </a:ln>
        </p:spPr>
        <p:txBody>
          <a:bodyPr xmlns:a="http://schemas.openxmlformats.org/drawingml/2006/main" lIns="76200" tIns="57150" rIns="76200" bIns="57150" anchor="t"/>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0D93464F-1594-4B79-9E89-591622987F15}"/>
              </a:ext>
            </a:extLst>
          </p:cNvPr>
          <p:cNvSpPr>
            <a:spLocks xmlns:a="http://schemas.openxmlformats.org/drawingml/2006/main" noGrp="1"/>
          </p:cNvSpPr>
          <p:nvPr/>
        </p:nvSpPr>
        <p:spPr>
          <a:xfrm xmlns:a="http://schemas.openxmlformats.org/drawingml/2006/main">
            <a:off x="695325" y="2495550"/>
            <a:ext cx="381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650" b="1">
                <a:solidFill>
                  <a:srgbClr val="FFFFFF"/>
                </a:solidFill>
              </a:defRPr>
            </a:pPr>
            <a:r>
              <a:rPr sz="1650" b="1">
                <a:solidFill>
                  <a:srgbClr val="FFFFFF"/>
                </a:solidFill>
              </a:rPr>
              <a:t>2</a:t>
            </a:r>
          </a:p>
        </p:txBody>
      </p:sp>
      <p:sp>
        <p:nvSpPr>
          <p:cNvPr id="13" name="">
            <a:extLst xmlns:a="http://schemas.openxmlformats.org/drawingml/2006/main">
              <a:ext uri="{FF2B5EF4-FFF2-40B4-BE49-F238E27FC236}">
                <a16:creationId xmlns:a16="http://schemas.microsoft.com/office/drawing/2014/main" id="{FEAA0143-B309-4DBE-95AA-01BD5F49012E}"/>
              </a:ext>
            </a:extLst>
          </p:cNvPr>
          <p:cNvSpPr>
            <a:spLocks xmlns:a="http://schemas.openxmlformats.org/drawingml/2006/main" noGrp="1"/>
          </p:cNvSpPr>
          <p:nvPr/>
        </p:nvSpPr>
        <p:spPr>
          <a:xfrm xmlns:a="http://schemas.openxmlformats.org/drawingml/2006/main">
            <a:off x="1238250" y="2495550"/>
            <a:ext cx="5219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Traffic router chooses path</a:t>
            </a:r>
          </a:p>
        </p:txBody>
      </p:sp>
      <p:sp>
        <p:nvSpPr>
          <p:cNvPr id="14" name="">
            <a:extLst xmlns:a="http://schemas.openxmlformats.org/drawingml/2006/main">
              <a:ext uri="{FF2B5EF4-FFF2-40B4-BE49-F238E27FC236}">
                <a16:creationId xmlns:a16="http://schemas.microsoft.com/office/drawing/2014/main" id="{1170E710-99A0-48D1-8A1C-33AFABDAEEA6}"/>
              </a:ext>
            </a:extLst>
          </p:cNvPr>
          <p:cNvSpPr>
            <a:spLocks xmlns:a="http://schemas.openxmlformats.org/drawingml/2006/main" noGrp="1"/>
          </p:cNvSpPr>
          <p:nvPr/>
        </p:nvSpPr>
        <p:spPr>
          <a:xfrm xmlns:a="http://schemas.openxmlformats.org/drawingml/2006/main">
            <a:off x="1238250" y="2743200"/>
            <a:ext cx="5219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125" b="0">
                <a:solidFill>
                  <a:srgbClr val="5D6975"/>
                </a:solidFill>
              </a:defRPr>
            </a:pPr>
            <a:r>
              <a:rPr sz="1125" b="0">
                <a:solidFill>
                  <a:srgbClr val="5D6975"/>
                </a:solidFill>
              </a:rPr>
              <a:t>Temporal phase, approval state, and candidate readiness decide baseline, shadow, or canary.</a:t>
            </a:r>
          </a:p>
        </p:txBody>
      </p:sp>
      <p:sp>
        <p:nvSpPr>
          <p:cNvPr id="15" name="">
            <a:extLst xmlns:a="http://schemas.openxmlformats.org/drawingml/2006/main">
              <a:ext uri="{FF2B5EF4-FFF2-40B4-BE49-F238E27FC236}">
                <a16:creationId xmlns:a16="http://schemas.microsoft.com/office/drawing/2014/main" id="{FD7526BB-1056-4B70-BE76-4A4E9323DB46}"/>
              </a:ext>
            </a:extLst>
          </p:cNvPr>
          <p:cNvSpPr>
            <a:spLocks xmlns:a="http://schemas.openxmlformats.org/drawingml/2006/main" noGrp="1"/>
          </p:cNvSpPr>
          <p:nvPr/>
        </p:nvSpPr>
        <p:spPr>
          <a:xfrm xmlns:a="http://schemas.openxmlformats.org/drawingml/2006/main">
            <a:off x="647700" y="3086100"/>
            <a:ext cx="5905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6DADF"/>
            </a:solidFill>
            <a:prstDash val="solid"/>
          </a:ln>
        </p:spPr>
      </p:sp>
      <p:sp>
        <p:nvSpPr>
          <p:cNvPr id="16" name="">
            <a:extLst xmlns:a="http://schemas.openxmlformats.org/drawingml/2006/main">
              <a:ext uri="{FF2B5EF4-FFF2-40B4-BE49-F238E27FC236}">
                <a16:creationId xmlns:a16="http://schemas.microsoft.com/office/drawing/2014/main" id="{B254E324-6BB3-43D9-952D-858648C0E392}"/>
              </a:ext>
            </a:extLst>
          </p:cNvPr>
          <p:cNvSpPr>
            <a:spLocks xmlns:a="http://schemas.openxmlformats.org/drawingml/2006/main" noGrp="1"/>
          </p:cNvSpPr>
          <p:nvPr/>
        </p:nvSpPr>
        <p:spPr>
          <a:xfrm xmlns:a="http://schemas.openxmlformats.org/drawingml/2006/main">
            <a:off x="647700" y="3086100"/>
            <a:ext cx="476250" cy="590550"/>
          </a:xfrm>
          <a:prstGeom xmlns:a="http://schemas.openxmlformats.org/drawingml/2006/main" prst="roundRect">
            <a:avLst>
              <a:gd name="adj" fmla="val 16000"/>
            </a:avLst>
          </a:prstGeom>
          <a:solidFill xmlns:a="http://schemas.openxmlformats.org/drawingml/2006/main">
            <a:srgbClr val="2D6CDF"/>
          </a:solidFill>
          <a:ln xmlns:a="http://schemas.openxmlformats.org/drawingml/2006/main" w="0">
            <a:solidFill>
              <a:srgbClr val="2D6CDF"/>
            </a:solidFill>
            <a:prstDash val="solid"/>
          </a:ln>
        </p:spPr>
        <p:txBody>
          <a:bodyPr xmlns:a="http://schemas.openxmlformats.org/drawingml/2006/main" lIns="76200" tIns="57150" rIns="76200" bIns="57150" anchor="t"/>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C7C821EF-CFF9-4BAE-9CF1-D47C9729A11E}"/>
              </a:ext>
            </a:extLst>
          </p:cNvPr>
          <p:cNvSpPr>
            <a:spLocks xmlns:a="http://schemas.openxmlformats.org/drawingml/2006/main" noGrp="1"/>
          </p:cNvSpPr>
          <p:nvPr/>
        </p:nvSpPr>
        <p:spPr>
          <a:xfrm xmlns:a="http://schemas.openxmlformats.org/drawingml/2006/main">
            <a:off x="695325" y="3181350"/>
            <a:ext cx="381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650" b="1">
                <a:solidFill>
                  <a:srgbClr val="FFFFFF"/>
                </a:solidFill>
              </a:defRPr>
            </a:pPr>
            <a:r>
              <a:rPr sz="1650" b="1">
                <a:solidFill>
                  <a:srgbClr val="FFFFFF"/>
                </a:solidFill>
              </a:rPr>
              <a:t>3</a:t>
            </a:r>
          </a:p>
        </p:txBody>
      </p:sp>
      <p:sp>
        <p:nvSpPr>
          <p:cNvPr id="18" name="">
            <a:extLst xmlns:a="http://schemas.openxmlformats.org/drawingml/2006/main">
              <a:ext uri="{FF2B5EF4-FFF2-40B4-BE49-F238E27FC236}">
                <a16:creationId xmlns:a16="http://schemas.microsoft.com/office/drawing/2014/main" id="{B5801965-FB5D-434E-B1F5-4228C468C145}"/>
              </a:ext>
            </a:extLst>
          </p:cNvPr>
          <p:cNvSpPr>
            <a:spLocks xmlns:a="http://schemas.openxmlformats.org/drawingml/2006/main" noGrp="1"/>
          </p:cNvSpPr>
          <p:nvPr/>
        </p:nvSpPr>
        <p:spPr>
          <a:xfrm xmlns:a="http://schemas.openxmlformats.org/drawingml/2006/main">
            <a:off x="1238250" y="3181350"/>
            <a:ext cx="5219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Meilisearch returns result</a:t>
            </a:r>
          </a:p>
        </p:txBody>
      </p:sp>
      <p:sp>
        <p:nvSpPr>
          <p:cNvPr id="19" name="">
            <a:extLst xmlns:a="http://schemas.openxmlformats.org/drawingml/2006/main">
              <a:ext uri="{FF2B5EF4-FFF2-40B4-BE49-F238E27FC236}">
                <a16:creationId xmlns:a16="http://schemas.microsoft.com/office/drawing/2014/main" id="{1FAFAF33-BD37-457D-A505-1943E33654DF}"/>
              </a:ext>
            </a:extLst>
          </p:cNvPr>
          <p:cNvSpPr>
            <a:spLocks xmlns:a="http://schemas.openxmlformats.org/drawingml/2006/main" noGrp="1"/>
          </p:cNvSpPr>
          <p:nvPr/>
        </p:nvSpPr>
        <p:spPr>
          <a:xfrm xmlns:a="http://schemas.openxmlformats.org/drawingml/2006/main">
            <a:off x="1238250" y="3429000"/>
            <a:ext cx="5219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125" b="0">
                <a:solidFill>
                  <a:srgbClr val="5D6975"/>
                </a:solidFill>
              </a:defRPr>
            </a:pPr>
            <a:r>
              <a:rPr sz="1125" b="0">
                <a:solidFill>
                  <a:srgbClr val="5D6975"/>
                </a:solidFill>
              </a:rPr>
              <a:t>The search response becomes a search_event with latency, result count, and status.</a:t>
            </a:r>
          </a:p>
        </p:txBody>
      </p:sp>
      <p:sp>
        <p:nvSpPr>
          <p:cNvPr id="20" name="">
            <a:extLst xmlns:a="http://schemas.openxmlformats.org/drawingml/2006/main">
              <a:ext uri="{FF2B5EF4-FFF2-40B4-BE49-F238E27FC236}">
                <a16:creationId xmlns:a16="http://schemas.microsoft.com/office/drawing/2014/main" id="{BDF631E5-AEC0-4CFD-9868-A58D31630337}"/>
              </a:ext>
            </a:extLst>
          </p:cNvPr>
          <p:cNvSpPr>
            <a:spLocks xmlns:a="http://schemas.openxmlformats.org/drawingml/2006/main" noGrp="1"/>
          </p:cNvSpPr>
          <p:nvPr/>
        </p:nvSpPr>
        <p:spPr>
          <a:xfrm xmlns:a="http://schemas.openxmlformats.org/drawingml/2006/main">
            <a:off x="647700" y="3771900"/>
            <a:ext cx="5905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6DADF"/>
            </a:solidFill>
            <a:prstDash val="solid"/>
          </a:ln>
        </p:spPr>
      </p:sp>
      <p:sp>
        <p:nvSpPr>
          <p:cNvPr id="21" name="">
            <a:extLst xmlns:a="http://schemas.openxmlformats.org/drawingml/2006/main">
              <a:ext uri="{FF2B5EF4-FFF2-40B4-BE49-F238E27FC236}">
                <a16:creationId xmlns:a16="http://schemas.microsoft.com/office/drawing/2014/main" id="{272CAEF5-5659-4F7A-8F04-A2184652E5EA}"/>
              </a:ext>
            </a:extLst>
          </p:cNvPr>
          <p:cNvSpPr>
            <a:spLocks xmlns:a="http://schemas.openxmlformats.org/drawingml/2006/main" noGrp="1"/>
          </p:cNvSpPr>
          <p:nvPr/>
        </p:nvSpPr>
        <p:spPr>
          <a:xfrm xmlns:a="http://schemas.openxmlformats.org/drawingml/2006/main">
            <a:off x="647700" y="3771900"/>
            <a:ext cx="476250" cy="590550"/>
          </a:xfrm>
          <a:prstGeom xmlns:a="http://schemas.openxmlformats.org/drawingml/2006/main" prst="roundRect">
            <a:avLst>
              <a:gd name="adj" fmla="val 16000"/>
            </a:avLst>
          </a:prstGeom>
          <a:solidFill xmlns:a="http://schemas.openxmlformats.org/drawingml/2006/main">
            <a:srgbClr val="2D6CDF"/>
          </a:solidFill>
          <a:ln xmlns:a="http://schemas.openxmlformats.org/drawingml/2006/main" w="0">
            <a:solidFill>
              <a:srgbClr val="2D6CDF"/>
            </a:solidFill>
            <a:prstDash val="solid"/>
          </a:ln>
        </p:spPr>
        <p:txBody>
          <a:bodyPr xmlns:a="http://schemas.openxmlformats.org/drawingml/2006/main" lIns="76200" tIns="57150" rIns="76200" bIns="57150" anchor="t"/>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537E0E62-9175-4E17-B045-E73A6B73362C}"/>
              </a:ext>
            </a:extLst>
          </p:cNvPr>
          <p:cNvSpPr>
            <a:spLocks xmlns:a="http://schemas.openxmlformats.org/drawingml/2006/main" noGrp="1"/>
          </p:cNvSpPr>
          <p:nvPr/>
        </p:nvSpPr>
        <p:spPr>
          <a:xfrm xmlns:a="http://schemas.openxmlformats.org/drawingml/2006/main">
            <a:off x="695325" y="3867150"/>
            <a:ext cx="381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650" b="1">
                <a:solidFill>
                  <a:srgbClr val="FFFFFF"/>
                </a:solidFill>
              </a:defRPr>
            </a:pPr>
            <a:r>
              <a:rPr sz="1650" b="1">
                <a:solidFill>
                  <a:srgbClr val="FFFFFF"/>
                </a:solidFill>
              </a:rPr>
              <a:t>4</a:t>
            </a:r>
          </a:p>
        </p:txBody>
      </p:sp>
      <p:sp>
        <p:nvSpPr>
          <p:cNvPr id="23" name="">
            <a:extLst xmlns:a="http://schemas.openxmlformats.org/drawingml/2006/main">
              <a:ext uri="{FF2B5EF4-FFF2-40B4-BE49-F238E27FC236}">
                <a16:creationId xmlns:a16="http://schemas.microsoft.com/office/drawing/2014/main" id="{B714F1F0-928D-4E31-A27C-91184F696707}"/>
              </a:ext>
            </a:extLst>
          </p:cNvPr>
          <p:cNvSpPr>
            <a:spLocks xmlns:a="http://schemas.openxmlformats.org/drawingml/2006/main" noGrp="1"/>
          </p:cNvSpPr>
          <p:nvPr/>
        </p:nvSpPr>
        <p:spPr>
          <a:xfrm xmlns:a="http://schemas.openxmlformats.org/drawingml/2006/main">
            <a:off x="1238250" y="3867150"/>
            <a:ext cx="5219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Detectors emit signals</a:t>
            </a:r>
          </a:p>
        </p:txBody>
      </p:sp>
      <p:sp>
        <p:nvSpPr>
          <p:cNvPr id="24" name="">
            <a:extLst xmlns:a="http://schemas.openxmlformats.org/drawingml/2006/main">
              <a:ext uri="{FF2B5EF4-FFF2-40B4-BE49-F238E27FC236}">
                <a16:creationId xmlns:a16="http://schemas.microsoft.com/office/drawing/2014/main" id="{17961682-1DB5-4F3E-8CFC-4A80F77AE01D}"/>
              </a:ext>
            </a:extLst>
          </p:cNvPr>
          <p:cNvSpPr>
            <a:spLocks xmlns:a="http://schemas.openxmlformats.org/drawingml/2006/main" noGrp="1"/>
          </p:cNvSpPr>
          <p:nvPr/>
        </p:nvSpPr>
        <p:spPr>
          <a:xfrm xmlns:a="http://schemas.openxmlformats.org/drawingml/2006/main">
            <a:off x="1238250" y="4114800"/>
            <a:ext cx="5219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125" b="0">
                <a:solidFill>
                  <a:srgbClr val="5D6975"/>
                </a:solidFill>
              </a:defRPr>
            </a:pPr>
            <a:r>
              <a:rPr sz="1125" b="0">
                <a:solidFill>
                  <a:srgbClr val="5D6975"/>
                </a:solidFill>
              </a:rPr>
              <a:t>Zero-result, latency, and API failure detectors write into the ops ledger and metrics.</a:t>
            </a:r>
          </a:p>
        </p:txBody>
      </p:sp>
      <p:sp>
        <p:nvSpPr>
          <p:cNvPr id="25" name="">
            <a:extLst xmlns:a="http://schemas.openxmlformats.org/drawingml/2006/main">
              <a:ext uri="{FF2B5EF4-FFF2-40B4-BE49-F238E27FC236}">
                <a16:creationId xmlns:a16="http://schemas.microsoft.com/office/drawing/2014/main" id="{6A5B831D-797B-4FE2-8342-9D0AB87AEA7D}"/>
              </a:ext>
            </a:extLst>
          </p:cNvPr>
          <p:cNvSpPr>
            <a:spLocks xmlns:a="http://schemas.openxmlformats.org/drawingml/2006/main" noGrp="1"/>
          </p:cNvSpPr>
          <p:nvPr/>
        </p:nvSpPr>
        <p:spPr>
          <a:xfrm xmlns:a="http://schemas.openxmlformats.org/drawingml/2006/main">
            <a:off x="647700" y="4457700"/>
            <a:ext cx="5905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6DADF"/>
            </a:solidFill>
            <a:prstDash val="solid"/>
          </a:ln>
        </p:spPr>
      </p:sp>
      <p:sp>
        <p:nvSpPr>
          <p:cNvPr id="26" name="">
            <a:extLst xmlns:a="http://schemas.openxmlformats.org/drawingml/2006/main">
              <a:ext uri="{FF2B5EF4-FFF2-40B4-BE49-F238E27FC236}">
                <a16:creationId xmlns:a16="http://schemas.microsoft.com/office/drawing/2014/main" id="{5A148738-F05A-4177-B40C-19CB955F704A}"/>
              </a:ext>
            </a:extLst>
          </p:cNvPr>
          <p:cNvSpPr>
            <a:spLocks xmlns:a="http://schemas.openxmlformats.org/drawingml/2006/main" noGrp="1"/>
          </p:cNvSpPr>
          <p:nvPr/>
        </p:nvSpPr>
        <p:spPr>
          <a:xfrm xmlns:a="http://schemas.openxmlformats.org/drawingml/2006/main">
            <a:off x="647700" y="4457700"/>
            <a:ext cx="476250" cy="590550"/>
          </a:xfrm>
          <a:prstGeom xmlns:a="http://schemas.openxmlformats.org/drawingml/2006/main" prst="roundRect">
            <a:avLst>
              <a:gd name="adj" fmla="val 16000"/>
            </a:avLst>
          </a:prstGeom>
          <a:solidFill xmlns:a="http://schemas.openxmlformats.org/drawingml/2006/main">
            <a:srgbClr val="F0883E"/>
          </a:solidFill>
          <a:ln xmlns:a="http://schemas.openxmlformats.org/drawingml/2006/main" w="0">
            <a:solidFill>
              <a:srgbClr val="F0883E"/>
            </a:solidFill>
            <a:prstDash val="solid"/>
          </a:ln>
        </p:spPr>
        <p:txBody>
          <a:bodyPr xmlns:a="http://schemas.openxmlformats.org/drawingml/2006/main" lIns="76200" tIns="57150" rIns="76200" bIns="57150" anchor="t"/>
          <a:lstStyle xmlns:a="http://schemas.openxmlformats.org/drawingml/2006/main"/>
          <a:p xmlns:a="http://schemas.openxmlformats.org/drawingml/2006/main">
            <a:r>
              <a:t/>
            </a:r>
          </a:p>
        </p:txBody>
      </p:sp>
      <p:sp>
        <p:nvSpPr>
          <p:cNvPr id="27" name="">
            <a:extLst xmlns:a="http://schemas.openxmlformats.org/drawingml/2006/main">
              <a:ext uri="{FF2B5EF4-FFF2-40B4-BE49-F238E27FC236}">
                <a16:creationId xmlns:a16="http://schemas.microsoft.com/office/drawing/2014/main" id="{9DE7B9A7-47F5-485A-8183-7CFE1959F9E4}"/>
              </a:ext>
            </a:extLst>
          </p:cNvPr>
          <p:cNvSpPr>
            <a:spLocks xmlns:a="http://schemas.openxmlformats.org/drawingml/2006/main" noGrp="1"/>
          </p:cNvSpPr>
          <p:nvPr/>
        </p:nvSpPr>
        <p:spPr>
          <a:xfrm xmlns:a="http://schemas.openxmlformats.org/drawingml/2006/main">
            <a:off x="695325" y="4552950"/>
            <a:ext cx="381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650" b="1">
                <a:solidFill>
                  <a:srgbClr val="FFFFFF"/>
                </a:solidFill>
              </a:defRPr>
            </a:pPr>
            <a:r>
              <a:rPr sz="1650" b="1">
                <a:solidFill>
                  <a:srgbClr val="FFFFFF"/>
                </a:solidFill>
              </a:rPr>
              <a:t>5</a:t>
            </a:r>
          </a:p>
        </p:txBody>
      </p:sp>
      <p:sp>
        <p:nvSpPr>
          <p:cNvPr id="28" name="">
            <a:extLst xmlns:a="http://schemas.openxmlformats.org/drawingml/2006/main">
              <a:ext uri="{FF2B5EF4-FFF2-40B4-BE49-F238E27FC236}">
                <a16:creationId xmlns:a16="http://schemas.microsoft.com/office/drawing/2014/main" id="{77778A38-7B71-48FE-9FF8-3642D1D3C63B}"/>
              </a:ext>
            </a:extLst>
          </p:cNvPr>
          <p:cNvSpPr>
            <a:spLocks xmlns:a="http://schemas.openxmlformats.org/drawingml/2006/main" noGrp="1"/>
          </p:cNvSpPr>
          <p:nvPr/>
        </p:nvSpPr>
        <p:spPr>
          <a:xfrm xmlns:a="http://schemas.openxmlformats.org/drawingml/2006/main">
            <a:off x="1238250" y="4552950"/>
            <a:ext cx="5219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Incident intelligence is assembled</a:t>
            </a:r>
          </a:p>
        </p:txBody>
      </p:sp>
      <p:sp>
        <p:nvSpPr>
          <p:cNvPr id="29" name="">
            <a:extLst xmlns:a="http://schemas.openxmlformats.org/drawingml/2006/main">
              <a:ext uri="{FF2B5EF4-FFF2-40B4-BE49-F238E27FC236}">
                <a16:creationId xmlns:a16="http://schemas.microsoft.com/office/drawing/2014/main" id="{25E1B259-FF7F-4D97-BE9F-C719D3EBCAE9}"/>
              </a:ext>
            </a:extLst>
          </p:cNvPr>
          <p:cNvSpPr>
            <a:spLocks xmlns:a="http://schemas.openxmlformats.org/drawingml/2006/main" noGrp="1"/>
          </p:cNvSpPr>
          <p:nvPr/>
        </p:nvSpPr>
        <p:spPr>
          <a:xfrm xmlns:a="http://schemas.openxmlformats.org/drawingml/2006/main">
            <a:off x="1238250" y="4800600"/>
            <a:ext cx="5219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125" b="0">
                <a:solidFill>
                  <a:srgbClr val="5D6975"/>
                </a:solidFill>
              </a:defRPr>
            </a:pPr>
            <a:r>
              <a:rPr sz="1125" b="0">
                <a:solidFill>
                  <a:srgbClr val="5D6975"/>
                </a:solidFill>
              </a:rPr>
              <a:t>Diagnostics, incident packet, release packet, shadow test, and owner mapping are composed for operators.</a:t>
            </a:r>
          </a:p>
        </p:txBody>
      </p:sp>
      <p:sp>
        <p:nvSpPr>
          <p:cNvPr id="30" name="">
            <a:extLst xmlns:a="http://schemas.openxmlformats.org/drawingml/2006/main">
              <a:ext uri="{FF2B5EF4-FFF2-40B4-BE49-F238E27FC236}">
                <a16:creationId xmlns:a16="http://schemas.microsoft.com/office/drawing/2014/main" id="{4C1A6F9B-FC75-4DDD-9115-9B18567B7174}"/>
              </a:ext>
            </a:extLst>
          </p:cNvPr>
          <p:cNvSpPr>
            <a:spLocks xmlns:a="http://schemas.openxmlformats.org/drawingml/2006/main" noGrp="1"/>
          </p:cNvSpPr>
          <p:nvPr/>
        </p:nvSpPr>
        <p:spPr>
          <a:xfrm xmlns:a="http://schemas.openxmlformats.org/drawingml/2006/main">
            <a:off x="647700" y="5143500"/>
            <a:ext cx="5905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6DADF"/>
            </a:solidFill>
            <a:prstDash val="solid"/>
          </a:ln>
        </p:spPr>
      </p:sp>
      <p:sp>
        <p:nvSpPr>
          <p:cNvPr id="31" name="">
            <a:extLst xmlns:a="http://schemas.openxmlformats.org/drawingml/2006/main">
              <a:ext uri="{FF2B5EF4-FFF2-40B4-BE49-F238E27FC236}">
                <a16:creationId xmlns:a16="http://schemas.microsoft.com/office/drawing/2014/main" id="{ACE4485D-17AE-4341-B1C1-154AF0865DAC}"/>
              </a:ext>
            </a:extLst>
          </p:cNvPr>
          <p:cNvSpPr>
            <a:spLocks xmlns:a="http://schemas.openxmlformats.org/drawingml/2006/main" noGrp="1"/>
          </p:cNvSpPr>
          <p:nvPr/>
        </p:nvSpPr>
        <p:spPr>
          <a:xfrm xmlns:a="http://schemas.openxmlformats.org/drawingml/2006/main">
            <a:off x="647700" y="5143500"/>
            <a:ext cx="476250" cy="590550"/>
          </a:xfrm>
          <a:prstGeom xmlns:a="http://schemas.openxmlformats.org/drawingml/2006/main" prst="roundRect">
            <a:avLst>
              <a:gd name="adj" fmla="val 16000"/>
            </a:avLst>
          </a:prstGeom>
          <a:solidFill xmlns:a="http://schemas.openxmlformats.org/drawingml/2006/main">
            <a:srgbClr val="7A4FD1"/>
          </a:solidFill>
          <a:ln xmlns:a="http://schemas.openxmlformats.org/drawingml/2006/main" w="0">
            <a:solidFill>
              <a:srgbClr val="7A4FD1"/>
            </a:solidFill>
            <a:prstDash val="solid"/>
          </a:ln>
        </p:spPr>
        <p:txBody>
          <a:bodyPr xmlns:a="http://schemas.openxmlformats.org/drawingml/2006/main" lIns="76200" tIns="57150" rIns="76200" bIns="57150" anchor="t"/>
          <a:lstStyle xmlns:a="http://schemas.openxmlformats.org/drawingml/2006/main"/>
          <a:p xmlns:a="http://schemas.openxmlformats.org/drawingml/2006/main">
            <a:r>
              <a:t/>
            </a:r>
          </a:p>
        </p:txBody>
      </p:sp>
      <p:sp>
        <p:nvSpPr>
          <p:cNvPr id="32" name="">
            <a:extLst xmlns:a="http://schemas.openxmlformats.org/drawingml/2006/main">
              <a:ext uri="{FF2B5EF4-FFF2-40B4-BE49-F238E27FC236}">
                <a16:creationId xmlns:a16="http://schemas.microsoft.com/office/drawing/2014/main" id="{0B612001-F62E-48B7-8EAA-1F9B810DBD58}"/>
              </a:ext>
            </a:extLst>
          </p:cNvPr>
          <p:cNvSpPr>
            <a:spLocks xmlns:a="http://schemas.openxmlformats.org/drawingml/2006/main" noGrp="1"/>
          </p:cNvSpPr>
          <p:nvPr/>
        </p:nvSpPr>
        <p:spPr>
          <a:xfrm xmlns:a="http://schemas.openxmlformats.org/drawingml/2006/main">
            <a:off x="695325" y="5238750"/>
            <a:ext cx="381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650" b="1">
                <a:solidFill>
                  <a:srgbClr val="FFFFFF"/>
                </a:solidFill>
              </a:defRPr>
            </a:pPr>
            <a:r>
              <a:rPr sz="1650" b="1">
                <a:solidFill>
                  <a:srgbClr val="FFFFFF"/>
                </a:solidFill>
              </a:rPr>
              <a:t>6</a:t>
            </a:r>
          </a:p>
        </p:txBody>
      </p:sp>
      <p:sp>
        <p:nvSpPr>
          <p:cNvPr id="33" name="">
            <a:extLst xmlns:a="http://schemas.openxmlformats.org/drawingml/2006/main">
              <a:ext uri="{FF2B5EF4-FFF2-40B4-BE49-F238E27FC236}">
                <a16:creationId xmlns:a16="http://schemas.microsoft.com/office/drawing/2014/main" id="{373B64D4-AE5D-4A1E-9BFC-7F7A5B2EA3B8}"/>
              </a:ext>
            </a:extLst>
          </p:cNvPr>
          <p:cNvSpPr>
            <a:spLocks xmlns:a="http://schemas.openxmlformats.org/drawingml/2006/main" noGrp="1"/>
          </p:cNvSpPr>
          <p:nvPr/>
        </p:nvSpPr>
        <p:spPr>
          <a:xfrm xmlns:a="http://schemas.openxmlformats.org/drawingml/2006/main">
            <a:off x="1238250" y="5238750"/>
            <a:ext cx="5219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Temporal enforces rollout</a:t>
            </a:r>
          </a:p>
        </p:txBody>
      </p:sp>
      <p:sp>
        <p:nvSpPr>
          <p:cNvPr id="34" name="">
            <a:extLst xmlns:a="http://schemas.openxmlformats.org/drawingml/2006/main">
              <a:ext uri="{FF2B5EF4-FFF2-40B4-BE49-F238E27FC236}">
                <a16:creationId xmlns:a16="http://schemas.microsoft.com/office/drawing/2014/main" id="{9FBDA0F6-3EEF-4892-A548-AD3313EDAF64}"/>
              </a:ext>
            </a:extLst>
          </p:cNvPr>
          <p:cNvSpPr>
            <a:spLocks xmlns:a="http://schemas.openxmlformats.org/drawingml/2006/main" noGrp="1"/>
          </p:cNvSpPr>
          <p:nvPr/>
        </p:nvSpPr>
        <p:spPr>
          <a:xfrm xmlns:a="http://schemas.openxmlformats.org/drawingml/2006/main">
            <a:off x="1238250" y="5486400"/>
            <a:ext cx="5219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125" b="0">
                <a:solidFill>
                  <a:srgbClr val="5D6975"/>
                </a:solidFill>
              </a:defRPr>
            </a:pPr>
            <a:r>
              <a:rPr sz="1125" b="0">
                <a:solidFill>
                  <a:srgbClr val="5D6975"/>
                </a:solidFill>
              </a:rPr>
              <a:t>Approval, shadow readiness, canary, promotion, and rollback are durable workflow states.</a:t>
            </a:r>
          </a:p>
        </p:txBody>
      </p:sp>
      <p:sp>
        <p:nvSpPr>
          <p:cNvPr id="35" name="">
            <a:extLst xmlns:a="http://schemas.openxmlformats.org/drawingml/2006/main">
              <a:ext uri="{FF2B5EF4-FFF2-40B4-BE49-F238E27FC236}">
                <a16:creationId xmlns:a16="http://schemas.microsoft.com/office/drawing/2014/main" id="{046C977C-193D-4AF2-97A8-99BE7434F45B}"/>
              </a:ext>
            </a:extLst>
          </p:cNvPr>
          <p:cNvSpPr>
            <a:spLocks xmlns:a="http://schemas.openxmlformats.org/drawingml/2006/main" noGrp="1"/>
          </p:cNvSpPr>
          <p:nvPr/>
        </p:nvSpPr>
        <p:spPr>
          <a:xfrm xmlns:a="http://schemas.openxmlformats.org/drawingml/2006/main">
            <a:off x="7067550" y="1314450"/>
            <a:ext cx="2381250" cy="266700"/>
          </a:xfrm>
          <a:prstGeom xmlns:a="http://schemas.openxmlformats.org/drawingml/2006/main" prst="roundRect">
            <a:avLst>
              <a:gd name="adj" fmla="val 28571"/>
            </a:avLst>
          </a:prstGeom>
          <a:solidFill xmlns:a="http://schemas.openxmlformats.org/drawingml/2006/main">
            <a:srgbClr val="7A4FD1"/>
          </a:solidFill>
          <a:ln xmlns:a="http://schemas.openxmlformats.org/drawingml/2006/main" w="0">
            <a:solidFill>
              <a:srgbClr val="7A4FD1"/>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AGENT / TOOL-CALLING BOUNDARY</a:t>
            </a:r>
          </a:p>
        </p:txBody>
      </p:sp>
      <p:sp>
        <p:nvSpPr>
          <p:cNvPr id="36" name="">
            <a:extLst xmlns:a="http://schemas.openxmlformats.org/drawingml/2006/main">
              <a:ext uri="{FF2B5EF4-FFF2-40B4-BE49-F238E27FC236}">
                <a16:creationId xmlns:a16="http://schemas.microsoft.com/office/drawing/2014/main" id="{351DC757-CCAC-420A-AFB1-F5A7CC18D850}"/>
              </a:ext>
            </a:extLst>
          </p:cNvPr>
          <p:cNvSpPr>
            <a:spLocks xmlns:a="http://schemas.openxmlformats.org/drawingml/2006/main" noGrp="1"/>
          </p:cNvSpPr>
          <p:nvPr/>
        </p:nvSpPr>
        <p:spPr>
          <a:xfrm xmlns:a="http://schemas.openxmlformats.org/drawingml/2006/main">
            <a:off x="7067550" y="1714500"/>
            <a:ext cx="20383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ADF"/>
            </a:solidFill>
            <a:prstDash val="solid"/>
          </a:ln>
        </p:spPr>
      </p:sp>
      <p:sp>
        <p:nvSpPr>
          <p:cNvPr id="37" name="">
            <a:extLst xmlns:a="http://schemas.openxmlformats.org/drawingml/2006/main">
              <a:ext uri="{FF2B5EF4-FFF2-40B4-BE49-F238E27FC236}">
                <a16:creationId xmlns:a16="http://schemas.microsoft.com/office/drawing/2014/main" id="{CB84E2D0-4478-4539-A7C7-174328844C83}"/>
              </a:ext>
            </a:extLst>
          </p:cNvPr>
          <p:cNvSpPr>
            <a:spLocks xmlns:a="http://schemas.openxmlformats.org/drawingml/2006/main" noGrp="1"/>
          </p:cNvSpPr>
          <p:nvPr/>
        </p:nvSpPr>
        <p:spPr>
          <a:xfrm xmlns:a="http://schemas.openxmlformats.org/drawingml/2006/main">
            <a:off x="7067550" y="1714500"/>
            <a:ext cx="2038350" cy="76200"/>
          </a:xfrm>
          <a:prstGeom xmlns:a="http://schemas.openxmlformats.org/drawingml/2006/main" prst="roundRect">
            <a:avLst>
              <a:gd name="adj" fmla="val 50000"/>
            </a:avLst>
          </a:prstGeom>
          <a:solidFill xmlns:a="http://schemas.openxmlformats.org/drawingml/2006/main">
            <a:srgbClr val="7A4FD1"/>
          </a:solidFill>
          <a:ln xmlns:a="http://schemas.openxmlformats.org/drawingml/2006/main" w="0">
            <a:solidFill>
              <a:srgbClr val="7A4FD1"/>
            </a:solidFill>
            <a:prstDash val="solid"/>
          </a:ln>
        </p:spPr>
      </p:sp>
      <p:sp>
        <p:nvSpPr>
          <p:cNvPr id="38" name="">
            <a:extLst xmlns:a="http://schemas.openxmlformats.org/drawingml/2006/main">
              <a:ext uri="{FF2B5EF4-FFF2-40B4-BE49-F238E27FC236}">
                <a16:creationId xmlns:a16="http://schemas.microsoft.com/office/drawing/2014/main" id="{6223EFC7-C71F-4B17-A902-A95792800BAE}"/>
              </a:ext>
            </a:extLst>
          </p:cNvPr>
          <p:cNvSpPr>
            <a:spLocks xmlns:a="http://schemas.openxmlformats.org/drawingml/2006/main" noGrp="1"/>
          </p:cNvSpPr>
          <p:nvPr/>
        </p:nvSpPr>
        <p:spPr>
          <a:xfrm xmlns:a="http://schemas.openxmlformats.org/drawingml/2006/main">
            <a:off x="7200900" y="1866900"/>
            <a:ext cx="1771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Parent RLM orchestrator</a:t>
            </a:r>
          </a:p>
        </p:txBody>
      </p:sp>
      <p:sp>
        <p:nvSpPr>
          <p:cNvPr id="39" name="">
            <a:extLst xmlns:a="http://schemas.openxmlformats.org/drawingml/2006/main">
              <a:ext uri="{FF2B5EF4-FFF2-40B4-BE49-F238E27FC236}">
                <a16:creationId xmlns:a16="http://schemas.microsoft.com/office/drawing/2014/main" id="{A3DF9D99-B2CC-4115-BF39-3956CFF9A7FB}"/>
              </a:ext>
            </a:extLst>
          </p:cNvPr>
          <p:cNvSpPr>
            <a:spLocks xmlns:a="http://schemas.openxmlformats.org/drawingml/2006/main" noGrp="1"/>
          </p:cNvSpPr>
          <p:nvPr/>
        </p:nvSpPr>
        <p:spPr>
          <a:xfrm xmlns:a="http://schemas.openxmlformats.org/drawingml/2006/main">
            <a:off x="7200900" y="2171700"/>
            <a:ext cx="17716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Builds one incident context and runs focused subtasks in parallel.</a:t>
            </a:r>
          </a:p>
        </p:txBody>
      </p:sp>
      <p:sp>
        <p:nvSpPr>
          <p:cNvPr id="40" name="">
            <a:extLst xmlns:a="http://schemas.openxmlformats.org/drawingml/2006/main">
              <a:ext uri="{FF2B5EF4-FFF2-40B4-BE49-F238E27FC236}">
                <a16:creationId xmlns:a16="http://schemas.microsoft.com/office/drawing/2014/main" id="{E1A04F61-372B-4036-9105-8D30DCD4F67F}"/>
              </a:ext>
            </a:extLst>
          </p:cNvPr>
          <p:cNvSpPr>
            <a:spLocks xmlns:a="http://schemas.openxmlformats.org/drawingml/2006/main" noGrp="1"/>
          </p:cNvSpPr>
          <p:nvPr/>
        </p:nvSpPr>
        <p:spPr>
          <a:xfrm xmlns:a="http://schemas.openxmlformats.org/drawingml/2006/main">
            <a:off x="8801100" y="1828800"/>
            <a:ext cx="152400" cy="152400"/>
          </a:xfrm>
          <a:prstGeom xmlns:a="http://schemas.openxmlformats.org/drawingml/2006/main" prst="roundRect">
            <a:avLst>
              <a:gd name="adj" fmla="val 50000"/>
            </a:avLst>
          </a:prstGeom>
          <a:solidFill xmlns:a="http://schemas.openxmlformats.org/drawingml/2006/main">
            <a:srgbClr val="F2EBFF"/>
          </a:solidFill>
          <a:ln xmlns:a="http://schemas.openxmlformats.org/drawingml/2006/main" w="9525">
            <a:solidFill>
              <a:srgbClr val="7A4FD1"/>
            </a:solidFill>
            <a:prstDash val="solid"/>
          </a:ln>
        </p:spPr>
      </p:sp>
      <p:sp>
        <p:nvSpPr>
          <p:cNvPr id="41" name="">
            <a:extLst xmlns:a="http://schemas.openxmlformats.org/drawingml/2006/main">
              <a:ext uri="{FF2B5EF4-FFF2-40B4-BE49-F238E27FC236}">
                <a16:creationId xmlns:a16="http://schemas.microsoft.com/office/drawing/2014/main" id="{190A89E7-9158-496E-B8E2-5933F349DA2C}"/>
              </a:ext>
            </a:extLst>
          </p:cNvPr>
          <p:cNvSpPr>
            <a:spLocks xmlns:a="http://schemas.openxmlformats.org/drawingml/2006/main" noGrp="1"/>
          </p:cNvSpPr>
          <p:nvPr/>
        </p:nvSpPr>
        <p:spPr>
          <a:xfrm xmlns:a="http://schemas.openxmlformats.org/drawingml/2006/main">
            <a:off x="9296400" y="1714500"/>
            <a:ext cx="20383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ADF"/>
            </a:solidFill>
            <a:prstDash val="solid"/>
          </a:ln>
        </p:spPr>
      </p:sp>
      <p:sp>
        <p:nvSpPr>
          <p:cNvPr id="42" name="">
            <a:extLst xmlns:a="http://schemas.openxmlformats.org/drawingml/2006/main">
              <a:ext uri="{FF2B5EF4-FFF2-40B4-BE49-F238E27FC236}">
                <a16:creationId xmlns:a16="http://schemas.microsoft.com/office/drawing/2014/main" id="{DE88A8AB-2454-43F6-A991-5A0E279C5B1A}"/>
              </a:ext>
            </a:extLst>
          </p:cNvPr>
          <p:cNvSpPr>
            <a:spLocks xmlns:a="http://schemas.openxmlformats.org/drawingml/2006/main" noGrp="1"/>
          </p:cNvSpPr>
          <p:nvPr/>
        </p:nvSpPr>
        <p:spPr>
          <a:xfrm xmlns:a="http://schemas.openxmlformats.org/drawingml/2006/main">
            <a:off x="9296400" y="1714500"/>
            <a:ext cx="2038350" cy="76200"/>
          </a:xfrm>
          <a:prstGeom xmlns:a="http://schemas.openxmlformats.org/drawingml/2006/main" prst="roundRect">
            <a:avLst>
              <a:gd name="adj" fmla="val 50000"/>
            </a:avLst>
          </a:prstGeom>
          <a:solidFill xmlns:a="http://schemas.openxmlformats.org/drawingml/2006/main">
            <a:srgbClr val="7A4FD1"/>
          </a:solidFill>
          <a:ln xmlns:a="http://schemas.openxmlformats.org/drawingml/2006/main" w="0">
            <a:solidFill>
              <a:srgbClr val="7A4FD1"/>
            </a:solidFill>
            <a:prstDash val="solid"/>
          </a:ln>
        </p:spPr>
      </p:sp>
      <p:sp>
        <p:nvSpPr>
          <p:cNvPr id="43" name="">
            <a:extLst xmlns:a="http://schemas.openxmlformats.org/drawingml/2006/main">
              <a:ext uri="{FF2B5EF4-FFF2-40B4-BE49-F238E27FC236}">
                <a16:creationId xmlns:a16="http://schemas.microsoft.com/office/drawing/2014/main" id="{B6328887-1D17-410B-9C42-218CD14CA5AC}"/>
              </a:ext>
            </a:extLst>
          </p:cNvPr>
          <p:cNvSpPr>
            <a:spLocks xmlns:a="http://schemas.openxmlformats.org/drawingml/2006/main" noGrp="1"/>
          </p:cNvSpPr>
          <p:nvPr/>
        </p:nvSpPr>
        <p:spPr>
          <a:xfrm xmlns:a="http://schemas.openxmlformats.org/drawingml/2006/main">
            <a:off x="9429750" y="1866900"/>
            <a:ext cx="1771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Focused subtasks</a:t>
            </a:r>
          </a:p>
        </p:txBody>
      </p:sp>
      <p:sp>
        <p:nvSpPr>
          <p:cNvPr id="44" name="">
            <a:extLst xmlns:a="http://schemas.openxmlformats.org/drawingml/2006/main">
              <a:ext uri="{FF2B5EF4-FFF2-40B4-BE49-F238E27FC236}">
                <a16:creationId xmlns:a16="http://schemas.microsoft.com/office/drawing/2014/main" id="{95CD40C8-DF85-4249-AEA7-052412C9EE28}"/>
              </a:ext>
            </a:extLst>
          </p:cNvPr>
          <p:cNvSpPr>
            <a:spLocks xmlns:a="http://schemas.openxmlformats.org/drawingml/2006/main" noGrp="1"/>
          </p:cNvSpPr>
          <p:nvPr/>
        </p:nvSpPr>
        <p:spPr>
          <a:xfrm xmlns:a="http://schemas.openxmlformats.org/drawingml/2006/main">
            <a:off x="9429750" y="2171700"/>
            <a:ext cx="17716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Affected capability, data gap, metric impact, and owner path.</a:t>
            </a:r>
          </a:p>
        </p:txBody>
      </p:sp>
      <p:sp>
        <p:nvSpPr>
          <p:cNvPr id="45" name="">
            <a:extLst xmlns:a="http://schemas.openxmlformats.org/drawingml/2006/main">
              <a:ext uri="{FF2B5EF4-FFF2-40B4-BE49-F238E27FC236}">
                <a16:creationId xmlns:a16="http://schemas.microsoft.com/office/drawing/2014/main" id="{510A7853-D7DF-4F09-BB39-48D17C810F99}"/>
              </a:ext>
            </a:extLst>
          </p:cNvPr>
          <p:cNvSpPr>
            <a:spLocks xmlns:a="http://schemas.openxmlformats.org/drawingml/2006/main" noGrp="1"/>
          </p:cNvSpPr>
          <p:nvPr/>
        </p:nvSpPr>
        <p:spPr>
          <a:xfrm xmlns:a="http://schemas.openxmlformats.org/drawingml/2006/main">
            <a:off x="11029950" y="1828800"/>
            <a:ext cx="152400" cy="152400"/>
          </a:xfrm>
          <a:prstGeom xmlns:a="http://schemas.openxmlformats.org/drawingml/2006/main" prst="roundRect">
            <a:avLst>
              <a:gd name="adj" fmla="val 50000"/>
            </a:avLst>
          </a:prstGeom>
          <a:solidFill xmlns:a="http://schemas.openxmlformats.org/drawingml/2006/main">
            <a:srgbClr val="F2EBFF"/>
          </a:solidFill>
          <a:ln xmlns:a="http://schemas.openxmlformats.org/drawingml/2006/main" w="9525">
            <a:solidFill>
              <a:srgbClr val="7A4FD1"/>
            </a:solidFill>
            <a:prstDash val="solid"/>
          </a:ln>
        </p:spPr>
      </p:sp>
      <p:sp>
        <p:nvSpPr>
          <p:cNvPr id="46" name="">
            <a:extLst xmlns:a="http://schemas.openxmlformats.org/drawingml/2006/main">
              <a:ext uri="{FF2B5EF4-FFF2-40B4-BE49-F238E27FC236}">
                <a16:creationId xmlns:a16="http://schemas.microsoft.com/office/drawing/2014/main" id="{5952757C-785A-47FB-8813-A367B7A26940}"/>
              </a:ext>
            </a:extLst>
          </p:cNvPr>
          <p:cNvSpPr>
            <a:spLocks xmlns:a="http://schemas.openxmlformats.org/drawingml/2006/main" noGrp="1"/>
          </p:cNvSpPr>
          <p:nvPr/>
        </p:nvSpPr>
        <p:spPr>
          <a:xfrm xmlns:a="http://schemas.openxmlformats.org/drawingml/2006/main">
            <a:off x="7067550" y="2857500"/>
            <a:ext cx="203835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D6DADF"/>
            </a:solidFill>
            <a:prstDash val="solid"/>
          </a:ln>
        </p:spPr>
      </p:sp>
      <p:sp>
        <p:nvSpPr>
          <p:cNvPr id="47" name="">
            <a:extLst xmlns:a="http://schemas.openxmlformats.org/drawingml/2006/main">
              <a:ext uri="{FF2B5EF4-FFF2-40B4-BE49-F238E27FC236}">
                <a16:creationId xmlns:a16="http://schemas.microsoft.com/office/drawing/2014/main" id="{2E0BD292-6EE2-4003-A3C6-199E5FC2337B}"/>
              </a:ext>
            </a:extLst>
          </p:cNvPr>
          <p:cNvSpPr>
            <a:spLocks xmlns:a="http://schemas.openxmlformats.org/drawingml/2006/main" noGrp="1"/>
          </p:cNvSpPr>
          <p:nvPr/>
        </p:nvSpPr>
        <p:spPr>
          <a:xfrm xmlns:a="http://schemas.openxmlformats.org/drawingml/2006/main">
            <a:off x="7067550" y="2857500"/>
            <a:ext cx="203835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48" name="">
            <a:extLst xmlns:a="http://schemas.openxmlformats.org/drawingml/2006/main">
              <a:ext uri="{FF2B5EF4-FFF2-40B4-BE49-F238E27FC236}">
                <a16:creationId xmlns:a16="http://schemas.microsoft.com/office/drawing/2014/main" id="{DB51566B-7B5F-4826-8585-E2DF0D354C06}"/>
              </a:ext>
            </a:extLst>
          </p:cNvPr>
          <p:cNvSpPr>
            <a:spLocks xmlns:a="http://schemas.openxmlformats.org/drawingml/2006/main" noGrp="1"/>
          </p:cNvSpPr>
          <p:nvPr/>
        </p:nvSpPr>
        <p:spPr>
          <a:xfrm xmlns:a="http://schemas.openxmlformats.org/drawingml/2006/main">
            <a:off x="7200900" y="3009900"/>
            <a:ext cx="1771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Evidence adapters</a:t>
            </a:r>
          </a:p>
        </p:txBody>
      </p:sp>
      <p:sp>
        <p:nvSpPr>
          <p:cNvPr id="49" name="">
            <a:extLst xmlns:a="http://schemas.openxmlformats.org/drawingml/2006/main">
              <a:ext uri="{FF2B5EF4-FFF2-40B4-BE49-F238E27FC236}">
                <a16:creationId xmlns:a16="http://schemas.microsoft.com/office/drawing/2014/main" id="{9BE73B81-34AE-4353-9786-A4452FA22C59}"/>
              </a:ext>
            </a:extLst>
          </p:cNvPr>
          <p:cNvSpPr>
            <a:spLocks xmlns:a="http://schemas.openxmlformats.org/drawingml/2006/main" noGrp="1"/>
          </p:cNvSpPr>
          <p:nvPr/>
        </p:nvSpPr>
        <p:spPr>
          <a:xfrm xmlns:a="http://schemas.openxmlformats.org/drawingml/2006/main">
            <a:off x="7200900" y="3314700"/>
            <a:ext cx="1771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Search/index stats reader</a:t>
            </a:r>
          </a:p>
          <a:p xmlns:a="http://schemas.openxmlformats.org/drawingml/2006/main">
            <a:pPr algn="l">
              <a:defRPr sz="1125" b="0">
                <a:solidFill>
                  <a:srgbClr val="5D6975"/>
                </a:solidFill>
              </a:defRPr>
            </a:pPr>
            <a:r>
              <a:rPr sz="1125" b="0">
                <a:solidFill>
                  <a:srgbClr val="5D6975"/>
                </a:solidFill>
              </a:rPr>
              <a:t>Prometheus query adapter</a:t>
            </a:r>
          </a:p>
          <a:p xmlns:a="http://schemas.openxmlformats.org/drawingml/2006/main">
            <a:pPr algn="l">
              <a:defRPr sz="1125" b="0">
                <a:solidFill>
                  <a:srgbClr val="5D6975"/>
                </a:solidFill>
              </a:defRPr>
            </a:pPr>
            <a:r>
              <a:rPr sz="1125" b="0">
                <a:solidFill>
                  <a:srgbClr val="5D6975"/>
                </a:solidFill>
              </a:rPr>
              <a:t>Temporal state reader</a:t>
            </a:r>
          </a:p>
          <a:p xmlns:a="http://schemas.openxmlformats.org/drawingml/2006/main">
            <a:pPr algn="l">
              <a:defRPr sz="1125" b="0">
                <a:solidFill>
                  <a:srgbClr val="5D6975"/>
                </a:solidFill>
              </a:defRPr>
            </a:pPr>
            <a:r>
              <a:rPr sz="1125" b="0">
                <a:solidFill>
                  <a:srgbClr val="5D6975"/>
                </a:solidFill>
              </a:rPr>
              <a:t>Approval/audit reader</a:t>
            </a:r>
          </a:p>
        </p:txBody>
      </p:sp>
      <p:sp>
        <p:nvSpPr>
          <p:cNvPr id="50" name="">
            <a:extLst xmlns:a="http://schemas.openxmlformats.org/drawingml/2006/main">
              <a:ext uri="{FF2B5EF4-FFF2-40B4-BE49-F238E27FC236}">
                <a16:creationId xmlns:a16="http://schemas.microsoft.com/office/drawing/2014/main" id="{094DE622-2809-40B6-9B1D-EEE50B5D625B}"/>
              </a:ext>
            </a:extLst>
          </p:cNvPr>
          <p:cNvSpPr>
            <a:spLocks xmlns:a="http://schemas.openxmlformats.org/drawingml/2006/main" noGrp="1"/>
          </p:cNvSpPr>
          <p:nvPr/>
        </p:nvSpPr>
        <p:spPr>
          <a:xfrm xmlns:a="http://schemas.openxmlformats.org/drawingml/2006/main">
            <a:off x="8801100" y="297180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51" name="">
            <a:extLst xmlns:a="http://schemas.openxmlformats.org/drawingml/2006/main">
              <a:ext uri="{FF2B5EF4-FFF2-40B4-BE49-F238E27FC236}">
                <a16:creationId xmlns:a16="http://schemas.microsoft.com/office/drawing/2014/main" id="{3807AFC5-EDFB-4A3A-A90C-81B3ABF72EE3}"/>
              </a:ext>
            </a:extLst>
          </p:cNvPr>
          <p:cNvSpPr>
            <a:spLocks xmlns:a="http://schemas.openxmlformats.org/drawingml/2006/main" noGrp="1"/>
          </p:cNvSpPr>
          <p:nvPr/>
        </p:nvSpPr>
        <p:spPr>
          <a:xfrm xmlns:a="http://schemas.openxmlformats.org/drawingml/2006/main">
            <a:off x="9296400" y="2857500"/>
            <a:ext cx="203835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D6DADF"/>
            </a:solidFill>
            <a:prstDash val="solid"/>
          </a:ln>
        </p:spPr>
      </p:sp>
      <p:sp>
        <p:nvSpPr>
          <p:cNvPr id="52" name="">
            <a:extLst xmlns:a="http://schemas.openxmlformats.org/drawingml/2006/main">
              <a:ext uri="{FF2B5EF4-FFF2-40B4-BE49-F238E27FC236}">
                <a16:creationId xmlns:a16="http://schemas.microsoft.com/office/drawing/2014/main" id="{29788307-F988-4608-B888-14DE1BF57A2A}"/>
              </a:ext>
            </a:extLst>
          </p:cNvPr>
          <p:cNvSpPr>
            <a:spLocks xmlns:a="http://schemas.openxmlformats.org/drawingml/2006/main" noGrp="1"/>
          </p:cNvSpPr>
          <p:nvPr/>
        </p:nvSpPr>
        <p:spPr>
          <a:xfrm xmlns:a="http://schemas.openxmlformats.org/drawingml/2006/main">
            <a:off x="9296400" y="2857500"/>
            <a:ext cx="2038350" cy="76200"/>
          </a:xfrm>
          <a:prstGeom xmlns:a="http://schemas.openxmlformats.org/drawingml/2006/main" prst="roundRect">
            <a:avLst>
              <a:gd name="adj" fmla="val 50000"/>
            </a:avLst>
          </a:prstGeom>
          <a:solidFill xmlns:a="http://schemas.openxmlformats.org/drawingml/2006/main">
            <a:srgbClr val="F0883E"/>
          </a:solidFill>
          <a:ln xmlns:a="http://schemas.openxmlformats.org/drawingml/2006/main" w="0">
            <a:solidFill>
              <a:srgbClr val="F0883E"/>
            </a:solidFill>
            <a:prstDash val="solid"/>
          </a:ln>
        </p:spPr>
      </p:sp>
      <p:sp>
        <p:nvSpPr>
          <p:cNvPr id="53" name="">
            <a:extLst xmlns:a="http://schemas.openxmlformats.org/drawingml/2006/main">
              <a:ext uri="{FF2B5EF4-FFF2-40B4-BE49-F238E27FC236}">
                <a16:creationId xmlns:a16="http://schemas.microsoft.com/office/drawing/2014/main" id="{F93C96E1-7EA8-487D-8DE4-1166C44E1620}"/>
              </a:ext>
            </a:extLst>
          </p:cNvPr>
          <p:cNvSpPr>
            <a:spLocks xmlns:a="http://schemas.openxmlformats.org/drawingml/2006/main" noGrp="1"/>
          </p:cNvSpPr>
          <p:nvPr/>
        </p:nvSpPr>
        <p:spPr>
          <a:xfrm xmlns:a="http://schemas.openxmlformats.org/drawingml/2006/main">
            <a:off x="9429750" y="3009900"/>
            <a:ext cx="17716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Optional LLM synthesis</a:t>
            </a:r>
          </a:p>
        </p:txBody>
      </p:sp>
      <p:sp>
        <p:nvSpPr>
          <p:cNvPr id="54" name="">
            <a:extLst xmlns:a="http://schemas.openxmlformats.org/drawingml/2006/main">
              <a:ext uri="{FF2B5EF4-FFF2-40B4-BE49-F238E27FC236}">
                <a16:creationId xmlns:a16="http://schemas.microsoft.com/office/drawing/2014/main" id="{675E79B3-345D-4957-9D76-FA1D503E79FA}"/>
              </a:ext>
            </a:extLst>
          </p:cNvPr>
          <p:cNvSpPr>
            <a:spLocks xmlns:a="http://schemas.openxmlformats.org/drawingml/2006/main" noGrp="1"/>
          </p:cNvSpPr>
          <p:nvPr/>
        </p:nvSpPr>
        <p:spPr>
          <a:xfrm xmlns:a="http://schemas.openxmlformats.org/drawingml/2006/main">
            <a:off x="9429750" y="3314700"/>
            <a:ext cx="1771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Ollama can rewrite the final narrative, but it does not control routing, approval, or rollback.</a:t>
            </a:r>
          </a:p>
        </p:txBody>
      </p:sp>
      <p:sp>
        <p:nvSpPr>
          <p:cNvPr id="55" name="">
            <a:extLst xmlns:a="http://schemas.openxmlformats.org/drawingml/2006/main">
              <a:ext uri="{FF2B5EF4-FFF2-40B4-BE49-F238E27FC236}">
                <a16:creationId xmlns:a16="http://schemas.microsoft.com/office/drawing/2014/main" id="{9656AF61-1004-44D2-B257-57320984C226}"/>
              </a:ext>
            </a:extLst>
          </p:cNvPr>
          <p:cNvSpPr>
            <a:spLocks xmlns:a="http://schemas.openxmlformats.org/drawingml/2006/main" noGrp="1"/>
          </p:cNvSpPr>
          <p:nvPr/>
        </p:nvSpPr>
        <p:spPr>
          <a:xfrm xmlns:a="http://schemas.openxmlformats.org/drawingml/2006/main">
            <a:off x="11029950" y="2971800"/>
            <a:ext cx="152400" cy="152400"/>
          </a:xfrm>
          <a:prstGeom xmlns:a="http://schemas.openxmlformats.org/drawingml/2006/main" prst="roundRect">
            <a:avLst>
              <a:gd name="adj" fmla="val 50000"/>
            </a:avLst>
          </a:prstGeom>
          <a:solidFill xmlns:a="http://schemas.openxmlformats.org/drawingml/2006/main">
            <a:srgbClr val="FFF1E8"/>
          </a:solidFill>
          <a:ln xmlns:a="http://schemas.openxmlformats.org/drawingml/2006/main" w="9525">
            <a:solidFill>
              <a:srgbClr val="F0883E"/>
            </a:solidFill>
            <a:prstDash val="solid"/>
          </a:ln>
        </p:spPr>
      </p:sp>
      <p:sp>
        <p:nvSpPr>
          <p:cNvPr id="56" name="">
            <a:extLst xmlns:a="http://schemas.openxmlformats.org/drawingml/2006/main">
              <a:ext uri="{FF2B5EF4-FFF2-40B4-BE49-F238E27FC236}">
                <a16:creationId xmlns:a16="http://schemas.microsoft.com/office/drawing/2014/main" id="{313C3EB5-9DD8-4325-A181-DFF8F391E92D}"/>
              </a:ext>
            </a:extLst>
          </p:cNvPr>
          <p:cNvSpPr>
            <a:spLocks xmlns:a="http://schemas.openxmlformats.org/drawingml/2006/main" noGrp="1"/>
          </p:cNvSpPr>
          <p:nvPr/>
        </p:nvSpPr>
        <p:spPr>
          <a:xfrm xmlns:a="http://schemas.openxmlformats.org/drawingml/2006/main">
            <a:off x="7067550" y="4267200"/>
            <a:ext cx="4267200" cy="14668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D6DADF"/>
            </a:solidFill>
            <a:prstDash val="solid"/>
          </a:ln>
        </p:spPr>
      </p:sp>
      <p:sp>
        <p:nvSpPr>
          <p:cNvPr id="57" name="">
            <a:extLst xmlns:a="http://schemas.openxmlformats.org/drawingml/2006/main">
              <a:ext uri="{FF2B5EF4-FFF2-40B4-BE49-F238E27FC236}">
                <a16:creationId xmlns:a16="http://schemas.microsoft.com/office/drawing/2014/main" id="{1D32C8CA-3FDC-4DBF-9128-00130A2CF962}"/>
              </a:ext>
            </a:extLst>
          </p:cNvPr>
          <p:cNvSpPr>
            <a:spLocks xmlns:a="http://schemas.openxmlformats.org/drawingml/2006/main" noGrp="1"/>
          </p:cNvSpPr>
          <p:nvPr/>
        </p:nvSpPr>
        <p:spPr>
          <a:xfrm xmlns:a="http://schemas.openxmlformats.org/drawingml/2006/main">
            <a:off x="7067550" y="4267200"/>
            <a:ext cx="4267200" cy="76200"/>
          </a:xfrm>
          <a:prstGeom xmlns:a="http://schemas.openxmlformats.org/drawingml/2006/main" prst="roundRect">
            <a:avLst>
              <a:gd name="adj" fmla="val 50000"/>
            </a:avLst>
          </a:prstGeom>
          <a:solidFill xmlns:a="http://schemas.openxmlformats.org/drawingml/2006/main">
            <a:srgbClr val="B98900"/>
          </a:solidFill>
          <a:ln xmlns:a="http://schemas.openxmlformats.org/drawingml/2006/main" w="0">
            <a:solidFill>
              <a:srgbClr val="B98900"/>
            </a:solidFill>
            <a:prstDash val="solid"/>
          </a:ln>
        </p:spPr>
      </p:sp>
      <p:sp>
        <p:nvSpPr>
          <p:cNvPr id="58" name="">
            <a:extLst xmlns:a="http://schemas.openxmlformats.org/drawingml/2006/main">
              <a:ext uri="{FF2B5EF4-FFF2-40B4-BE49-F238E27FC236}">
                <a16:creationId xmlns:a16="http://schemas.microsoft.com/office/drawing/2014/main" id="{489F62CB-DC92-4280-A4F1-D06347ACDE60}"/>
              </a:ext>
            </a:extLst>
          </p:cNvPr>
          <p:cNvSpPr>
            <a:spLocks xmlns:a="http://schemas.openxmlformats.org/drawingml/2006/main" noGrp="1"/>
          </p:cNvSpPr>
          <p:nvPr/>
        </p:nvSpPr>
        <p:spPr>
          <a:xfrm xmlns:a="http://schemas.openxmlformats.org/drawingml/2006/main">
            <a:off x="7200900" y="4419600"/>
            <a:ext cx="4000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Design rule</a:t>
            </a:r>
          </a:p>
        </p:txBody>
      </p:sp>
      <p:sp>
        <p:nvSpPr>
          <p:cNvPr id="59" name="">
            <a:extLst xmlns:a="http://schemas.openxmlformats.org/drawingml/2006/main">
              <a:ext uri="{FF2B5EF4-FFF2-40B4-BE49-F238E27FC236}">
                <a16:creationId xmlns:a16="http://schemas.microsoft.com/office/drawing/2014/main" id="{83A4636F-BBBF-4442-8EC8-DC748A7BEAC4}"/>
              </a:ext>
            </a:extLst>
          </p:cNvPr>
          <p:cNvSpPr>
            <a:spLocks xmlns:a="http://schemas.openxmlformats.org/drawingml/2006/main" noGrp="1"/>
          </p:cNvSpPr>
          <p:nvPr/>
        </p:nvSpPr>
        <p:spPr>
          <a:xfrm xmlns:a="http://schemas.openxmlformats.org/drawingml/2006/main">
            <a:off x="7200900" y="4724400"/>
            <a:ext cx="4000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This is code-first orchestration with optional LLM synthesis.</a:t>
            </a:r>
          </a:p>
          <a:p xmlns:a="http://schemas.openxmlformats.org/drawingml/2006/main">
            <a:r>
              <a:t/>
            </a:r>
          </a:p>
          <a:p xmlns:a="http://schemas.openxmlformats.org/drawingml/2006/main">
            <a:pPr algn="l">
              <a:defRPr sz="1125" b="0">
                <a:solidFill>
                  <a:srgbClr val="5D6975"/>
                </a:solidFill>
              </a:defRPr>
            </a:pPr>
            <a:r>
              <a:rPr sz="1125" b="0">
                <a:solidFill>
                  <a:srgbClr val="5D6975"/>
                </a:solidFill>
              </a:rPr>
              <a:t>Code gathers the evidence.</a:t>
            </a:r>
          </a:p>
          <a:p xmlns:a="http://schemas.openxmlformats.org/drawingml/2006/main">
            <a:pPr algn="l">
              <a:defRPr sz="1125" b="0">
                <a:solidFill>
                  <a:srgbClr val="5D6975"/>
                </a:solidFill>
              </a:defRPr>
            </a:pPr>
            <a:r>
              <a:rPr sz="1125" b="0">
                <a:solidFill>
                  <a:srgbClr val="5D6975"/>
                </a:solidFill>
              </a:rPr>
              <a:t>Code decides which adapters to call.</a:t>
            </a:r>
          </a:p>
          <a:p xmlns:a="http://schemas.openxmlformats.org/drawingml/2006/main">
            <a:pPr algn="l">
              <a:defRPr sz="1125" b="0">
                <a:solidFill>
                  <a:srgbClr val="5D6975"/>
                </a:solidFill>
              </a:defRPr>
            </a:pPr>
            <a:r>
              <a:rPr sz="1125" b="0">
                <a:solidFill>
                  <a:srgbClr val="5D6975"/>
                </a:solidFill>
              </a:rPr>
              <a:t>The LLM only improves explanation and operator readability.</a:t>
            </a:r>
          </a:p>
        </p:txBody>
      </p:sp>
      <p:sp>
        <p:nvSpPr>
          <p:cNvPr id="60" name="">
            <a:extLst xmlns:a="http://schemas.openxmlformats.org/drawingml/2006/main">
              <a:ext uri="{FF2B5EF4-FFF2-40B4-BE49-F238E27FC236}">
                <a16:creationId xmlns:a16="http://schemas.microsoft.com/office/drawing/2014/main" id="{D5B4758C-2A86-494C-BAC6-A5F68FDE902E}"/>
              </a:ext>
            </a:extLst>
          </p:cNvPr>
          <p:cNvSpPr>
            <a:spLocks xmlns:a="http://schemas.openxmlformats.org/drawingml/2006/main" noGrp="1"/>
          </p:cNvSpPr>
          <p:nvPr/>
        </p:nvSpPr>
        <p:spPr>
          <a:xfrm xmlns:a="http://schemas.openxmlformats.org/drawingml/2006/main">
            <a:off x="11029950" y="4381500"/>
            <a:ext cx="152400" cy="152400"/>
          </a:xfrm>
          <a:prstGeom xmlns:a="http://schemas.openxmlformats.org/drawingml/2006/main" prst="roundRect">
            <a:avLst>
              <a:gd name="adj" fmla="val 50000"/>
            </a:avLst>
          </a:prstGeom>
          <a:solidFill xmlns:a="http://schemas.openxmlformats.org/drawingml/2006/main">
            <a:srgbClr val="FFF9E8"/>
          </a:solidFill>
          <a:ln xmlns:a="http://schemas.openxmlformats.org/drawingml/2006/main" w="9525">
            <a:solidFill>
              <a:srgbClr val="B98900"/>
            </a:solidFill>
            <a:prstDash val="solid"/>
          </a:ln>
        </p:spPr>
      </p:sp>
    </p:spTree>
    <p:extLst>
      <p:ext uri="{BB962C8B-B14F-4D97-AF65-F5344CB8AC3E}">
        <p14:creationId xmlns:p14="http://schemas.microsoft.com/office/powerpoint/2010/main" val="691322158"/>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A6FEF05-D048-440E-A88D-4A745AAB4CEB}"/>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D4495273-FC20-4052-866F-E47478789018}"/>
              </a:ext>
            </a:extLst>
          </p:cNvPr>
          <p:cNvSpPr>
            <a:spLocks xmlns:a="http://schemas.openxmlformats.org/drawingml/2006/main" noGrp="1"/>
          </p:cNvSpPr>
          <p:nvPr/>
        </p:nvSpPr>
        <p:spPr>
          <a:xfrm xmlns:a="http://schemas.openxmlformats.org/drawingml/2006/main">
            <a:off x="647700" y="400050"/>
            <a:ext cx="7239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2325" b="1">
                <a:solidFill>
                  <a:srgbClr val="17202A"/>
                </a:solidFill>
              </a:defRPr>
            </a:pPr>
            <a:r>
              <a:rPr sz="2325" b="1">
                <a:solidFill>
                  <a:srgbClr val="17202A"/>
                </a:solidFill>
              </a:rPr>
              <a:t>Endpoint And Connection Map</a:t>
            </a:r>
          </a:p>
        </p:txBody>
      </p:sp>
      <p:sp>
        <p:nvSpPr>
          <p:cNvPr id="3" name="">
            <a:extLst xmlns:a="http://schemas.openxmlformats.org/drawingml/2006/main">
              <a:ext uri="{FF2B5EF4-FFF2-40B4-BE49-F238E27FC236}">
                <a16:creationId xmlns:a16="http://schemas.microsoft.com/office/drawing/2014/main" id="{1B9E32F1-E879-443D-9E4B-0DA04128F8B9}"/>
              </a:ext>
            </a:extLst>
          </p:cNvPr>
          <p:cNvSpPr>
            <a:spLocks xmlns:a="http://schemas.openxmlformats.org/drawingml/2006/main" noGrp="1"/>
          </p:cNvSpPr>
          <p:nvPr/>
        </p:nvSpPr>
        <p:spPr>
          <a:xfrm xmlns:a="http://schemas.openxmlformats.org/drawingml/2006/main">
            <a:off x="647700" y="87630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275" b="0">
                <a:solidFill>
                  <a:srgbClr val="5D6975"/>
                </a:solidFill>
              </a:defRPr>
            </a:pPr>
            <a:r>
              <a:rPr sz="1275" b="0">
                <a:solidFill>
                  <a:srgbClr val="5D6975"/>
                </a:solidFill>
              </a:rPr>
              <a:t>This is the real low-level integration surface: public API endpoints, internal service calls, ports, and protocols.</a:t>
            </a:r>
          </a:p>
        </p:txBody>
      </p:sp>
      <p:sp>
        <p:nvSpPr>
          <p:cNvPr id="4" name="">
            <a:extLst xmlns:a="http://schemas.openxmlformats.org/drawingml/2006/main">
              <a:ext uri="{FF2B5EF4-FFF2-40B4-BE49-F238E27FC236}">
                <a16:creationId xmlns:a16="http://schemas.microsoft.com/office/drawing/2014/main" id="{91039F43-9F90-4D32-BCBC-EB10F38511B0}"/>
              </a:ext>
            </a:extLst>
          </p:cNvPr>
          <p:cNvSpPr>
            <a:spLocks xmlns:a="http://schemas.openxmlformats.org/drawingml/2006/main" noGrp="1"/>
          </p:cNvSpPr>
          <p:nvPr/>
        </p:nvSpPr>
        <p:spPr>
          <a:xfrm xmlns:a="http://schemas.openxmlformats.org/drawingml/2006/main">
            <a:off x="647700" y="1314450"/>
            <a:ext cx="2343150" cy="26670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0">
            <a:solidFill>
              <a:srgbClr val="2D6CDF"/>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PUBLIC API SURFACE</a:t>
            </a:r>
          </a:p>
        </p:txBody>
      </p:sp>
      <p:sp>
        <p:nvSpPr>
          <p:cNvPr id="5" name="">
            <a:extLst xmlns:a="http://schemas.openxmlformats.org/drawingml/2006/main">
              <a:ext uri="{FF2B5EF4-FFF2-40B4-BE49-F238E27FC236}">
                <a16:creationId xmlns:a16="http://schemas.microsoft.com/office/drawing/2014/main" id="{5A96ABF8-FD27-48D3-802E-C7DEBED7C948}"/>
              </a:ext>
            </a:extLst>
          </p:cNvPr>
          <p:cNvSpPr>
            <a:spLocks xmlns:a="http://schemas.openxmlformats.org/drawingml/2006/main" noGrp="1"/>
          </p:cNvSpPr>
          <p:nvPr/>
        </p:nvSpPr>
        <p:spPr>
          <a:xfrm xmlns:a="http://schemas.openxmlformats.org/drawingml/2006/main">
            <a:off x="647700" y="1695450"/>
            <a:ext cx="50482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ADF"/>
            </a:solidFill>
            <a:prstDash val="solid"/>
          </a:ln>
        </p:spPr>
      </p:sp>
      <p:sp>
        <p:nvSpPr>
          <p:cNvPr id="6" name="">
            <a:extLst xmlns:a="http://schemas.openxmlformats.org/drawingml/2006/main">
              <a:ext uri="{FF2B5EF4-FFF2-40B4-BE49-F238E27FC236}">
                <a16:creationId xmlns:a16="http://schemas.microsoft.com/office/drawing/2014/main" id="{F3251E66-50D0-4ED7-B511-A47C7361B334}"/>
              </a:ext>
            </a:extLst>
          </p:cNvPr>
          <p:cNvSpPr>
            <a:spLocks xmlns:a="http://schemas.openxmlformats.org/drawingml/2006/main" noGrp="1"/>
          </p:cNvSpPr>
          <p:nvPr/>
        </p:nvSpPr>
        <p:spPr>
          <a:xfrm xmlns:a="http://schemas.openxmlformats.org/drawingml/2006/main">
            <a:off x="647700" y="1695450"/>
            <a:ext cx="504825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7" name="">
            <a:extLst xmlns:a="http://schemas.openxmlformats.org/drawingml/2006/main">
              <a:ext uri="{FF2B5EF4-FFF2-40B4-BE49-F238E27FC236}">
                <a16:creationId xmlns:a16="http://schemas.microsoft.com/office/drawing/2014/main" id="{DC1BA18F-EA8B-4C73-B125-BA89C060618B}"/>
              </a:ext>
            </a:extLst>
          </p:cNvPr>
          <p:cNvSpPr>
            <a:spLocks xmlns:a="http://schemas.openxmlformats.org/drawingml/2006/main" noGrp="1"/>
          </p:cNvSpPr>
          <p:nvPr/>
        </p:nvSpPr>
        <p:spPr>
          <a:xfrm xmlns:a="http://schemas.openxmlformats.org/drawingml/2006/main">
            <a:off x="781050" y="1847850"/>
            <a:ext cx="4781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Serving endpoints</a:t>
            </a:r>
          </a:p>
        </p:txBody>
      </p:sp>
      <p:sp>
        <p:nvSpPr>
          <p:cNvPr id="8" name="">
            <a:extLst xmlns:a="http://schemas.openxmlformats.org/drawingml/2006/main">
              <a:ext uri="{FF2B5EF4-FFF2-40B4-BE49-F238E27FC236}">
                <a16:creationId xmlns:a16="http://schemas.microsoft.com/office/drawing/2014/main" id="{35BC9858-01E6-4631-BD40-1E88C2681314}"/>
              </a:ext>
            </a:extLst>
          </p:cNvPr>
          <p:cNvSpPr>
            <a:spLocks xmlns:a="http://schemas.openxmlformats.org/drawingml/2006/main" noGrp="1"/>
          </p:cNvSpPr>
          <p:nvPr/>
        </p:nvSpPr>
        <p:spPr>
          <a:xfrm xmlns:a="http://schemas.openxmlformats.org/drawingml/2006/main">
            <a:off x="781050" y="2152650"/>
            <a:ext cx="47815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GET /search?query=...</a:t>
            </a:r>
          </a:p>
          <a:p xmlns:a="http://schemas.openxmlformats.org/drawingml/2006/main">
            <a:pPr algn="l">
              <a:defRPr sz="1125" b="0">
                <a:solidFill>
                  <a:srgbClr val="5D6975"/>
                </a:solidFill>
              </a:defRPr>
            </a:pPr>
            <a:r>
              <a:rPr sz="1125" b="0">
                <a:solidFill>
                  <a:srgbClr val="5D6975"/>
                </a:solidFill>
              </a:rPr>
              <a:t>GET /signals</a:t>
            </a:r>
          </a:p>
          <a:p xmlns:a="http://schemas.openxmlformats.org/drawingml/2006/main">
            <a:pPr algn="l">
              <a:defRPr sz="1125" b="0">
                <a:solidFill>
                  <a:srgbClr val="5D6975"/>
                </a:solidFill>
              </a:defRPr>
            </a:pPr>
            <a:r>
              <a:rPr sz="1125" b="0">
                <a:solidFill>
                  <a:srgbClr val="5D6975"/>
                </a:solidFill>
              </a:rPr>
              <a:t>GET /metrics</a:t>
            </a:r>
          </a:p>
          <a:p xmlns:a="http://schemas.openxmlformats.org/drawingml/2006/main">
            <a:pPr algn="l">
              <a:defRPr sz="1125" b="0">
                <a:solidFill>
                  <a:srgbClr val="5D6975"/>
                </a:solidFill>
              </a:defRPr>
            </a:pPr>
            <a:r>
              <a:rPr sz="1125" b="0">
                <a:solidFill>
                  <a:srgbClr val="5D6975"/>
                </a:solidFill>
              </a:rPr>
              <a:t>GET /health</a:t>
            </a:r>
          </a:p>
          <a:p xmlns:a="http://schemas.openxmlformats.org/drawingml/2006/main">
            <a:pPr algn="l">
              <a:defRPr sz="1125" b="0">
                <a:solidFill>
                  <a:srgbClr val="5D6975"/>
                </a:solidFill>
              </a:defRPr>
            </a:pPr>
            <a:r>
              <a:rPr sz="1125" b="0">
                <a:solidFill>
                  <a:srgbClr val="5D6975"/>
                </a:solidFill>
              </a:rPr>
              <a:t>GET /kafka-health</a:t>
            </a:r>
          </a:p>
          <a:p xmlns:a="http://schemas.openxmlformats.org/drawingml/2006/main">
            <a:pPr algn="l">
              <a:defRPr sz="1125" b="0">
                <a:solidFill>
                  <a:srgbClr val="5D6975"/>
                </a:solidFill>
              </a:defRPr>
            </a:pPr>
            <a:r>
              <a:rPr sz="1125" b="0">
                <a:solidFill>
                  <a:srgbClr val="5D6975"/>
                </a:solidFill>
              </a:rPr>
              <a:t>GET /temporal-health</a:t>
            </a:r>
          </a:p>
          <a:p xmlns:a="http://schemas.openxmlformats.org/drawingml/2006/main">
            <a:pPr algn="l">
              <a:defRPr sz="1125" b="0">
                <a:solidFill>
                  <a:srgbClr val="5D6975"/>
                </a:solidFill>
              </a:defRPr>
            </a:pPr>
            <a:r>
              <a:rPr sz="1125" b="0">
                <a:solidFill>
                  <a:srgbClr val="5D6975"/>
                </a:solidFill>
              </a:rPr>
              <a:t>GET /diagnostics</a:t>
            </a:r>
          </a:p>
        </p:txBody>
      </p:sp>
      <p:sp>
        <p:nvSpPr>
          <p:cNvPr id="9" name="">
            <a:extLst xmlns:a="http://schemas.openxmlformats.org/drawingml/2006/main">
              <a:ext uri="{FF2B5EF4-FFF2-40B4-BE49-F238E27FC236}">
                <a16:creationId xmlns:a16="http://schemas.microsoft.com/office/drawing/2014/main" id="{A5D93672-99EE-404A-B112-FC69902B0DF4}"/>
              </a:ext>
            </a:extLst>
          </p:cNvPr>
          <p:cNvSpPr>
            <a:spLocks xmlns:a="http://schemas.openxmlformats.org/drawingml/2006/main" noGrp="1"/>
          </p:cNvSpPr>
          <p:nvPr/>
        </p:nvSpPr>
        <p:spPr>
          <a:xfrm xmlns:a="http://schemas.openxmlformats.org/drawingml/2006/main">
            <a:off x="5391150" y="180975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10" name="">
            <a:extLst xmlns:a="http://schemas.openxmlformats.org/drawingml/2006/main">
              <a:ext uri="{FF2B5EF4-FFF2-40B4-BE49-F238E27FC236}">
                <a16:creationId xmlns:a16="http://schemas.microsoft.com/office/drawing/2014/main" id="{CC6F02F0-B778-4387-B845-514BB1BC9573}"/>
              </a:ext>
            </a:extLst>
          </p:cNvPr>
          <p:cNvSpPr>
            <a:spLocks xmlns:a="http://schemas.openxmlformats.org/drawingml/2006/main" noGrp="1"/>
          </p:cNvSpPr>
          <p:nvPr/>
        </p:nvSpPr>
        <p:spPr>
          <a:xfrm xmlns:a="http://schemas.openxmlformats.org/drawingml/2006/main">
            <a:off x="647700" y="2838450"/>
            <a:ext cx="5048250" cy="12954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6DADF"/>
            </a:solidFill>
            <a:prstDash val="solid"/>
          </a:ln>
        </p:spPr>
      </p:sp>
      <p:sp>
        <p:nvSpPr>
          <p:cNvPr id="11" name="">
            <a:extLst xmlns:a="http://schemas.openxmlformats.org/drawingml/2006/main">
              <a:ext uri="{FF2B5EF4-FFF2-40B4-BE49-F238E27FC236}">
                <a16:creationId xmlns:a16="http://schemas.microsoft.com/office/drawing/2014/main" id="{9E97FFE9-E406-49E5-AEF6-B3EF516A897A}"/>
              </a:ext>
            </a:extLst>
          </p:cNvPr>
          <p:cNvSpPr>
            <a:spLocks xmlns:a="http://schemas.openxmlformats.org/drawingml/2006/main" noGrp="1"/>
          </p:cNvSpPr>
          <p:nvPr/>
        </p:nvSpPr>
        <p:spPr>
          <a:xfrm xmlns:a="http://schemas.openxmlformats.org/drawingml/2006/main">
            <a:off x="647700" y="2838450"/>
            <a:ext cx="5048250" cy="76200"/>
          </a:xfrm>
          <a:prstGeom xmlns:a="http://schemas.openxmlformats.org/drawingml/2006/main" prst="roundRect">
            <a:avLst>
              <a:gd name="adj" fmla="val 50000"/>
            </a:avLst>
          </a:prstGeom>
          <a:solidFill xmlns:a="http://schemas.openxmlformats.org/drawingml/2006/main">
            <a:srgbClr val="F0883E"/>
          </a:solidFill>
          <a:ln xmlns:a="http://schemas.openxmlformats.org/drawingml/2006/main" w="0">
            <a:solidFill>
              <a:srgbClr val="F0883E"/>
            </a:solidFill>
            <a:prstDash val="solid"/>
          </a:ln>
        </p:spPr>
      </p:sp>
      <p:sp>
        <p:nvSpPr>
          <p:cNvPr id="12" name="">
            <a:extLst xmlns:a="http://schemas.openxmlformats.org/drawingml/2006/main">
              <a:ext uri="{FF2B5EF4-FFF2-40B4-BE49-F238E27FC236}">
                <a16:creationId xmlns:a16="http://schemas.microsoft.com/office/drawing/2014/main" id="{E03253F7-A31A-43A3-9612-23F245BB511A}"/>
              </a:ext>
            </a:extLst>
          </p:cNvPr>
          <p:cNvSpPr>
            <a:spLocks xmlns:a="http://schemas.openxmlformats.org/drawingml/2006/main" noGrp="1"/>
          </p:cNvSpPr>
          <p:nvPr/>
        </p:nvSpPr>
        <p:spPr>
          <a:xfrm xmlns:a="http://schemas.openxmlformats.org/drawingml/2006/main">
            <a:off x="781050" y="2990850"/>
            <a:ext cx="4781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Incident + release endpoints</a:t>
            </a:r>
          </a:p>
        </p:txBody>
      </p:sp>
      <p:sp>
        <p:nvSpPr>
          <p:cNvPr id="13" name="">
            <a:extLst xmlns:a="http://schemas.openxmlformats.org/drawingml/2006/main">
              <a:ext uri="{FF2B5EF4-FFF2-40B4-BE49-F238E27FC236}">
                <a16:creationId xmlns:a16="http://schemas.microsoft.com/office/drawing/2014/main" id="{988DFB06-41F6-46A7-B5A4-BACE2D5137A1}"/>
              </a:ext>
            </a:extLst>
          </p:cNvPr>
          <p:cNvSpPr>
            <a:spLocks xmlns:a="http://schemas.openxmlformats.org/drawingml/2006/main" noGrp="1"/>
          </p:cNvSpPr>
          <p:nvPr/>
        </p:nvSpPr>
        <p:spPr>
          <a:xfrm xmlns:a="http://schemas.openxmlformats.org/drawingml/2006/main">
            <a:off x="781050" y="3295650"/>
            <a:ext cx="47815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GET /incident-packet</a:t>
            </a:r>
          </a:p>
          <a:p xmlns:a="http://schemas.openxmlformats.org/drawingml/2006/main">
            <a:pPr algn="l">
              <a:defRPr sz="1125" b="0">
                <a:solidFill>
                  <a:srgbClr val="5D6975"/>
                </a:solidFill>
              </a:defRPr>
            </a:pPr>
            <a:r>
              <a:rPr sz="1125" b="0">
                <a:solidFill>
                  <a:srgbClr val="5D6975"/>
                </a:solidFill>
              </a:rPr>
              <a:t>GET /incident-packet-llm</a:t>
            </a:r>
          </a:p>
          <a:p xmlns:a="http://schemas.openxmlformats.org/drawingml/2006/main">
            <a:pPr algn="l">
              <a:defRPr sz="1125" b="0">
                <a:solidFill>
                  <a:srgbClr val="5D6975"/>
                </a:solidFill>
              </a:defRPr>
            </a:pPr>
            <a:r>
              <a:rPr sz="1125" b="0">
                <a:solidFill>
                  <a:srgbClr val="5D6975"/>
                </a:solidFill>
              </a:rPr>
              <a:t>GET /rlm-incident-analysis</a:t>
            </a:r>
          </a:p>
          <a:p xmlns:a="http://schemas.openxmlformats.org/drawingml/2006/main">
            <a:pPr algn="l">
              <a:defRPr sz="1125" b="0">
                <a:solidFill>
                  <a:srgbClr val="5D6975"/>
                </a:solidFill>
              </a:defRPr>
            </a:pPr>
            <a:r>
              <a:rPr sz="1125" b="0">
                <a:solidFill>
                  <a:srgbClr val="5D6975"/>
                </a:solidFill>
              </a:rPr>
              <a:t>GET /controlled-release-packet</a:t>
            </a:r>
          </a:p>
          <a:p xmlns:a="http://schemas.openxmlformats.org/drawingml/2006/main">
            <a:pPr algn="l">
              <a:defRPr sz="1125" b="0">
                <a:solidFill>
                  <a:srgbClr val="5D6975"/>
                </a:solidFill>
              </a:defRPr>
            </a:pPr>
            <a:r>
              <a:rPr sz="1125" b="0">
                <a:solidFill>
                  <a:srgbClr val="5D6975"/>
                </a:solidFill>
              </a:rPr>
              <a:t>GET /shadow-test</a:t>
            </a:r>
          </a:p>
          <a:p xmlns:a="http://schemas.openxmlformats.org/drawingml/2006/main">
            <a:pPr algn="l">
              <a:defRPr sz="1125" b="0">
                <a:solidFill>
                  <a:srgbClr val="5D6975"/>
                </a:solidFill>
              </a:defRPr>
            </a:pPr>
            <a:r>
              <a:rPr sz="1125" b="0">
                <a:solidFill>
                  <a:srgbClr val="5D6975"/>
                </a:solidFill>
              </a:rPr>
              <a:t>GET /traffic-router-status</a:t>
            </a:r>
          </a:p>
          <a:p xmlns:a="http://schemas.openxmlformats.org/drawingml/2006/main">
            <a:pPr algn="l">
              <a:defRPr sz="1125" b="0">
                <a:solidFill>
                  <a:srgbClr val="5D6975"/>
                </a:solidFill>
              </a:defRPr>
            </a:pPr>
            <a:r>
              <a:rPr sz="1125" b="0">
                <a:solidFill>
                  <a:srgbClr val="5D6975"/>
                </a:solidFill>
              </a:rPr>
              <a:t>GET /temporal-release-status</a:t>
            </a:r>
          </a:p>
        </p:txBody>
      </p:sp>
      <p:sp>
        <p:nvSpPr>
          <p:cNvPr id="14" name="">
            <a:extLst xmlns:a="http://schemas.openxmlformats.org/drawingml/2006/main">
              <a:ext uri="{FF2B5EF4-FFF2-40B4-BE49-F238E27FC236}">
                <a16:creationId xmlns:a16="http://schemas.microsoft.com/office/drawing/2014/main" id="{F7579B05-E425-43F6-AACA-9F9A8E77C1DA}"/>
              </a:ext>
            </a:extLst>
          </p:cNvPr>
          <p:cNvSpPr>
            <a:spLocks xmlns:a="http://schemas.openxmlformats.org/drawingml/2006/main" noGrp="1"/>
          </p:cNvSpPr>
          <p:nvPr/>
        </p:nvSpPr>
        <p:spPr>
          <a:xfrm xmlns:a="http://schemas.openxmlformats.org/drawingml/2006/main">
            <a:off x="5391150" y="2952750"/>
            <a:ext cx="152400" cy="152400"/>
          </a:xfrm>
          <a:prstGeom xmlns:a="http://schemas.openxmlformats.org/drawingml/2006/main" prst="roundRect">
            <a:avLst>
              <a:gd name="adj" fmla="val 50000"/>
            </a:avLst>
          </a:prstGeom>
          <a:solidFill xmlns:a="http://schemas.openxmlformats.org/drawingml/2006/main">
            <a:srgbClr val="FFF1E8"/>
          </a:solidFill>
          <a:ln xmlns:a="http://schemas.openxmlformats.org/drawingml/2006/main" w="9525">
            <a:solidFill>
              <a:srgbClr val="F0883E"/>
            </a:solidFill>
            <a:prstDash val="solid"/>
          </a:ln>
        </p:spPr>
      </p:sp>
      <p:sp>
        <p:nvSpPr>
          <p:cNvPr id="15" name="">
            <a:extLst xmlns:a="http://schemas.openxmlformats.org/drawingml/2006/main">
              <a:ext uri="{FF2B5EF4-FFF2-40B4-BE49-F238E27FC236}">
                <a16:creationId xmlns:a16="http://schemas.microsoft.com/office/drawing/2014/main" id="{DA413233-CEAC-46AC-8EAA-59DF1DCA614D}"/>
              </a:ext>
            </a:extLst>
          </p:cNvPr>
          <p:cNvSpPr>
            <a:spLocks xmlns:a="http://schemas.openxmlformats.org/drawingml/2006/main" noGrp="1"/>
          </p:cNvSpPr>
          <p:nvPr/>
        </p:nvSpPr>
        <p:spPr>
          <a:xfrm xmlns:a="http://schemas.openxmlformats.org/drawingml/2006/main">
            <a:off x="647700" y="4286250"/>
            <a:ext cx="5048250" cy="129540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D6DADF"/>
            </a:solidFill>
            <a:prstDash val="solid"/>
          </a:ln>
        </p:spPr>
      </p:sp>
      <p:sp>
        <p:nvSpPr>
          <p:cNvPr id="16" name="">
            <a:extLst xmlns:a="http://schemas.openxmlformats.org/drawingml/2006/main">
              <a:ext uri="{FF2B5EF4-FFF2-40B4-BE49-F238E27FC236}">
                <a16:creationId xmlns:a16="http://schemas.microsoft.com/office/drawing/2014/main" id="{66B4E033-3BDB-43D5-92EE-486DE4D4AD6F}"/>
              </a:ext>
            </a:extLst>
          </p:cNvPr>
          <p:cNvSpPr>
            <a:spLocks xmlns:a="http://schemas.openxmlformats.org/drawingml/2006/main" noGrp="1"/>
          </p:cNvSpPr>
          <p:nvPr/>
        </p:nvSpPr>
        <p:spPr>
          <a:xfrm xmlns:a="http://schemas.openxmlformats.org/drawingml/2006/main">
            <a:off x="647700" y="4286250"/>
            <a:ext cx="5048250" cy="76200"/>
          </a:xfrm>
          <a:prstGeom xmlns:a="http://schemas.openxmlformats.org/drawingml/2006/main" prst="roundRect">
            <a:avLst>
              <a:gd name="adj" fmla="val 50000"/>
            </a:avLst>
          </a:prstGeom>
          <a:solidFill xmlns:a="http://schemas.openxmlformats.org/drawingml/2006/main">
            <a:srgbClr val="7A4FD1"/>
          </a:solidFill>
          <a:ln xmlns:a="http://schemas.openxmlformats.org/drawingml/2006/main" w="0">
            <a:solidFill>
              <a:srgbClr val="7A4FD1"/>
            </a:solidFill>
            <a:prstDash val="solid"/>
          </a:ln>
        </p:spPr>
      </p:sp>
      <p:sp>
        <p:nvSpPr>
          <p:cNvPr id="17" name="">
            <a:extLst xmlns:a="http://schemas.openxmlformats.org/drawingml/2006/main">
              <a:ext uri="{FF2B5EF4-FFF2-40B4-BE49-F238E27FC236}">
                <a16:creationId xmlns:a16="http://schemas.microsoft.com/office/drawing/2014/main" id="{AFBBF6DC-EA87-487B-98DC-8EA9955E59F9}"/>
              </a:ext>
            </a:extLst>
          </p:cNvPr>
          <p:cNvSpPr>
            <a:spLocks xmlns:a="http://schemas.openxmlformats.org/drawingml/2006/main" noGrp="1"/>
          </p:cNvSpPr>
          <p:nvPr/>
        </p:nvSpPr>
        <p:spPr>
          <a:xfrm xmlns:a="http://schemas.openxmlformats.org/drawingml/2006/main">
            <a:off x="781050" y="4438650"/>
            <a:ext cx="4781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Operator endpoints</a:t>
            </a:r>
          </a:p>
        </p:txBody>
      </p:sp>
      <p:sp>
        <p:nvSpPr>
          <p:cNvPr id="18" name="">
            <a:extLst xmlns:a="http://schemas.openxmlformats.org/drawingml/2006/main">
              <a:ext uri="{FF2B5EF4-FFF2-40B4-BE49-F238E27FC236}">
                <a16:creationId xmlns:a16="http://schemas.microsoft.com/office/drawing/2014/main" id="{8F37D9D6-06CC-4F32-B4E5-76A5EC12EE07}"/>
              </a:ext>
            </a:extLst>
          </p:cNvPr>
          <p:cNvSpPr>
            <a:spLocks xmlns:a="http://schemas.openxmlformats.org/drawingml/2006/main" noGrp="1"/>
          </p:cNvSpPr>
          <p:nvPr/>
        </p:nvSpPr>
        <p:spPr>
          <a:xfrm xmlns:a="http://schemas.openxmlformats.org/drawingml/2006/main">
            <a:off x="781050" y="4743450"/>
            <a:ext cx="47815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GET /operator-console</a:t>
            </a:r>
          </a:p>
          <a:p xmlns:a="http://schemas.openxmlformats.org/drawingml/2006/main">
            <a:pPr algn="l">
              <a:defRPr sz="1125" b="0">
                <a:solidFill>
                  <a:srgbClr val="5D6975"/>
                </a:solidFill>
              </a:defRPr>
            </a:pPr>
            <a:r>
              <a:rPr sz="1125" b="0">
                <a:solidFill>
                  <a:srgbClr val="5D6975"/>
                </a:solidFill>
              </a:rPr>
              <a:t>GET /operator-console-data?use_llm=true|false</a:t>
            </a:r>
          </a:p>
          <a:p xmlns:a="http://schemas.openxmlformats.org/drawingml/2006/main">
            <a:pPr algn="l">
              <a:defRPr sz="1125" b="0">
                <a:solidFill>
                  <a:srgbClr val="5D6975"/>
                </a:solidFill>
              </a:defRPr>
            </a:pPr>
            <a:r>
              <a:rPr sz="1125" b="0">
                <a:solidFill>
                  <a:srgbClr val="5D6975"/>
                </a:solidFill>
              </a:rPr>
              <a:t>POST /operator-approval</a:t>
            </a:r>
          </a:p>
          <a:p xmlns:a="http://schemas.openxmlformats.org/drawingml/2006/main">
            <a:pPr algn="l">
              <a:defRPr sz="1125" b="0">
                <a:solidFill>
                  <a:srgbClr val="5D6975"/>
                </a:solidFill>
              </a:defRPr>
            </a:pPr>
            <a:r>
              <a:rPr sz="1125" b="0">
                <a:solidFill>
                  <a:srgbClr val="5D6975"/>
                </a:solidFill>
              </a:rPr>
              <a:t>POST /shadow-index-sync</a:t>
            </a:r>
          </a:p>
          <a:p xmlns:a="http://schemas.openxmlformats.org/drawingml/2006/main">
            <a:pPr algn="l">
              <a:defRPr sz="1125" b="0">
                <a:solidFill>
                  <a:srgbClr val="5D6975"/>
                </a:solidFill>
              </a:defRPr>
            </a:pPr>
            <a:r>
              <a:rPr sz="1125" b="0">
                <a:solidFill>
                  <a:srgbClr val="5D6975"/>
                </a:solidFill>
              </a:rPr>
              <a:t>POST /temporal-release-refresh</a:t>
            </a:r>
          </a:p>
          <a:p xmlns:a="http://schemas.openxmlformats.org/drawingml/2006/main">
            <a:pPr algn="l">
              <a:defRPr sz="1125" b="0">
                <a:solidFill>
                  <a:srgbClr val="5D6975"/>
                </a:solidFill>
              </a:defRPr>
            </a:pPr>
            <a:r>
              <a:rPr sz="1125" b="0">
                <a:solidFill>
                  <a:srgbClr val="5D6975"/>
                </a:solidFill>
              </a:rPr>
              <a:t>POST /temporal-release-phase</a:t>
            </a:r>
          </a:p>
          <a:p xmlns:a="http://schemas.openxmlformats.org/drawingml/2006/main">
            <a:pPr algn="l">
              <a:defRPr sz="1125" b="0">
                <a:solidFill>
                  <a:srgbClr val="5D6975"/>
                </a:solidFill>
              </a:defRPr>
            </a:pPr>
            <a:r>
              <a:rPr sz="1125" b="0">
                <a:solidFill>
                  <a:srgbClr val="5D6975"/>
                </a:solidFill>
              </a:rPr>
              <a:t>POST /temporal-release-rollback</a:t>
            </a:r>
          </a:p>
        </p:txBody>
      </p:sp>
      <p:sp>
        <p:nvSpPr>
          <p:cNvPr id="19" name="">
            <a:extLst xmlns:a="http://schemas.openxmlformats.org/drawingml/2006/main">
              <a:ext uri="{FF2B5EF4-FFF2-40B4-BE49-F238E27FC236}">
                <a16:creationId xmlns:a16="http://schemas.microsoft.com/office/drawing/2014/main" id="{5E918090-DF52-479E-B455-536CAC71FE05}"/>
              </a:ext>
            </a:extLst>
          </p:cNvPr>
          <p:cNvSpPr>
            <a:spLocks xmlns:a="http://schemas.openxmlformats.org/drawingml/2006/main" noGrp="1"/>
          </p:cNvSpPr>
          <p:nvPr/>
        </p:nvSpPr>
        <p:spPr>
          <a:xfrm xmlns:a="http://schemas.openxmlformats.org/drawingml/2006/main">
            <a:off x="5391150" y="4400550"/>
            <a:ext cx="152400" cy="152400"/>
          </a:xfrm>
          <a:prstGeom xmlns:a="http://schemas.openxmlformats.org/drawingml/2006/main" prst="roundRect">
            <a:avLst>
              <a:gd name="adj" fmla="val 50000"/>
            </a:avLst>
          </a:prstGeom>
          <a:solidFill xmlns:a="http://schemas.openxmlformats.org/drawingml/2006/main">
            <a:srgbClr val="F2EBFF"/>
          </a:solidFill>
          <a:ln xmlns:a="http://schemas.openxmlformats.org/drawingml/2006/main" w="9525">
            <a:solidFill>
              <a:srgbClr val="7A4FD1"/>
            </a:solidFill>
            <a:prstDash val="solid"/>
          </a:ln>
        </p:spPr>
      </p:sp>
      <p:sp>
        <p:nvSpPr>
          <p:cNvPr id="20" name="">
            <a:extLst xmlns:a="http://schemas.openxmlformats.org/drawingml/2006/main">
              <a:ext uri="{FF2B5EF4-FFF2-40B4-BE49-F238E27FC236}">
                <a16:creationId xmlns:a16="http://schemas.microsoft.com/office/drawing/2014/main" id="{904E7D54-FCF0-486A-85FC-E66B7B7588E8}"/>
              </a:ext>
            </a:extLst>
          </p:cNvPr>
          <p:cNvSpPr>
            <a:spLocks xmlns:a="http://schemas.openxmlformats.org/drawingml/2006/main" noGrp="1"/>
          </p:cNvSpPr>
          <p:nvPr/>
        </p:nvSpPr>
        <p:spPr>
          <a:xfrm xmlns:a="http://schemas.openxmlformats.org/drawingml/2006/main">
            <a:off x="6191250" y="1314450"/>
            <a:ext cx="2857500" cy="266700"/>
          </a:xfrm>
          <a:prstGeom xmlns:a="http://schemas.openxmlformats.org/drawingml/2006/main" prst="roundRect">
            <a:avLst>
              <a:gd name="adj" fmla="val 28571"/>
            </a:avLst>
          </a:prstGeom>
          <a:solidFill xmlns:a="http://schemas.openxmlformats.org/drawingml/2006/main">
            <a:srgbClr val="7A4FD1"/>
          </a:solidFill>
          <a:ln xmlns:a="http://schemas.openxmlformats.org/drawingml/2006/main" w="0">
            <a:solidFill>
              <a:srgbClr val="7A4FD1"/>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INTERNAL SERVICE CONNECTIONS</a:t>
            </a:r>
          </a:p>
        </p:txBody>
      </p:sp>
      <p:sp>
        <p:nvSpPr>
          <p:cNvPr id="21" name="">
            <a:extLst xmlns:a="http://schemas.openxmlformats.org/drawingml/2006/main">
              <a:ext uri="{FF2B5EF4-FFF2-40B4-BE49-F238E27FC236}">
                <a16:creationId xmlns:a16="http://schemas.microsoft.com/office/drawing/2014/main" id="{3C3E5EA4-006F-4453-93E1-6C20ECA5597C}"/>
              </a:ext>
            </a:extLst>
          </p:cNvPr>
          <p:cNvSpPr>
            <a:spLocks xmlns:a="http://schemas.openxmlformats.org/drawingml/2006/main" noGrp="1"/>
          </p:cNvSpPr>
          <p:nvPr/>
        </p:nvSpPr>
        <p:spPr>
          <a:xfrm xmlns:a="http://schemas.openxmlformats.org/drawingml/2006/main">
            <a:off x="6191250" y="1695450"/>
            <a:ext cx="24955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22" name="">
            <a:extLst xmlns:a="http://schemas.openxmlformats.org/drawingml/2006/main">
              <a:ext uri="{FF2B5EF4-FFF2-40B4-BE49-F238E27FC236}">
                <a16:creationId xmlns:a16="http://schemas.microsoft.com/office/drawing/2014/main" id="{D48F2D3E-B990-453C-9488-990D7F8B46D9}"/>
              </a:ext>
            </a:extLst>
          </p:cNvPr>
          <p:cNvSpPr>
            <a:spLocks xmlns:a="http://schemas.openxmlformats.org/drawingml/2006/main" noGrp="1"/>
          </p:cNvSpPr>
          <p:nvPr/>
        </p:nvSpPr>
        <p:spPr>
          <a:xfrm xmlns:a="http://schemas.openxmlformats.org/drawingml/2006/main">
            <a:off x="6191250" y="1695450"/>
            <a:ext cx="2495550" cy="76200"/>
          </a:xfrm>
          <a:prstGeom xmlns:a="http://schemas.openxmlformats.org/drawingml/2006/main" prst="roundRect">
            <a:avLst>
              <a:gd name="adj" fmla="val 50000"/>
            </a:avLst>
          </a:prstGeom>
          <a:solidFill xmlns:a="http://schemas.openxmlformats.org/drawingml/2006/main">
            <a:srgbClr val="22A06B"/>
          </a:solidFill>
          <a:ln xmlns:a="http://schemas.openxmlformats.org/drawingml/2006/main" w="0">
            <a:solidFill>
              <a:srgbClr val="22A06B"/>
            </a:solidFill>
            <a:prstDash val="solid"/>
          </a:ln>
        </p:spPr>
      </p:sp>
      <p:sp>
        <p:nvSpPr>
          <p:cNvPr id="23" name="">
            <a:extLst xmlns:a="http://schemas.openxmlformats.org/drawingml/2006/main">
              <a:ext uri="{FF2B5EF4-FFF2-40B4-BE49-F238E27FC236}">
                <a16:creationId xmlns:a16="http://schemas.microsoft.com/office/drawing/2014/main" id="{517F21A3-00FD-4E02-AACA-43546DB170A7}"/>
              </a:ext>
            </a:extLst>
          </p:cNvPr>
          <p:cNvSpPr>
            <a:spLocks xmlns:a="http://schemas.openxmlformats.org/drawingml/2006/main" noGrp="1"/>
          </p:cNvSpPr>
          <p:nvPr/>
        </p:nvSpPr>
        <p:spPr>
          <a:xfrm xmlns:a="http://schemas.openxmlformats.org/drawingml/2006/main">
            <a:off x="6324600" y="1847850"/>
            <a:ext cx="2228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FastAPI -&gt; Meilisearch</a:t>
            </a:r>
          </a:p>
        </p:txBody>
      </p:sp>
      <p:sp>
        <p:nvSpPr>
          <p:cNvPr id="24" name="">
            <a:extLst xmlns:a="http://schemas.openxmlformats.org/drawingml/2006/main">
              <a:ext uri="{FF2B5EF4-FFF2-40B4-BE49-F238E27FC236}">
                <a16:creationId xmlns:a16="http://schemas.microsoft.com/office/drawing/2014/main" id="{2D629014-E809-4E29-B3CE-3304629D1A9D}"/>
              </a:ext>
            </a:extLst>
          </p:cNvPr>
          <p:cNvSpPr>
            <a:spLocks xmlns:a="http://schemas.openxmlformats.org/drawingml/2006/main" noGrp="1"/>
          </p:cNvSpPr>
          <p:nvPr/>
        </p:nvSpPr>
        <p:spPr>
          <a:xfrm xmlns:a="http://schemas.openxmlformats.org/drawingml/2006/main">
            <a:off x="6324600" y="2152650"/>
            <a:ext cx="2228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POST http://meilisearch:7700/indexes/books/search</a:t>
            </a:r>
          </a:p>
          <a:p xmlns:a="http://schemas.openxmlformats.org/drawingml/2006/main">
            <a:pPr algn="l">
              <a:defRPr sz="1125" b="0">
                <a:solidFill>
                  <a:srgbClr val="5D6975"/>
                </a:solidFill>
              </a:defRPr>
            </a:pPr>
            <a:r>
              <a:rPr sz="1125" b="0">
                <a:solidFill>
                  <a:srgbClr val="5D6975"/>
                </a:solidFill>
              </a:rPr>
              <a:t>POST http://meilisearch:7700/indexes/books_shadow/search</a:t>
            </a:r>
          </a:p>
        </p:txBody>
      </p:sp>
      <p:sp>
        <p:nvSpPr>
          <p:cNvPr id="25" name="">
            <a:extLst xmlns:a="http://schemas.openxmlformats.org/drawingml/2006/main">
              <a:ext uri="{FF2B5EF4-FFF2-40B4-BE49-F238E27FC236}">
                <a16:creationId xmlns:a16="http://schemas.microsoft.com/office/drawing/2014/main" id="{F93F415C-5AAC-47C1-B2D5-0F520C707373}"/>
              </a:ext>
            </a:extLst>
          </p:cNvPr>
          <p:cNvSpPr>
            <a:spLocks xmlns:a="http://schemas.openxmlformats.org/drawingml/2006/main" noGrp="1"/>
          </p:cNvSpPr>
          <p:nvPr/>
        </p:nvSpPr>
        <p:spPr>
          <a:xfrm xmlns:a="http://schemas.openxmlformats.org/drawingml/2006/main">
            <a:off x="8382000" y="1809750"/>
            <a:ext cx="152400" cy="152400"/>
          </a:xfrm>
          <a:prstGeom xmlns:a="http://schemas.openxmlformats.org/drawingml/2006/main" prst="roundRect">
            <a:avLst>
              <a:gd name="adj" fmla="val 50000"/>
            </a:avLst>
          </a:prstGeom>
          <a:solidFill xmlns:a="http://schemas.openxmlformats.org/drawingml/2006/main">
            <a:srgbClr val="EAF8F1"/>
          </a:solidFill>
          <a:ln xmlns:a="http://schemas.openxmlformats.org/drawingml/2006/main" w="9525">
            <a:solidFill>
              <a:srgbClr val="22A06B"/>
            </a:solidFill>
            <a:prstDash val="solid"/>
          </a:ln>
        </p:spPr>
      </p:sp>
      <p:sp>
        <p:nvSpPr>
          <p:cNvPr id="26" name="">
            <a:extLst xmlns:a="http://schemas.openxmlformats.org/drawingml/2006/main">
              <a:ext uri="{FF2B5EF4-FFF2-40B4-BE49-F238E27FC236}">
                <a16:creationId xmlns:a16="http://schemas.microsoft.com/office/drawing/2014/main" id="{1CF02145-4044-4680-A895-74A72ED573A9}"/>
              </a:ext>
            </a:extLst>
          </p:cNvPr>
          <p:cNvSpPr>
            <a:spLocks xmlns:a="http://schemas.openxmlformats.org/drawingml/2006/main" noGrp="1"/>
          </p:cNvSpPr>
          <p:nvPr/>
        </p:nvSpPr>
        <p:spPr>
          <a:xfrm xmlns:a="http://schemas.openxmlformats.org/drawingml/2006/main">
            <a:off x="8858250" y="1695450"/>
            <a:ext cx="26860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27" name="">
            <a:extLst xmlns:a="http://schemas.openxmlformats.org/drawingml/2006/main">
              <a:ext uri="{FF2B5EF4-FFF2-40B4-BE49-F238E27FC236}">
                <a16:creationId xmlns:a16="http://schemas.microsoft.com/office/drawing/2014/main" id="{B9ED3810-3FDA-4ED5-A0E1-A0592F1BF757}"/>
              </a:ext>
            </a:extLst>
          </p:cNvPr>
          <p:cNvSpPr>
            <a:spLocks xmlns:a="http://schemas.openxmlformats.org/drawingml/2006/main" noGrp="1"/>
          </p:cNvSpPr>
          <p:nvPr/>
        </p:nvSpPr>
        <p:spPr>
          <a:xfrm xmlns:a="http://schemas.openxmlformats.org/drawingml/2006/main">
            <a:off x="8858250" y="1695450"/>
            <a:ext cx="268605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28" name="">
            <a:extLst xmlns:a="http://schemas.openxmlformats.org/drawingml/2006/main">
              <a:ext uri="{FF2B5EF4-FFF2-40B4-BE49-F238E27FC236}">
                <a16:creationId xmlns:a16="http://schemas.microsoft.com/office/drawing/2014/main" id="{5236F32A-6CC6-44DB-835A-18A5389DFE11}"/>
              </a:ext>
            </a:extLst>
          </p:cNvPr>
          <p:cNvSpPr>
            <a:spLocks xmlns:a="http://schemas.openxmlformats.org/drawingml/2006/main" noGrp="1"/>
          </p:cNvSpPr>
          <p:nvPr/>
        </p:nvSpPr>
        <p:spPr>
          <a:xfrm xmlns:a="http://schemas.openxmlformats.org/drawingml/2006/main">
            <a:off x="8991600" y="1847850"/>
            <a:ext cx="2419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FastAPI -&gt; Prometheus</a:t>
            </a:r>
          </a:p>
        </p:txBody>
      </p:sp>
      <p:sp>
        <p:nvSpPr>
          <p:cNvPr id="29" name="">
            <a:extLst xmlns:a="http://schemas.openxmlformats.org/drawingml/2006/main">
              <a:ext uri="{FF2B5EF4-FFF2-40B4-BE49-F238E27FC236}">
                <a16:creationId xmlns:a16="http://schemas.microsoft.com/office/drawing/2014/main" id="{25BFCE20-C32B-41FB-9A10-F9686392AC05}"/>
              </a:ext>
            </a:extLst>
          </p:cNvPr>
          <p:cNvSpPr>
            <a:spLocks xmlns:a="http://schemas.openxmlformats.org/drawingml/2006/main" noGrp="1"/>
          </p:cNvSpPr>
          <p:nvPr/>
        </p:nvSpPr>
        <p:spPr>
          <a:xfrm xmlns:a="http://schemas.openxmlformats.org/drawingml/2006/main">
            <a:off x="8991600" y="2152650"/>
            <a:ext cx="2419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GET http://prometheus:9090/api/v1/query</a:t>
            </a:r>
          </a:p>
          <a:p xmlns:a="http://schemas.openxmlformats.org/drawingml/2006/main">
            <a:pPr algn="l">
              <a:defRPr sz="1125" b="0">
                <a:solidFill>
                  <a:srgbClr val="5D6975"/>
                </a:solidFill>
              </a:defRPr>
            </a:pPr>
            <a:r>
              <a:rPr sz="1125" b="0">
                <a:solidFill>
                  <a:srgbClr val="5D6975"/>
                </a:solidFill>
              </a:rPr>
              <a:t>for request rate and latency guardrails</a:t>
            </a:r>
          </a:p>
        </p:txBody>
      </p:sp>
      <p:sp>
        <p:nvSpPr>
          <p:cNvPr id="30" name="">
            <a:extLst xmlns:a="http://schemas.openxmlformats.org/drawingml/2006/main">
              <a:ext uri="{FF2B5EF4-FFF2-40B4-BE49-F238E27FC236}">
                <a16:creationId xmlns:a16="http://schemas.microsoft.com/office/drawing/2014/main" id="{6F514C8D-AC35-4E9B-ACB7-8710619F6068}"/>
              </a:ext>
            </a:extLst>
          </p:cNvPr>
          <p:cNvSpPr>
            <a:spLocks xmlns:a="http://schemas.openxmlformats.org/drawingml/2006/main" noGrp="1"/>
          </p:cNvSpPr>
          <p:nvPr/>
        </p:nvSpPr>
        <p:spPr>
          <a:xfrm xmlns:a="http://schemas.openxmlformats.org/drawingml/2006/main">
            <a:off x="11239500" y="180975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31" name="">
            <a:extLst xmlns:a="http://schemas.openxmlformats.org/drawingml/2006/main">
              <a:ext uri="{FF2B5EF4-FFF2-40B4-BE49-F238E27FC236}">
                <a16:creationId xmlns:a16="http://schemas.microsoft.com/office/drawing/2014/main" id="{23812978-F3C8-429D-BBAF-4EF54F66C1AB}"/>
              </a:ext>
            </a:extLst>
          </p:cNvPr>
          <p:cNvSpPr>
            <a:spLocks xmlns:a="http://schemas.openxmlformats.org/drawingml/2006/main" noGrp="1"/>
          </p:cNvSpPr>
          <p:nvPr/>
        </p:nvSpPr>
        <p:spPr>
          <a:xfrm xmlns:a="http://schemas.openxmlformats.org/drawingml/2006/main">
            <a:off x="6191250" y="2724150"/>
            <a:ext cx="24955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32" name="">
            <a:extLst xmlns:a="http://schemas.openxmlformats.org/drawingml/2006/main">
              <a:ext uri="{FF2B5EF4-FFF2-40B4-BE49-F238E27FC236}">
                <a16:creationId xmlns:a16="http://schemas.microsoft.com/office/drawing/2014/main" id="{0E1019A3-F4A0-4C3A-9F77-6CE7930FA731}"/>
              </a:ext>
            </a:extLst>
          </p:cNvPr>
          <p:cNvSpPr>
            <a:spLocks xmlns:a="http://schemas.openxmlformats.org/drawingml/2006/main" noGrp="1"/>
          </p:cNvSpPr>
          <p:nvPr/>
        </p:nvSpPr>
        <p:spPr>
          <a:xfrm xmlns:a="http://schemas.openxmlformats.org/drawingml/2006/main">
            <a:off x="6191250" y="2724150"/>
            <a:ext cx="2495550" cy="76200"/>
          </a:xfrm>
          <a:prstGeom xmlns:a="http://schemas.openxmlformats.org/drawingml/2006/main" prst="roundRect">
            <a:avLst>
              <a:gd name="adj" fmla="val 50000"/>
            </a:avLst>
          </a:prstGeom>
          <a:solidFill xmlns:a="http://schemas.openxmlformats.org/drawingml/2006/main">
            <a:srgbClr val="7A4FD1"/>
          </a:solidFill>
          <a:ln xmlns:a="http://schemas.openxmlformats.org/drawingml/2006/main" w="0">
            <a:solidFill>
              <a:srgbClr val="7A4FD1"/>
            </a:solidFill>
            <a:prstDash val="solid"/>
          </a:ln>
        </p:spPr>
      </p:sp>
      <p:sp>
        <p:nvSpPr>
          <p:cNvPr id="33" name="">
            <a:extLst xmlns:a="http://schemas.openxmlformats.org/drawingml/2006/main">
              <a:ext uri="{FF2B5EF4-FFF2-40B4-BE49-F238E27FC236}">
                <a16:creationId xmlns:a16="http://schemas.microsoft.com/office/drawing/2014/main" id="{4DFC048C-EC0A-4DFE-A4FC-95F86D73AF51}"/>
              </a:ext>
            </a:extLst>
          </p:cNvPr>
          <p:cNvSpPr>
            <a:spLocks xmlns:a="http://schemas.openxmlformats.org/drawingml/2006/main" noGrp="1"/>
          </p:cNvSpPr>
          <p:nvPr/>
        </p:nvSpPr>
        <p:spPr>
          <a:xfrm xmlns:a="http://schemas.openxmlformats.org/drawingml/2006/main">
            <a:off x="6324600" y="2876550"/>
            <a:ext cx="2228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FastAPI -&gt; Temporal</a:t>
            </a:r>
          </a:p>
        </p:txBody>
      </p:sp>
      <p:sp>
        <p:nvSpPr>
          <p:cNvPr id="34" name="">
            <a:extLst xmlns:a="http://schemas.openxmlformats.org/drawingml/2006/main">
              <a:ext uri="{FF2B5EF4-FFF2-40B4-BE49-F238E27FC236}">
                <a16:creationId xmlns:a16="http://schemas.microsoft.com/office/drawing/2014/main" id="{8436DAB6-115C-4089-93E1-1A0E56BAE9A7}"/>
              </a:ext>
            </a:extLst>
          </p:cNvPr>
          <p:cNvSpPr>
            <a:spLocks xmlns:a="http://schemas.openxmlformats.org/drawingml/2006/main" noGrp="1"/>
          </p:cNvSpPr>
          <p:nvPr/>
        </p:nvSpPr>
        <p:spPr>
          <a:xfrm xmlns:a="http://schemas.openxmlformats.org/drawingml/2006/main">
            <a:off x="6324600" y="3181350"/>
            <a:ext cx="2228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gRPC temporal:7233</a:t>
            </a:r>
          </a:p>
          <a:p xmlns:a="http://schemas.openxmlformats.org/drawingml/2006/main">
            <a:pPr algn="l">
              <a:defRPr sz="1125" b="0">
                <a:solidFill>
                  <a:srgbClr val="5D6975"/>
                </a:solidFill>
              </a:defRPr>
            </a:pPr>
            <a:r>
              <a:rPr sz="1125" b="0">
                <a:solidFill>
                  <a:srgbClr val="5D6975"/>
                </a:solidFill>
              </a:rPr>
              <a:t>workflow start, query, signal, rollback</a:t>
            </a:r>
          </a:p>
        </p:txBody>
      </p:sp>
      <p:sp>
        <p:nvSpPr>
          <p:cNvPr id="35" name="">
            <a:extLst xmlns:a="http://schemas.openxmlformats.org/drawingml/2006/main">
              <a:ext uri="{FF2B5EF4-FFF2-40B4-BE49-F238E27FC236}">
                <a16:creationId xmlns:a16="http://schemas.microsoft.com/office/drawing/2014/main" id="{DF58EBF4-44F8-4AB8-8C26-4BFD22CE1041}"/>
              </a:ext>
            </a:extLst>
          </p:cNvPr>
          <p:cNvSpPr>
            <a:spLocks xmlns:a="http://schemas.openxmlformats.org/drawingml/2006/main" noGrp="1"/>
          </p:cNvSpPr>
          <p:nvPr/>
        </p:nvSpPr>
        <p:spPr>
          <a:xfrm xmlns:a="http://schemas.openxmlformats.org/drawingml/2006/main">
            <a:off x="8382000" y="2838450"/>
            <a:ext cx="152400" cy="152400"/>
          </a:xfrm>
          <a:prstGeom xmlns:a="http://schemas.openxmlformats.org/drawingml/2006/main" prst="roundRect">
            <a:avLst>
              <a:gd name="adj" fmla="val 50000"/>
            </a:avLst>
          </a:prstGeom>
          <a:solidFill xmlns:a="http://schemas.openxmlformats.org/drawingml/2006/main">
            <a:srgbClr val="F2EBFF"/>
          </a:solidFill>
          <a:ln xmlns:a="http://schemas.openxmlformats.org/drawingml/2006/main" w="9525">
            <a:solidFill>
              <a:srgbClr val="7A4FD1"/>
            </a:solidFill>
            <a:prstDash val="solid"/>
          </a:ln>
        </p:spPr>
      </p:sp>
      <p:sp>
        <p:nvSpPr>
          <p:cNvPr id="36" name="">
            <a:extLst xmlns:a="http://schemas.openxmlformats.org/drawingml/2006/main">
              <a:ext uri="{FF2B5EF4-FFF2-40B4-BE49-F238E27FC236}">
                <a16:creationId xmlns:a16="http://schemas.microsoft.com/office/drawing/2014/main" id="{DD8DDC45-4757-4292-ADFB-CFF073A21696}"/>
              </a:ext>
            </a:extLst>
          </p:cNvPr>
          <p:cNvSpPr>
            <a:spLocks xmlns:a="http://schemas.openxmlformats.org/drawingml/2006/main" noGrp="1"/>
          </p:cNvSpPr>
          <p:nvPr/>
        </p:nvSpPr>
        <p:spPr>
          <a:xfrm xmlns:a="http://schemas.openxmlformats.org/drawingml/2006/main">
            <a:off x="8858250" y="2724150"/>
            <a:ext cx="26860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37" name="">
            <a:extLst xmlns:a="http://schemas.openxmlformats.org/drawingml/2006/main">
              <a:ext uri="{FF2B5EF4-FFF2-40B4-BE49-F238E27FC236}">
                <a16:creationId xmlns:a16="http://schemas.microsoft.com/office/drawing/2014/main" id="{E85C71A2-55F6-411E-87AA-72117A64CB44}"/>
              </a:ext>
            </a:extLst>
          </p:cNvPr>
          <p:cNvSpPr>
            <a:spLocks xmlns:a="http://schemas.openxmlformats.org/drawingml/2006/main" noGrp="1"/>
          </p:cNvSpPr>
          <p:nvPr/>
        </p:nvSpPr>
        <p:spPr>
          <a:xfrm xmlns:a="http://schemas.openxmlformats.org/drawingml/2006/main">
            <a:off x="8858250" y="2724150"/>
            <a:ext cx="2686050" cy="76200"/>
          </a:xfrm>
          <a:prstGeom xmlns:a="http://schemas.openxmlformats.org/drawingml/2006/main" prst="roundRect">
            <a:avLst>
              <a:gd name="adj" fmla="val 50000"/>
            </a:avLst>
          </a:prstGeom>
          <a:solidFill xmlns:a="http://schemas.openxmlformats.org/drawingml/2006/main">
            <a:srgbClr val="4B5EAA"/>
          </a:solidFill>
          <a:ln xmlns:a="http://schemas.openxmlformats.org/drawingml/2006/main" w="0">
            <a:solidFill>
              <a:srgbClr val="4B5EAA"/>
            </a:solidFill>
            <a:prstDash val="solid"/>
          </a:ln>
        </p:spPr>
      </p:sp>
      <p:sp>
        <p:nvSpPr>
          <p:cNvPr id="38" name="">
            <a:extLst xmlns:a="http://schemas.openxmlformats.org/drawingml/2006/main">
              <a:ext uri="{FF2B5EF4-FFF2-40B4-BE49-F238E27FC236}">
                <a16:creationId xmlns:a16="http://schemas.microsoft.com/office/drawing/2014/main" id="{D0422D3E-F0CD-4159-8194-02E183192063}"/>
              </a:ext>
            </a:extLst>
          </p:cNvPr>
          <p:cNvSpPr>
            <a:spLocks xmlns:a="http://schemas.openxmlformats.org/drawingml/2006/main" noGrp="1"/>
          </p:cNvSpPr>
          <p:nvPr/>
        </p:nvSpPr>
        <p:spPr>
          <a:xfrm xmlns:a="http://schemas.openxmlformats.org/drawingml/2006/main">
            <a:off x="8991600" y="2876550"/>
            <a:ext cx="2419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FastAPI -&gt; PostgreSQL</a:t>
            </a:r>
          </a:p>
        </p:txBody>
      </p:sp>
      <p:sp>
        <p:nvSpPr>
          <p:cNvPr id="39" name="">
            <a:extLst xmlns:a="http://schemas.openxmlformats.org/drawingml/2006/main">
              <a:ext uri="{FF2B5EF4-FFF2-40B4-BE49-F238E27FC236}">
                <a16:creationId xmlns:a16="http://schemas.microsoft.com/office/drawing/2014/main" id="{B9923A88-9828-4954-85F6-4CEA8D589052}"/>
              </a:ext>
            </a:extLst>
          </p:cNvPr>
          <p:cNvSpPr>
            <a:spLocks xmlns:a="http://schemas.openxmlformats.org/drawingml/2006/main" noGrp="1"/>
          </p:cNvSpPr>
          <p:nvPr/>
        </p:nvSpPr>
        <p:spPr>
          <a:xfrm xmlns:a="http://schemas.openxmlformats.org/drawingml/2006/main">
            <a:off x="8991600" y="3181350"/>
            <a:ext cx="2419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SQLAlchemy TCP postgres:5432</a:t>
            </a:r>
          </a:p>
          <a:p xmlns:a="http://schemas.openxmlformats.org/drawingml/2006/main">
            <a:pPr algn="l">
              <a:defRPr sz="1125" b="0">
                <a:solidFill>
                  <a:srgbClr val="5D6975"/>
                </a:solidFill>
              </a:defRPr>
            </a:pPr>
            <a:r>
              <a:rPr sz="1125" b="0">
                <a:solidFill>
                  <a:srgbClr val="5D6975"/>
                </a:solidFill>
              </a:rPr>
              <a:t>approval log + release audit log</a:t>
            </a:r>
          </a:p>
        </p:txBody>
      </p:sp>
      <p:sp>
        <p:nvSpPr>
          <p:cNvPr id="40" name="">
            <a:extLst xmlns:a="http://schemas.openxmlformats.org/drawingml/2006/main">
              <a:ext uri="{FF2B5EF4-FFF2-40B4-BE49-F238E27FC236}">
                <a16:creationId xmlns:a16="http://schemas.microsoft.com/office/drawing/2014/main" id="{B93A4CD1-A561-461B-8B18-1D412D96AE2A}"/>
              </a:ext>
            </a:extLst>
          </p:cNvPr>
          <p:cNvSpPr>
            <a:spLocks xmlns:a="http://schemas.openxmlformats.org/drawingml/2006/main" noGrp="1"/>
          </p:cNvSpPr>
          <p:nvPr/>
        </p:nvSpPr>
        <p:spPr>
          <a:xfrm xmlns:a="http://schemas.openxmlformats.org/drawingml/2006/main">
            <a:off x="11239500" y="2838450"/>
            <a:ext cx="152400" cy="152400"/>
          </a:xfrm>
          <a:prstGeom xmlns:a="http://schemas.openxmlformats.org/drawingml/2006/main" prst="roundRect">
            <a:avLst>
              <a:gd name="adj" fmla="val 50000"/>
            </a:avLst>
          </a:prstGeom>
          <a:solidFill xmlns:a="http://schemas.openxmlformats.org/drawingml/2006/main">
            <a:srgbClr val="EEF1FF"/>
          </a:solidFill>
          <a:ln xmlns:a="http://schemas.openxmlformats.org/drawingml/2006/main" w="9525">
            <a:solidFill>
              <a:srgbClr val="4B5EAA"/>
            </a:solidFill>
            <a:prstDash val="solid"/>
          </a:ln>
        </p:spPr>
      </p:sp>
      <p:sp>
        <p:nvSpPr>
          <p:cNvPr id="41" name="">
            <a:extLst xmlns:a="http://schemas.openxmlformats.org/drawingml/2006/main">
              <a:ext uri="{FF2B5EF4-FFF2-40B4-BE49-F238E27FC236}">
                <a16:creationId xmlns:a16="http://schemas.microsoft.com/office/drawing/2014/main" id="{2A26C578-EF1F-4724-B674-A90FE824C40B}"/>
              </a:ext>
            </a:extLst>
          </p:cNvPr>
          <p:cNvSpPr>
            <a:spLocks xmlns:a="http://schemas.openxmlformats.org/drawingml/2006/main" noGrp="1"/>
          </p:cNvSpPr>
          <p:nvPr/>
        </p:nvSpPr>
        <p:spPr>
          <a:xfrm xmlns:a="http://schemas.openxmlformats.org/drawingml/2006/main">
            <a:off x="6191250" y="3752850"/>
            <a:ext cx="24955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42" name="">
            <a:extLst xmlns:a="http://schemas.openxmlformats.org/drawingml/2006/main">
              <a:ext uri="{FF2B5EF4-FFF2-40B4-BE49-F238E27FC236}">
                <a16:creationId xmlns:a16="http://schemas.microsoft.com/office/drawing/2014/main" id="{0EA8E951-9792-4F4F-A7E2-5F8D0122A35B}"/>
              </a:ext>
            </a:extLst>
          </p:cNvPr>
          <p:cNvSpPr>
            <a:spLocks xmlns:a="http://schemas.openxmlformats.org/drawingml/2006/main" noGrp="1"/>
          </p:cNvSpPr>
          <p:nvPr/>
        </p:nvSpPr>
        <p:spPr>
          <a:xfrm xmlns:a="http://schemas.openxmlformats.org/drawingml/2006/main">
            <a:off x="6191250" y="3752850"/>
            <a:ext cx="249555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43" name="">
            <a:extLst xmlns:a="http://schemas.openxmlformats.org/drawingml/2006/main">
              <a:ext uri="{FF2B5EF4-FFF2-40B4-BE49-F238E27FC236}">
                <a16:creationId xmlns:a16="http://schemas.microsoft.com/office/drawing/2014/main" id="{4851FD03-755C-4C99-BC81-5C1E3605B529}"/>
              </a:ext>
            </a:extLst>
          </p:cNvPr>
          <p:cNvSpPr>
            <a:spLocks xmlns:a="http://schemas.openxmlformats.org/drawingml/2006/main" noGrp="1"/>
          </p:cNvSpPr>
          <p:nvPr/>
        </p:nvSpPr>
        <p:spPr>
          <a:xfrm xmlns:a="http://schemas.openxmlformats.org/drawingml/2006/main">
            <a:off x="6324600" y="3905250"/>
            <a:ext cx="2228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FastAPI -&gt; Jaeger</a:t>
            </a:r>
          </a:p>
        </p:txBody>
      </p:sp>
      <p:sp>
        <p:nvSpPr>
          <p:cNvPr id="44" name="">
            <a:extLst xmlns:a="http://schemas.openxmlformats.org/drawingml/2006/main">
              <a:ext uri="{FF2B5EF4-FFF2-40B4-BE49-F238E27FC236}">
                <a16:creationId xmlns:a16="http://schemas.microsoft.com/office/drawing/2014/main" id="{BB936F26-D725-4629-9F2E-17C7D81A9D7D}"/>
              </a:ext>
            </a:extLst>
          </p:cNvPr>
          <p:cNvSpPr>
            <a:spLocks xmlns:a="http://schemas.openxmlformats.org/drawingml/2006/main" noGrp="1"/>
          </p:cNvSpPr>
          <p:nvPr/>
        </p:nvSpPr>
        <p:spPr>
          <a:xfrm xmlns:a="http://schemas.openxmlformats.org/drawingml/2006/main">
            <a:off x="6324600" y="4210050"/>
            <a:ext cx="2228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OTLP HTTP http://jaeger:4318/v1/traces</a:t>
            </a:r>
          </a:p>
          <a:p xmlns:a="http://schemas.openxmlformats.org/drawingml/2006/main">
            <a:pPr algn="l">
              <a:defRPr sz="1125" b="0">
                <a:solidFill>
                  <a:srgbClr val="5D6975"/>
                </a:solidFill>
              </a:defRPr>
            </a:pPr>
            <a:r>
              <a:rPr sz="1125" b="0">
                <a:solidFill>
                  <a:srgbClr val="5D6975"/>
                </a:solidFill>
              </a:rPr>
              <a:t>trace export only</a:t>
            </a:r>
          </a:p>
        </p:txBody>
      </p:sp>
      <p:sp>
        <p:nvSpPr>
          <p:cNvPr id="45" name="">
            <a:extLst xmlns:a="http://schemas.openxmlformats.org/drawingml/2006/main">
              <a:ext uri="{FF2B5EF4-FFF2-40B4-BE49-F238E27FC236}">
                <a16:creationId xmlns:a16="http://schemas.microsoft.com/office/drawing/2014/main" id="{DB6BB185-43E2-47EF-99B1-220EA302B5FB}"/>
              </a:ext>
            </a:extLst>
          </p:cNvPr>
          <p:cNvSpPr>
            <a:spLocks xmlns:a="http://schemas.openxmlformats.org/drawingml/2006/main" noGrp="1"/>
          </p:cNvSpPr>
          <p:nvPr/>
        </p:nvSpPr>
        <p:spPr>
          <a:xfrm xmlns:a="http://schemas.openxmlformats.org/drawingml/2006/main">
            <a:off x="8382000" y="386715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46" name="">
            <a:extLst xmlns:a="http://schemas.openxmlformats.org/drawingml/2006/main">
              <a:ext uri="{FF2B5EF4-FFF2-40B4-BE49-F238E27FC236}">
                <a16:creationId xmlns:a16="http://schemas.microsoft.com/office/drawing/2014/main" id="{9986AC8B-1B75-41F7-9A31-4143847B6A01}"/>
              </a:ext>
            </a:extLst>
          </p:cNvPr>
          <p:cNvSpPr>
            <a:spLocks xmlns:a="http://schemas.openxmlformats.org/drawingml/2006/main" noGrp="1"/>
          </p:cNvSpPr>
          <p:nvPr/>
        </p:nvSpPr>
        <p:spPr>
          <a:xfrm xmlns:a="http://schemas.openxmlformats.org/drawingml/2006/main">
            <a:off x="8858250" y="3752850"/>
            <a:ext cx="26860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47" name="">
            <a:extLst xmlns:a="http://schemas.openxmlformats.org/drawingml/2006/main">
              <a:ext uri="{FF2B5EF4-FFF2-40B4-BE49-F238E27FC236}">
                <a16:creationId xmlns:a16="http://schemas.microsoft.com/office/drawing/2014/main" id="{5296DD8D-0EFC-49CC-958B-DE8F8CDB2701}"/>
              </a:ext>
            </a:extLst>
          </p:cNvPr>
          <p:cNvSpPr>
            <a:spLocks xmlns:a="http://schemas.openxmlformats.org/drawingml/2006/main" noGrp="1"/>
          </p:cNvSpPr>
          <p:nvPr/>
        </p:nvSpPr>
        <p:spPr>
          <a:xfrm xmlns:a="http://schemas.openxmlformats.org/drawingml/2006/main">
            <a:off x="8858250" y="3752850"/>
            <a:ext cx="2686050" cy="76200"/>
          </a:xfrm>
          <a:prstGeom xmlns:a="http://schemas.openxmlformats.org/drawingml/2006/main" prst="roundRect">
            <a:avLst>
              <a:gd name="adj" fmla="val 50000"/>
            </a:avLst>
          </a:prstGeom>
          <a:solidFill xmlns:a="http://schemas.openxmlformats.org/drawingml/2006/main">
            <a:srgbClr val="F0883E"/>
          </a:solidFill>
          <a:ln xmlns:a="http://schemas.openxmlformats.org/drawingml/2006/main" w="0">
            <a:solidFill>
              <a:srgbClr val="F0883E"/>
            </a:solidFill>
            <a:prstDash val="solid"/>
          </a:ln>
        </p:spPr>
      </p:sp>
      <p:sp>
        <p:nvSpPr>
          <p:cNvPr id="48" name="">
            <a:extLst xmlns:a="http://schemas.openxmlformats.org/drawingml/2006/main">
              <a:ext uri="{FF2B5EF4-FFF2-40B4-BE49-F238E27FC236}">
                <a16:creationId xmlns:a16="http://schemas.microsoft.com/office/drawing/2014/main" id="{2F2CAFD5-71EF-4487-97BE-EE55D3EC9701}"/>
              </a:ext>
            </a:extLst>
          </p:cNvPr>
          <p:cNvSpPr>
            <a:spLocks xmlns:a="http://schemas.openxmlformats.org/drawingml/2006/main" noGrp="1"/>
          </p:cNvSpPr>
          <p:nvPr/>
        </p:nvSpPr>
        <p:spPr>
          <a:xfrm xmlns:a="http://schemas.openxmlformats.org/drawingml/2006/main">
            <a:off x="8991600" y="3905250"/>
            <a:ext cx="2419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FastAPI -&gt; Kafka</a:t>
            </a:r>
          </a:p>
        </p:txBody>
      </p:sp>
      <p:sp>
        <p:nvSpPr>
          <p:cNvPr id="49" name="">
            <a:extLst xmlns:a="http://schemas.openxmlformats.org/drawingml/2006/main">
              <a:ext uri="{FF2B5EF4-FFF2-40B4-BE49-F238E27FC236}">
                <a16:creationId xmlns:a16="http://schemas.microsoft.com/office/drawing/2014/main" id="{DE0850E6-6361-4990-B107-8F0F604500C4}"/>
              </a:ext>
            </a:extLst>
          </p:cNvPr>
          <p:cNvSpPr>
            <a:spLocks xmlns:a="http://schemas.openxmlformats.org/drawingml/2006/main" noGrp="1"/>
          </p:cNvSpPr>
          <p:nvPr/>
        </p:nvSpPr>
        <p:spPr>
          <a:xfrm xmlns:a="http://schemas.openxmlformats.org/drawingml/2006/main">
            <a:off x="8991600" y="4210050"/>
            <a:ext cx="24193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Bootstrap kafka:29092</a:t>
            </a:r>
          </a:p>
          <a:p xmlns:a="http://schemas.openxmlformats.org/drawingml/2006/main">
            <a:pPr algn="l">
              <a:defRPr sz="1125" b="0">
                <a:solidFill>
                  <a:srgbClr val="5D6975"/>
                </a:solidFill>
              </a:defRPr>
            </a:pPr>
            <a:r>
              <a:rPr sz="1125" b="0">
                <a:solidFill>
                  <a:srgbClr val="5D6975"/>
                </a:solidFill>
              </a:rPr>
              <a:t>optional signal/event publication</a:t>
            </a:r>
          </a:p>
        </p:txBody>
      </p:sp>
      <p:sp>
        <p:nvSpPr>
          <p:cNvPr id="50" name="">
            <a:extLst xmlns:a="http://schemas.openxmlformats.org/drawingml/2006/main">
              <a:ext uri="{FF2B5EF4-FFF2-40B4-BE49-F238E27FC236}">
                <a16:creationId xmlns:a16="http://schemas.microsoft.com/office/drawing/2014/main" id="{08D03CD8-D293-4107-A65C-61703B2D9FEA}"/>
              </a:ext>
            </a:extLst>
          </p:cNvPr>
          <p:cNvSpPr>
            <a:spLocks xmlns:a="http://schemas.openxmlformats.org/drawingml/2006/main" noGrp="1"/>
          </p:cNvSpPr>
          <p:nvPr/>
        </p:nvSpPr>
        <p:spPr>
          <a:xfrm xmlns:a="http://schemas.openxmlformats.org/drawingml/2006/main">
            <a:off x="11239500" y="3867150"/>
            <a:ext cx="152400" cy="152400"/>
          </a:xfrm>
          <a:prstGeom xmlns:a="http://schemas.openxmlformats.org/drawingml/2006/main" prst="roundRect">
            <a:avLst>
              <a:gd name="adj" fmla="val 50000"/>
            </a:avLst>
          </a:prstGeom>
          <a:solidFill xmlns:a="http://schemas.openxmlformats.org/drawingml/2006/main">
            <a:srgbClr val="FFF1E8"/>
          </a:solidFill>
          <a:ln xmlns:a="http://schemas.openxmlformats.org/drawingml/2006/main" w="9525">
            <a:solidFill>
              <a:srgbClr val="F0883E"/>
            </a:solidFill>
            <a:prstDash val="solid"/>
          </a:ln>
        </p:spPr>
      </p:sp>
      <p:sp>
        <p:nvSpPr>
          <p:cNvPr id="51" name="">
            <a:extLst xmlns:a="http://schemas.openxmlformats.org/drawingml/2006/main">
              <a:ext uri="{FF2B5EF4-FFF2-40B4-BE49-F238E27FC236}">
                <a16:creationId xmlns:a16="http://schemas.microsoft.com/office/drawing/2014/main" id="{B77AFC17-9DEA-4FE3-8D7B-8FB5ED900064}"/>
              </a:ext>
            </a:extLst>
          </p:cNvPr>
          <p:cNvSpPr>
            <a:spLocks xmlns:a="http://schemas.openxmlformats.org/drawingml/2006/main" noGrp="1"/>
          </p:cNvSpPr>
          <p:nvPr/>
        </p:nvSpPr>
        <p:spPr>
          <a:xfrm xmlns:a="http://schemas.openxmlformats.org/drawingml/2006/main">
            <a:off x="6191250" y="4781550"/>
            <a:ext cx="535305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6DADF"/>
            </a:solidFill>
            <a:prstDash val="solid"/>
          </a:ln>
        </p:spPr>
      </p:sp>
      <p:sp>
        <p:nvSpPr>
          <p:cNvPr id="52" name="">
            <a:extLst xmlns:a="http://schemas.openxmlformats.org/drawingml/2006/main">
              <a:ext uri="{FF2B5EF4-FFF2-40B4-BE49-F238E27FC236}">
                <a16:creationId xmlns:a16="http://schemas.microsoft.com/office/drawing/2014/main" id="{72E6A8A1-7E1F-4CB3-944D-38EBCCEEF05C}"/>
              </a:ext>
            </a:extLst>
          </p:cNvPr>
          <p:cNvSpPr>
            <a:spLocks xmlns:a="http://schemas.openxmlformats.org/drawingml/2006/main" noGrp="1"/>
          </p:cNvSpPr>
          <p:nvPr/>
        </p:nvSpPr>
        <p:spPr>
          <a:xfrm xmlns:a="http://schemas.openxmlformats.org/drawingml/2006/main">
            <a:off x="6191250" y="4781550"/>
            <a:ext cx="5353050" cy="76200"/>
          </a:xfrm>
          <a:prstGeom xmlns:a="http://schemas.openxmlformats.org/drawingml/2006/main" prst="roundRect">
            <a:avLst>
              <a:gd name="adj" fmla="val 50000"/>
            </a:avLst>
          </a:prstGeom>
          <a:solidFill xmlns:a="http://schemas.openxmlformats.org/drawingml/2006/main">
            <a:srgbClr val="B98900"/>
          </a:solidFill>
          <a:ln xmlns:a="http://schemas.openxmlformats.org/drawingml/2006/main" w="0">
            <a:solidFill>
              <a:srgbClr val="B98900"/>
            </a:solidFill>
            <a:prstDash val="solid"/>
          </a:ln>
        </p:spPr>
      </p:sp>
      <p:sp>
        <p:nvSpPr>
          <p:cNvPr id="53" name="">
            <a:extLst xmlns:a="http://schemas.openxmlformats.org/drawingml/2006/main">
              <a:ext uri="{FF2B5EF4-FFF2-40B4-BE49-F238E27FC236}">
                <a16:creationId xmlns:a16="http://schemas.microsoft.com/office/drawing/2014/main" id="{542BD71C-89AC-4085-B122-7E593DA00367}"/>
              </a:ext>
            </a:extLst>
          </p:cNvPr>
          <p:cNvSpPr>
            <a:spLocks xmlns:a="http://schemas.openxmlformats.org/drawingml/2006/main" noGrp="1"/>
          </p:cNvSpPr>
          <p:nvPr/>
        </p:nvSpPr>
        <p:spPr>
          <a:xfrm xmlns:a="http://schemas.openxmlformats.org/drawingml/2006/main">
            <a:off x="6324600" y="4933950"/>
            <a:ext cx="508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Optional LLM connection</a:t>
            </a:r>
          </a:p>
        </p:txBody>
      </p:sp>
      <p:sp>
        <p:nvSpPr>
          <p:cNvPr id="54" name="">
            <a:extLst xmlns:a="http://schemas.openxmlformats.org/drawingml/2006/main">
              <a:ext uri="{FF2B5EF4-FFF2-40B4-BE49-F238E27FC236}">
                <a16:creationId xmlns:a16="http://schemas.microsoft.com/office/drawing/2014/main" id="{0319B04E-C2C9-4611-B950-142E8CAD4591}"/>
              </a:ext>
            </a:extLst>
          </p:cNvPr>
          <p:cNvSpPr>
            <a:spLocks xmlns:a="http://schemas.openxmlformats.org/drawingml/2006/main" noGrp="1"/>
          </p:cNvSpPr>
          <p:nvPr/>
        </p:nvSpPr>
        <p:spPr>
          <a:xfrm xmlns:a="http://schemas.openxmlformats.org/drawingml/2006/main">
            <a:off x="6324600" y="5238750"/>
            <a:ext cx="5086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If enabled, the app calls POST http://host.docker.internal:11434/api/chat for summary enrichment only. It does not control routing, approval, canary percentage, or rollback.</a:t>
            </a:r>
          </a:p>
        </p:txBody>
      </p:sp>
      <p:sp>
        <p:nvSpPr>
          <p:cNvPr id="55" name="">
            <a:extLst xmlns:a="http://schemas.openxmlformats.org/drawingml/2006/main">
              <a:ext uri="{FF2B5EF4-FFF2-40B4-BE49-F238E27FC236}">
                <a16:creationId xmlns:a16="http://schemas.microsoft.com/office/drawing/2014/main" id="{F8B2971E-1806-45F3-B2ED-2F79A844D27E}"/>
              </a:ext>
            </a:extLst>
          </p:cNvPr>
          <p:cNvSpPr>
            <a:spLocks xmlns:a="http://schemas.openxmlformats.org/drawingml/2006/main" noGrp="1"/>
          </p:cNvSpPr>
          <p:nvPr/>
        </p:nvSpPr>
        <p:spPr>
          <a:xfrm xmlns:a="http://schemas.openxmlformats.org/drawingml/2006/main">
            <a:off x="11239500" y="4895850"/>
            <a:ext cx="152400" cy="152400"/>
          </a:xfrm>
          <a:prstGeom xmlns:a="http://schemas.openxmlformats.org/drawingml/2006/main" prst="roundRect">
            <a:avLst>
              <a:gd name="adj" fmla="val 50000"/>
            </a:avLst>
          </a:prstGeom>
          <a:solidFill xmlns:a="http://schemas.openxmlformats.org/drawingml/2006/main">
            <a:srgbClr val="FFF9E8"/>
          </a:solidFill>
          <a:ln xmlns:a="http://schemas.openxmlformats.org/drawingml/2006/main" w="9525">
            <a:solidFill>
              <a:srgbClr val="B98900"/>
            </a:solidFill>
            <a:prstDash val="solid"/>
          </a:ln>
        </p:spPr>
      </p:sp>
      <p:sp>
        <p:nvSpPr>
          <p:cNvPr id="56" name="">
            <a:extLst xmlns:a="http://schemas.openxmlformats.org/drawingml/2006/main">
              <a:ext uri="{FF2B5EF4-FFF2-40B4-BE49-F238E27FC236}">
                <a16:creationId xmlns:a16="http://schemas.microsoft.com/office/drawing/2014/main" id="{1532B45B-187E-4561-A5F3-521B6B9F459B}"/>
              </a:ext>
            </a:extLst>
          </p:cNvPr>
          <p:cNvSpPr>
            <a:spLocks xmlns:a="http://schemas.openxmlformats.org/drawingml/2006/main" noGrp="1"/>
          </p:cNvSpPr>
          <p:nvPr/>
        </p:nvSpPr>
        <p:spPr>
          <a:xfrm xmlns:a="http://schemas.openxmlformats.org/drawingml/2006/main">
            <a:off x="647700" y="5905500"/>
            <a:ext cx="10896600" cy="323850"/>
          </a:xfrm>
          <a:prstGeom xmlns:a="http://schemas.openxmlformats.org/drawingml/2006/main" prst="roundRect">
            <a:avLst>
              <a:gd name="adj" fmla="val 23529"/>
            </a:avLst>
          </a:prstGeom>
          <a:solidFill xmlns:a="http://schemas.openxmlformats.org/drawingml/2006/main">
            <a:srgbClr val="ECF3FF"/>
          </a:solidFill>
          <a:ln xmlns:a="http://schemas.openxmlformats.org/drawingml/2006/main" w="9525">
            <a:solidFill>
              <a:srgbClr val="2D6CDF"/>
            </a:solidFill>
            <a:prstDash val="solid"/>
          </a:ln>
        </p:spPr>
        <p:txBody>
          <a:bodyPr xmlns:a="http://schemas.openxmlformats.org/drawingml/2006/main" lIns="152400" tIns="76200" rIns="152400" bIns="76200" anchor="t"/>
          <a:lstStyle xmlns:a="http://schemas.openxmlformats.org/drawingml/2006/main"/>
          <a:p xmlns:a="http://schemas.openxmlformats.org/drawingml/2006/main">
            <a:pPr algn="l">
              <a:defRPr sz="1125" b="0">
                <a:solidFill>
                  <a:srgbClr val="17202A"/>
                </a:solidFill>
              </a:defRPr>
            </a:pPr>
            <a:r>
              <a:rPr sz="1125" b="0">
                <a:solidFill>
                  <a:srgbClr val="17202A"/>
                </a:solidFill>
              </a:rPr>
              <a:t>Enterprise framing: internal service connections are explicit, deterministic, and code-driven. The AI layer sits on top of these adapters; it does not replace them.</a:t>
            </a:r>
          </a:p>
        </p:txBody>
      </p:sp>
    </p:spTree>
    <p:extLst>
      <p:ext uri="{BB962C8B-B14F-4D97-AF65-F5344CB8AC3E}">
        <p14:creationId xmlns:p14="http://schemas.microsoft.com/office/powerpoint/2010/main" val="1590897875"/>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A6FEF05-D048-440E-A88D-4A745AAB4CEB}"/>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9CA0044E-CA7A-47BF-94A5-1DE583223CE4}"/>
              </a:ext>
            </a:extLst>
          </p:cNvPr>
          <p:cNvSpPr>
            <a:spLocks xmlns:a="http://schemas.openxmlformats.org/drawingml/2006/main" noGrp="1"/>
          </p:cNvSpPr>
          <p:nvPr/>
        </p:nvSpPr>
        <p:spPr>
          <a:xfrm xmlns:a="http://schemas.openxmlformats.org/drawingml/2006/main">
            <a:off x="647700" y="400050"/>
            <a:ext cx="7239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2325" b="1">
                <a:solidFill>
                  <a:srgbClr val="17202A"/>
                </a:solidFill>
              </a:defRPr>
            </a:pPr>
            <a:r>
              <a:rPr sz="2325" b="1">
                <a:solidFill>
                  <a:srgbClr val="17202A"/>
                </a:solidFill>
              </a:rPr>
              <a:t>Target Enterprise Architecture</a:t>
            </a:r>
          </a:p>
        </p:txBody>
      </p:sp>
      <p:sp>
        <p:nvSpPr>
          <p:cNvPr id="3" name="">
            <a:extLst xmlns:a="http://schemas.openxmlformats.org/drawingml/2006/main">
              <a:ext uri="{FF2B5EF4-FFF2-40B4-BE49-F238E27FC236}">
                <a16:creationId xmlns:a16="http://schemas.microsoft.com/office/drawing/2014/main" id="{75B46C60-FEBB-406C-B6B6-AC9D6F12043B}"/>
              </a:ext>
            </a:extLst>
          </p:cNvPr>
          <p:cNvSpPr>
            <a:spLocks xmlns:a="http://schemas.openxmlformats.org/drawingml/2006/main" noGrp="1"/>
          </p:cNvSpPr>
          <p:nvPr/>
        </p:nvSpPr>
        <p:spPr>
          <a:xfrm xmlns:a="http://schemas.openxmlformats.org/drawingml/2006/main">
            <a:off x="647700" y="87630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275" b="0">
                <a:solidFill>
                  <a:srgbClr val="5D6975"/>
                </a:solidFill>
              </a:defRPr>
            </a:pPr>
            <a:r>
              <a:rPr sz="1275" b="0">
                <a:solidFill>
                  <a:srgbClr val="5D6975"/>
                </a:solidFill>
              </a:rPr>
              <a:t>In the enterprise model, the search engine already exists. This project becomes the AI Ops control plane around it and reuses the same incident, approval, and rollout pattern.</a:t>
            </a:r>
          </a:p>
        </p:txBody>
      </p:sp>
      <p:sp>
        <p:nvSpPr>
          <p:cNvPr id="4" name="">
            <a:extLst xmlns:a="http://schemas.openxmlformats.org/drawingml/2006/main">
              <a:ext uri="{FF2B5EF4-FFF2-40B4-BE49-F238E27FC236}">
                <a16:creationId xmlns:a16="http://schemas.microsoft.com/office/drawing/2014/main" id="{5146D862-F1C1-468E-ABC0-17F804179971}"/>
              </a:ext>
            </a:extLst>
          </p:cNvPr>
          <p:cNvSpPr>
            <a:spLocks xmlns:a="http://schemas.openxmlformats.org/drawingml/2006/main" noGrp="1"/>
          </p:cNvSpPr>
          <p:nvPr/>
        </p:nvSpPr>
        <p:spPr>
          <a:xfrm xmlns:a="http://schemas.openxmlformats.org/drawingml/2006/main">
            <a:off x="647700" y="1428750"/>
            <a:ext cx="10896600" cy="1143000"/>
          </a:xfrm>
          <a:prstGeom xmlns:a="http://schemas.openxmlformats.org/drawingml/2006/main" prst="roundRect">
            <a:avLst>
              <a:gd name="adj" fmla="val 6667"/>
            </a:avLst>
          </a:prstGeom>
          <a:solidFill xmlns:a="http://schemas.openxmlformats.org/drawingml/2006/main">
            <a:srgbClr val="EAF8F1"/>
          </a:solidFill>
          <a:ln xmlns:a="http://schemas.openxmlformats.org/drawingml/2006/main" w="9525">
            <a:solidFill>
              <a:srgbClr val="D6DADF"/>
            </a:solidFill>
            <a:prstDash val="solid"/>
          </a:ln>
        </p:spPr>
      </p:sp>
      <p:sp>
        <p:nvSpPr>
          <p:cNvPr id="5" name="">
            <a:extLst xmlns:a="http://schemas.openxmlformats.org/drawingml/2006/main">
              <a:ext uri="{FF2B5EF4-FFF2-40B4-BE49-F238E27FC236}">
                <a16:creationId xmlns:a16="http://schemas.microsoft.com/office/drawing/2014/main" id="{B38D18A3-AE08-41E9-9DBC-212498D3BDEB}"/>
              </a:ext>
            </a:extLst>
          </p:cNvPr>
          <p:cNvSpPr>
            <a:spLocks xmlns:a="http://schemas.openxmlformats.org/drawingml/2006/main" noGrp="1"/>
          </p:cNvSpPr>
          <p:nvPr/>
        </p:nvSpPr>
        <p:spPr>
          <a:xfrm xmlns:a="http://schemas.openxmlformats.org/drawingml/2006/main">
            <a:off x="819150" y="1543050"/>
            <a:ext cx="1714500" cy="266700"/>
          </a:xfrm>
          <a:prstGeom xmlns:a="http://schemas.openxmlformats.org/drawingml/2006/main" prst="roundRect">
            <a:avLst>
              <a:gd name="adj" fmla="val 28571"/>
            </a:avLst>
          </a:prstGeom>
          <a:solidFill xmlns:a="http://schemas.openxmlformats.org/drawingml/2006/main">
            <a:srgbClr val="22A06B"/>
          </a:solidFill>
          <a:ln xmlns:a="http://schemas.openxmlformats.org/drawingml/2006/main" w="0">
            <a:solidFill>
              <a:srgbClr val="22A06B"/>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Serving Plane</a:t>
            </a:r>
          </a:p>
        </p:txBody>
      </p:sp>
      <p:sp>
        <p:nvSpPr>
          <p:cNvPr id="6" name="">
            <a:extLst xmlns:a="http://schemas.openxmlformats.org/drawingml/2006/main">
              <a:ext uri="{FF2B5EF4-FFF2-40B4-BE49-F238E27FC236}">
                <a16:creationId xmlns:a16="http://schemas.microsoft.com/office/drawing/2014/main" id="{567C816C-D1E2-4C1C-A698-86301E2CDDC8}"/>
              </a:ext>
            </a:extLst>
          </p:cNvPr>
          <p:cNvSpPr>
            <a:spLocks xmlns:a="http://schemas.openxmlformats.org/drawingml/2006/main" noGrp="1"/>
          </p:cNvSpPr>
          <p:nvPr/>
        </p:nvSpPr>
        <p:spPr>
          <a:xfrm xmlns:a="http://schemas.openxmlformats.org/drawingml/2006/main">
            <a:off x="895350" y="1790700"/>
            <a:ext cx="16764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6DADF"/>
            </a:solidFill>
            <a:prstDash val="solid"/>
          </a:ln>
        </p:spPr>
      </p:sp>
      <p:sp>
        <p:nvSpPr>
          <p:cNvPr id="7" name="">
            <a:extLst xmlns:a="http://schemas.openxmlformats.org/drawingml/2006/main">
              <a:ext uri="{FF2B5EF4-FFF2-40B4-BE49-F238E27FC236}">
                <a16:creationId xmlns:a16="http://schemas.microsoft.com/office/drawing/2014/main" id="{7EEFDAD7-8338-4995-A66D-FAC91B25F2BA}"/>
              </a:ext>
            </a:extLst>
          </p:cNvPr>
          <p:cNvSpPr>
            <a:spLocks xmlns:a="http://schemas.openxmlformats.org/drawingml/2006/main" noGrp="1"/>
          </p:cNvSpPr>
          <p:nvPr/>
        </p:nvSpPr>
        <p:spPr>
          <a:xfrm xmlns:a="http://schemas.openxmlformats.org/drawingml/2006/main">
            <a:off x="895350" y="1790700"/>
            <a:ext cx="1676400" cy="76200"/>
          </a:xfrm>
          <a:prstGeom xmlns:a="http://schemas.openxmlformats.org/drawingml/2006/main" prst="roundRect">
            <a:avLst>
              <a:gd name="adj" fmla="val 50000"/>
            </a:avLst>
          </a:prstGeom>
          <a:solidFill xmlns:a="http://schemas.openxmlformats.org/drawingml/2006/main">
            <a:srgbClr val="22A06B"/>
          </a:solidFill>
          <a:ln xmlns:a="http://schemas.openxmlformats.org/drawingml/2006/main" w="0">
            <a:solidFill>
              <a:srgbClr val="22A06B"/>
            </a:solidFill>
            <a:prstDash val="solid"/>
          </a:ln>
        </p:spPr>
      </p:sp>
      <p:sp>
        <p:nvSpPr>
          <p:cNvPr id="8" name="">
            <a:extLst xmlns:a="http://schemas.openxmlformats.org/drawingml/2006/main">
              <a:ext uri="{FF2B5EF4-FFF2-40B4-BE49-F238E27FC236}">
                <a16:creationId xmlns:a16="http://schemas.microsoft.com/office/drawing/2014/main" id="{955730BA-C130-44B7-B410-83AB3ECC7CCE}"/>
              </a:ext>
            </a:extLst>
          </p:cNvPr>
          <p:cNvSpPr>
            <a:spLocks xmlns:a="http://schemas.openxmlformats.org/drawingml/2006/main" noGrp="1"/>
          </p:cNvSpPr>
          <p:nvPr/>
        </p:nvSpPr>
        <p:spPr>
          <a:xfrm xmlns:a="http://schemas.openxmlformats.org/drawingml/2006/main">
            <a:off x="1028700" y="1943100"/>
            <a:ext cx="1409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User / Product Channel</a:t>
            </a:r>
          </a:p>
        </p:txBody>
      </p:sp>
      <p:sp>
        <p:nvSpPr>
          <p:cNvPr id="9" name="">
            <a:extLst xmlns:a="http://schemas.openxmlformats.org/drawingml/2006/main">
              <a:ext uri="{FF2B5EF4-FFF2-40B4-BE49-F238E27FC236}">
                <a16:creationId xmlns:a16="http://schemas.microsoft.com/office/drawing/2014/main" id="{2E1A55D7-A919-4E4D-8F07-E3A0A20EF983}"/>
              </a:ext>
            </a:extLst>
          </p:cNvPr>
          <p:cNvSpPr>
            <a:spLocks xmlns:a="http://schemas.openxmlformats.org/drawingml/2006/main" noGrp="1"/>
          </p:cNvSpPr>
          <p:nvPr/>
        </p:nvSpPr>
        <p:spPr>
          <a:xfrm xmlns:a="http://schemas.openxmlformats.org/drawingml/2006/main">
            <a:off x="1028700" y="2247900"/>
            <a:ext cx="1409700" cy="76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Search requests arrive from applications.</a:t>
            </a:r>
          </a:p>
        </p:txBody>
      </p:sp>
      <p:sp>
        <p:nvSpPr>
          <p:cNvPr id="10" name="">
            <a:extLst xmlns:a="http://schemas.openxmlformats.org/drawingml/2006/main">
              <a:ext uri="{FF2B5EF4-FFF2-40B4-BE49-F238E27FC236}">
                <a16:creationId xmlns:a16="http://schemas.microsoft.com/office/drawing/2014/main" id="{337BB465-DB7E-4170-B0F6-A01E4EE974F1}"/>
              </a:ext>
            </a:extLst>
          </p:cNvPr>
          <p:cNvSpPr>
            <a:spLocks xmlns:a="http://schemas.openxmlformats.org/drawingml/2006/main" noGrp="1"/>
          </p:cNvSpPr>
          <p:nvPr/>
        </p:nvSpPr>
        <p:spPr>
          <a:xfrm xmlns:a="http://schemas.openxmlformats.org/drawingml/2006/main">
            <a:off x="2266950" y="1905000"/>
            <a:ext cx="152400" cy="152400"/>
          </a:xfrm>
          <a:prstGeom xmlns:a="http://schemas.openxmlformats.org/drawingml/2006/main" prst="roundRect">
            <a:avLst>
              <a:gd name="adj" fmla="val 50000"/>
            </a:avLst>
          </a:prstGeom>
          <a:solidFill xmlns:a="http://schemas.openxmlformats.org/drawingml/2006/main">
            <a:srgbClr val="EAF8F1"/>
          </a:solidFill>
          <a:ln xmlns:a="http://schemas.openxmlformats.org/drawingml/2006/main" w="9525">
            <a:solidFill>
              <a:srgbClr val="22A06B"/>
            </a:solidFill>
            <a:prstDash val="solid"/>
          </a:ln>
        </p:spPr>
      </p:sp>
      <p:sp>
        <p:nvSpPr>
          <p:cNvPr id="11" name="">
            <a:extLst xmlns:a="http://schemas.openxmlformats.org/drawingml/2006/main">
              <a:ext uri="{FF2B5EF4-FFF2-40B4-BE49-F238E27FC236}">
                <a16:creationId xmlns:a16="http://schemas.microsoft.com/office/drawing/2014/main" id="{1AACECB2-0E14-4C30-AD4F-5A52DAE4BB82}"/>
              </a:ext>
            </a:extLst>
          </p:cNvPr>
          <p:cNvSpPr>
            <a:spLocks xmlns:a="http://schemas.openxmlformats.org/drawingml/2006/main" noGrp="1"/>
          </p:cNvSpPr>
          <p:nvPr/>
        </p:nvSpPr>
        <p:spPr>
          <a:xfrm xmlns:a="http://schemas.openxmlformats.org/drawingml/2006/main">
            <a:off x="2609850" y="196215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12" name="">
            <a:extLst xmlns:a="http://schemas.openxmlformats.org/drawingml/2006/main">
              <a:ext uri="{FF2B5EF4-FFF2-40B4-BE49-F238E27FC236}">
                <a16:creationId xmlns:a16="http://schemas.microsoft.com/office/drawing/2014/main" id="{5725150E-FA0F-41B6-ACBA-35140EC2A4E6}"/>
              </a:ext>
            </a:extLst>
          </p:cNvPr>
          <p:cNvSpPr>
            <a:spLocks xmlns:a="http://schemas.openxmlformats.org/drawingml/2006/main" noGrp="1"/>
          </p:cNvSpPr>
          <p:nvPr/>
        </p:nvSpPr>
        <p:spPr>
          <a:xfrm xmlns:a="http://schemas.openxmlformats.org/drawingml/2006/main">
            <a:off x="3028950" y="1790700"/>
            <a:ext cx="20002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6DADF"/>
            </a:solidFill>
            <a:prstDash val="solid"/>
          </a:ln>
        </p:spPr>
      </p:sp>
      <p:sp>
        <p:nvSpPr>
          <p:cNvPr id="13" name="">
            <a:extLst xmlns:a="http://schemas.openxmlformats.org/drawingml/2006/main">
              <a:ext uri="{FF2B5EF4-FFF2-40B4-BE49-F238E27FC236}">
                <a16:creationId xmlns:a16="http://schemas.microsoft.com/office/drawing/2014/main" id="{4D48C51A-98B2-47CC-9A2F-50BD0141B4E5}"/>
              </a:ext>
            </a:extLst>
          </p:cNvPr>
          <p:cNvSpPr>
            <a:spLocks xmlns:a="http://schemas.openxmlformats.org/drawingml/2006/main" noGrp="1"/>
          </p:cNvSpPr>
          <p:nvPr/>
        </p:nvSpPr>
        <p:spPr>
          <a:xfrm xmlns:a="http://schemas.openxmlformats.org/drawingml/2006/main">
            <a:off x="3028950" y="1790700"/>
            <a:ext cx="2000250" cy="76200"/>
          </a:xfrm>
          <a:prstGeom xmlns:a="http://schemas.openxmlformats.org/drawingml/2006/main" prst="roundRect">
            <a:avLst>
              <a:gd name="adj" fmla="val 50000"/>
            </a:avLst>
          </a:prstGeom>
          <a:solidFill xmlns:a="http://schemas.openxmlformats.org/drawingml/2006/main">
            <a:srgbClr val="22A06B"/>
          </a:solidFill>
          <a:ln xmlns:a="http://schemas.openxmlformats.org/drawingml/2006/main" w="0">
            <a:solidFill>
              <a:srgbClr val="22A06B"/>
            </a:solidFill>
            <a:prstDash val="solid"/>
          </a:ln>
        </p:spPr>
      </p:sp>
      <p:sp>
        <p:nvSpPr>
          <p:cNvPr id="14" name="">
            <a:extLst xmlns:a="http://schemas.openxmlformats.org/drawingml/2006/main">
              <a:ext uri="{FF2B5EF4-FFF2-40B4-BE49-F238E27FC236}">
                <a16:creationId xmlns:a16="http://schemas.microsoft.com/office/drawing/2014/main" id="{CC0CB93E-5B78-4ACC-8F8F-657F2B4BBE81}"/>
              </a:ext>
            </a:extLst>
          </p:cNvPr>
          <p:cNvSpPr>
            <a:spLocks xmlns:a="http://schemas.openxmlformats.org/drawingml/2006/main" noGrp="1"/>
          </p:cNvSpPr>
          <p:nvPr/>
        </p:nvSpPr>
        <p:spPr>
          <a:xfrm xmlns:a="http://schemas.openxmlformats.org/drawingml/2006/main">
            <a:off x="3162300" y="1943100"/>
            <a:ext cx="1733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Search Experience API</a:t>
            </a:r>
          </a:p>
        </p:txBody>
      </p:sp>
      <p:sp>
        <p:nvSpPr>
          <p:cNvPr id="15" name="">
            <a:extLst xmlns:a="http://schemas.openxmlformats.org/drawingml/2006/main">
              <a:ext uri="{FF2B5EF4-FFF2-40B4-BE49-F238E27FC236}">
                <a16:creationId xmlns:a16="http://schemas.microsoft.com/office/drawing/2014/main" id="{3CFC5BEC-E7D1-462D-97C0-9CBB22E0EBD5}"/>
              </a:ext>
            </a:extLst>
          </p:cNvPr>
          <p:cNvSpPr>
            <a:spLocks xmlns:a="http://schemas.openxmlformats.org/drawingml/2006/main" noGrp="1"/>
          </p:cNvSpPr>
          <p:nvPr/>
        </p:nvSpPr>
        <p:spPr>
          <a:xfrm xmlns:a="http://schemas.openxmlformats.org/drawingml/2006/main">
            <a:off x="3162300" y="2247900"/>
            <a:ext cx="1733550" cy="76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Product-facing entry point for serving search.</a:t>
            </a:r>
          </a:p>
        </p:txBody>
      </p:sp>
      <p:sp>
        <p:nvSpPr>
          <p:cNvPr id="16" name="">
            <a:extLst xmlns:a="http://schemas.openxmlformats.org/drawingml/2006/main">
              <a:ext uri="{FF2B5EF4-FFF2-40B4-BE49-F238E27FC236}">
                <a16:creationId xmlns:a16="http://schemas.microsoft.com/office/drawing/2014/main" id="{99872F33-BB75-4D1F-83C3-DC65DD433F24}"/>
              </a:ext>
            </a:extLst>
          </p:cNvPr>
          <p:cNvSpPr>
            <a:spLocks xmlns:a="http://schemas.openxmlformats.org/drawingml/2006/main" noGrp="1"/>
          </p:cNvSpPr>
          <p:nvPr/>
        </p:nvSpPr>
        <p:spPr>
          <a:xfrm xmlns:a="http://schemas.openxmlformats.org/drawingml/2006/main">
            <a:off x="4724400" y="1905000"/>
            <a:ext cx="152400" cy="152400"/>
          </a:xfrm>
          <a:prstGeom xmlns:a="http://schemas.openxmlformats.org/drawingml/2006/main" prst="roundRect">
            <a:avLst>
              <a:gd name="adj" fmla="val 50000"/>
            </a:avLst>
          </a:prstGeom>
          <a:solidFill xmlns:a="http://schemas.openxmlformats.org/drawingml/2006/main">
            <a:srgbClr val="EAF8F1"/>
          </a:solidFill>
          <a:ln xmlns:a="http://schemas.openxmlformats.org/drawingml/2006/main" w="9525">
            <a:solidFill>
              <a:srgbClr val="22A06B"/>
            </a:solidFill>
            <a:prstDash val="solid"/>
          </a:ln>
        </p:spPr>
      </p:sp>
      <p:sp>
        <p:nvSpPr>
          <p:cNvPr id="17" name="">
            <a:extLst xmlns:a="http://schemas.openxmlformats.org/drawingml/2006/main">
              <a:ext uri="{FF2B5EF4-FFF2-40B4-BE49-F238E27FC236}">
                <a16:creationId xmlns:a16="http://schemas.microsoft.com/office/drawing/2014/main" id="{5365945E-DE18-4AE6-A08E-A6A81E3C8AB3}"/>
              </a:ext>
            </a:extLst>
          </p:cNvPr>
          <p:cNvSpPr>
            <a:spLocks xmlns:a="http://schemas.openxmlformats.org/drawingml/2006/main" noGrp="1"/>
          </p:cNvSpPr>
          <p:nvPr/>
        </p:nvSpPr>
        <p:spPr>
          <a:xfrm xmlns:a="http://schemas.openxmlformats.org/drawingml/2006/main">
            <a:off x="5067300" y="196215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18" name="">
            <a:extLst xmlns:a="http://schemas.openxmlformats.org/drawingml/2006/main">
              <a:ext uri="{FF2B5EF4-FFF2-40B4-BE49-F238E27FC236}">
                <a16:creationId xmlns:a16="http://schemas.microsoft.com/office/drawing/2014/main" id="{E58F528A-B695-4191-93D9-150D8CD92C7C}"/>
              </a:ext>
            </a:extLst>
          </p:cNvPr>
          <p:cNvSpPr>
            <a:spLocks xmlns:a="http://schemas.openxmlformats.org/drawingml/2006/main" noGrp="1"/>
          </p:cNvSpPr>
          <p:nvPr/>
        </p:nvSpPr>
        <p:spPr>
          <a:xfrm xmlns:a="http://schemas.openxmlformats.org/drawingml/2006/main">
            <a:off x="5486400" y="1676400"/>
            <a:ext cx="26479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6DADF"/>
            </a:solidFill>
            <a:prstDash val="solid"/>
          </a:ln>
        </p:spPr>
      </p:sp>
      <p:sp>
        <p:nvSpPr>
          <p:cNvPr id="19" name="">
            <a:extLst xmlns:a="http://schemas.openxmlformats.org/drawingml/2006/main">
              <a:ext uri="{FF2B5EF4-FFF2-40B4-BE49-F238E27FC236}">
                <a16:creationId xmlns:a16="http://schemas.microsoft.com/office/drawing/2014/main" id="{84E154BD-C4F6-41D6-981E-569A8DBA83D5}"/>
              </a:ext>
            </a:extLst>
          </p:cNvPr>
          <p:cNvSpPr>
            <a:spLocks xmlns:a="http://schemas.openxmlformats.org/drawingml/2006/main" noGrp="1"/>
          </p:cNvSpPr>
          <p:nvPr/>
        </p:nvSpPr>
        <p:spPr>
          <a:xfrm xmlns:a="http://schemas.openxmlformats.org/drawingml/2006/main">
            <a:off x="5486400" y="1676400"/>
            <a:ext cx="2647950" cy="76200"/>
          </a:xfrm>
          <a:prstGeom xmlns:a="http://schemas.openxmlformats.org/drawingml/2006/main" prst="roundRect">
            <a:avLst>
              <a:gd name="adj" fmla="val 50000"/>
            </a:avLst>
          </a:prstGeom>
          <a:solidFill xmlns:a="http://schemas.openxmlformats.org/drawingml/2006/main">
            <a:srgbClr val="22A06B"/>
          </a:solidFill>
          <a:ln xmlns:a="http://schemas.openxmlformats.org/drawingml/2006/main" w="0">
            <a:solidFill>
              <a:srgbClr val="22A06B"/>
            </a:solidFill>
            <a:prstDash val="solid"/>
          </a:ln>
        </p:spPr>
      </p:sp>
      <p:sp>
        <p:nvSpPr>
          <p:cNvPr id="20" name="">
            <a:extLst xmlns:a="http://schemas.openxmlformats.org/drawingml/2006/main">
              <a:ext uri="{FF2B5EF4-FFF2-40B4-BE49-F238E27FC236}">
                <a16:creationId xmlns:a16="http://schemas.microsoft.com/office/drawing/2014/main" id="{9A787422-B9F4-431C-A4DB-E6AC9543EDD2}"/>
              </a:ext>
            </a:extLst>
          </p:cNvPr>
          <p:cNvSpPr>
            <a:spLocks xmlns:a="http://schemas.openxmlformats.org/drawingml/2006/main" noGrp="1"/>
          </p:cNvSpPr>
          <p:nvPr/>
        </p:nvSpPr>
        <p:spPr>
          <a:xfrm xmlns:a="http://schemas.openxmlformats.org/drawingml/2006/main">
            <a:off x="5619750" y="1828800"/>
            <a:ext cx="2381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Existing AI Search Engine</a:t>
            </a:r>
          </a:p>
        </p:txBody>
      </p:sp>
      <p:sp>
        <p:nvSpPr>
          <p:cNvPr id="21" name="">
            <a:extLst xmlns:a="http://schemas.openxmlformats.org/drawingml/2006/main">
              <a:ext uri="{FF2B5EF4-FFF2-40B4-BE49-F238E27FC236}">
                <a16:creationId xmlns:a16="http://schemas.microsoft.com/office/drawing/2014/main" id="{57D80A77-D375-4178-AA67-FD63681AC179}"/>
              </a:ext>
            </a:extLst>
          </p:cNvPr>
          <p:cNvSpPr>
            <a:spLocks xmlns:a="http://schemas.openxmlformats.org/drawingml/2006/main" noGrp="1"/>
          </p:cNvSpPr>
          <p:nvPr/>
        </p:nvSpPr>
        <p:spPr>
          <a:xfrm xmlns:a="http://schemas.openxmlformats.org/drawingml/2006/main">
            <a:off x="5619750" y="2133600"/>
            <a:ext cx="2381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Enterprise retrieval, ranking, and search-serving platform.</a:t>
            </a:r>
          </a:p>
        </p:txBody>
      </p:sp>
      <p:sp>
        <p:nvSpPr>
          <p:cNvPr id="22" name="">
            <a:extLst xmlns:a="http://schemas.openxmlformats.org/drawingml/2006/main">
              <a:ext uri="{FF2B5EF4-FFF2-40B4-BE49-F238E27FC236}">
                <a16:creationId xmlns:a16="http://schemas.microsoft.com/office/drawing/2014/main" id="{642FFD2F-B924-4522-9748-C22DBDA4DC83}"/>
              </a:ext>
            </a:extLst>
          </p:cNvPr>
          <p:cNvSpPr>
            <a:spLocks xmlns:a="http://schemas.openxmlformats.org/drawingml/2006/main" noGrp="1"/>
          </p:cNvSpPr>
          <p:nvPr/>
        </p:nvSpPr>
        <p:spPr>
          <a:xfrm xmlns:a="http://schemas.openxmlformats.org/drawingml/2006/main">
            <a:off x="7829550" y="1790700"/>
            <a:ext cx="152400" cy="152400"/>
          </a:xfrm>
          <a:prstGeom xmlns:a="http://schemas.openxmlformats.org/drawingml/2006/main" prst="roundRect">
            <a:avLst>
              <a:gd name="adj" fmla="val 50000"/>
            </a:avLst>
          </a:prstGeom>
          <a:solidFill xmlns:a="http://schemas.openxmlformats.org/drawingml/2006/main">
            <a:srgbClr val="EAF8F1"/>
          </a:solidFill>
          <a:ln xmlns:a="http://schemas.openxmlformats.org/drawingml/2006/main" w="9525">
            <a:solidFill>
              <a:srgbClr val="22A06B"/>
            </a:solidFill>
            <a:prstDash val="solid"/>
          </a:ln>
        </p:spPr>
      </p:sp>
      <p:sp>
        <p:nvSpPr>
          <p:cNvPr id="23" name="">
            <a:extLst xmlns:a="http://schemas.openxmlformats.org/drawingml/2006/main">
              <a:ext uri="{FF2B5EF4-FFF2-40B4-BE49-F238E27FC236}">
                <a16:creationId xmlns:a16="http://schemas.microsoft.com/office/drawing/2014/main" id="{6D394012-9186-4F13-8A44-E9D2A11EE306}"/>
              </a:ext>
            </a:extLst>
          </p:cNvPr>
          <p:cNvSpPr>
            <a:spLocks xmlns:a="http://schemas.openxmlformats.org/drawingml/2006/main" noGrp="1"/>
          </p:cNvSpPr>
          <p:nvPr/>
        </p:nvSpPr>
        <p:spPr>
          <a:xfrm xmlns:a="http://schemas.openxmlformats.org/drawingml/2006/main">
            <a:off x="8191500" y="196215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24" name="">
            <a:extLst xmlns:a="http://schemas.openxmlformats.org/drawingml/2006/main">
              <a:ext uri="{FF2B5EF4-FFF2-40B4-BE49-F238E27FC236}">
                <a16:creationId xmlns:a16="http://schemas.microsoft.com/office/drawing/2014/main" id="{F3198924-4886-4058-B8C1-0CD959710C26}"/>
              </a:ext>
            </a:extLst>
          </p:cNvPr>
          <p:cNvSpPr>
            <a:spLocks xmlns:a="http://schemas.openxmlformats.org/drawingml/2006/main" noGrp="1"/>
          </p:cNvSpPr>
          <p:nvPr/>
        </p:nvSpPr>
        <p:spPr>
          <a:xfrm xmlns:a="http://schemas.openxmlformats.org/drawingml/2006/main">
            <a:off x="8610600" y="1790700"/>
            <a:ext cx="24765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6DADF"/>
            </a:solidFill>
            <a:prstDash val="solid"/>
          </a:ln>
        </p:spPr>
      </p:sp>
      <p:sp>
        <p:nvSpPr>
          <p:cNvPr id="25" name="">
            <a:extLst xmlns:a="http://schemas.openxmlformats.org/drawingml/2006/main">
              <a:ext uri="{FF2B5EF4-FFF2-40B4-BE49-F238E27FC236}">
                <a16:creationId xmlns:a16="http://schemas.microsoft.com/office/drawing/2014/main" id="{A530825A-BC43-471B-92AF-23B80CD8559D}"/>
              </a:ext>
            </a:extLst>
          </p:cNvPr>
          <p:cNvSpPr>
            <a:spLocks xmlns:a="http://schemas.openxmlformats.org/drawingml/2006/main" noGrp="1"/>
          </p:cNvSpPr>
          <p:nvPr/>
        </p:nvSpPr>
        <p:spPr>
          <a:xfrm xmlns:a="http://schemas.openxmlformats.org/drawingml/2006/main">
            <a:off x="8610600" y="1790700"/>
            <a:ext cx="2476500" cy="76200"/>
          </a:xfrm>
          <a:prstGeom xmlns:a="http://schemas.openxmlformats.org/drawingml/2006/main" prst="roundRect">
            <a:avLst>
              <a:gd name="adj" fmla="val 50000"/>
            </a:avLst>
          </a:prstGeom>
          <a:solidFill xmlns:a="http://schemas.openxmlformats.org/drawingml/2006/main">
            <a:srgbClr val="7A4FD1"/>
          </a:solidFill>
          <a:ln xmlns:a="http://schemas.openxmlformats.org/drawingml/2006/main" w="0">
            <a:solidFill>
              <a:srgbClr val="7A4FD1"/>
            </a:solidFill>
            <a:prstDash val="solid"/>
          </a:ln>
        </p:spPr>
      </p:sp>
      <p:sp>
        <p:nvSpPr>
          <p:cNvPr id="26" name="">
            <a:extLst xmlns:a="http://schemas.openxmlformats.org/drawingml/2006/main">
              <a:ext uri="{FF2B5EF4-FFF2-40B4-BE49-F238E27FC236}">
                <a16:creationId xmlns:a16="http://schemas.microsoft.com/office/drawing/2014/main" id="{1EE19550-B439-4AA9-8B33-B92A6B1331D5}"/>
              </a:ext>
            </a:extLst>
          </p:cNvPr>
          <p:cNvSpPr>
            <a:spLocks xmlns:a="http://schemas.openxmlformats.org/drawingml/2006/main" noGrp="1"/>
          </p:cNvSpPr>
          <p:nvPr/>
        </p:nvSpPr>
        <p:spPr>
          <a:xfrm xmlns:a="http://schemas.openxmlformats.org/drawingml/2006/main">
            <a:off x="8743950" y="1943100"/>
            <a:ext cx="2209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Search Change Adapter</a:t>
            </a:r>
          </a:p>
        </p:txBody>
      </p:sp>
      <p:sp>
        <p:nvSpPr>
          <p:cNvPr id="27" name="">
            <a:extLst xmlns:a="http://schemas.openxmlformats.org/drawingml/2006/main">
              <a:ext uri="{FF2B5EF4-FFF2-40B4-BE49-F238E27FC236}">
                <a16:creationId xmlns:a16="http://schemas.microsoft.com/office/drawing/2014/main" id="{8B6E8201-6768-4F07-AE37-468D60206C8C}"/>
              </a:ext>
            </a:extLst>
          </p:cNvPr>
          <p:cNvSpPr>
            <a:spLocks xmlns:a="http://schemas.openxmlformats.org/drawingml/2006/main" noGrp="1"/>
          </p:cNvSpPr>
          <p:nvPr/>
        </p:nvSpPr>
        <p:spPr>
          <a:xfrm xmlns:a="http://schemas.openxmlformats.org/drawingml/2006/main">
            <a:off x="8743950" y="2247900"/>
            <a:ext cx="2209800" cy="76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Applies approved search changes into the enterprise platform.</a:t>
            </a:r>
          </a:p>
        </p:txBody>
      </p:sp>
      <p:sp>
        <p:nvSpPr>
          <p:cNvPr id="28" name="">
            <a:extLst xmlns:a="http://schemas.openxmlformats.org/drawingml/2006/main">
              <a:ext uri="{FF2B5EF4-FFF2-40B4-BE49-F238E27FC236}">
                <a16:creationId xmlns:a16="http://schemas.microsoft.com/office/drawing/2014/main" id="{DCBF2021-1E02-4D91-BF7F-BDBFCA488A7E}"/>
              </a:ext>
            </a:extLst>
          </p:cNvPr>
          <p:cNvSpPr>
            <a:spLocks xmlns:a="http://schemas.openxmlformats.org/drawingml/2006/main" noGrp="1"/>
          </p:cNvSpPr>
          <p:nvPr/>
        </p:nvSpPr>
        <p:spPr>
          <a:xfrm xmlns:a="http://schemas.openxmlformats.org/drawingml/2006/main">
            <a:off x="10782300" y="1905000"/>
            <a:ext cx="152400" cy="152400"/>
          </a:xfrm>
          <a:prstGeom xmlns:a="http://schemas.openxmlformats.org/drawingml/2006/main" prst="roundRect">
            <a:avLst>
              <a:gd name="adj" fmla="val 50000"/>
            </a:avLst>
          </a:prstGeom>
          <a:solidFill xmlns:a="http://schemas.openxmlformats.org/drawingml/2006/main">
            <a:srgbClr val="F2EBFF"/>
          </a:solidFill>
          <a:ln xmlns:a="http://schemas.openxmlformats.org/drawingml/2006/main" w="9525">
            <a:solidFill>
              <a:srgbClr val="7A4FD1"/>
            </a:solidFill>
            <a:prstDash val="solid"/>
          </a:ln>
        </p:spPr>
      </p:sp>
      <p:sp>
        <p:nvSpPr>
          <p:cNvPr id="29" name="">
            <a:extLst xmlns:a="http://schemas.openxmlformats.org/drawingml/2006/main">
              <a:ext uri="{FF2B5EF4-FFF2-40B4-BE49-F238E27FC236}">
                <a16:creationId xmlns:a16="http://schemas.microsoft.com/office/drawing/2014/main" id="{D6E57684-0D68-41F3-8DD0-9AF7D087D9BE}"/>
              </a:ext>
            </a:extLst>
          </p:cNvPr>
          <p:cNvSpPr>
            <a:spLocks xmlns:a="http://schemas.openxmlformats.org/drawingml/2006/main" noGrp="1"/>
          </p:cNvSpPr>
          <p:nvPr/>
        </p:nvSpPr>
        <p:spPr>
          <a:xfrm xmlns:a="http://schemas.openxmlformats.org/drawingml/2006/main">
            <a:off x="647700" y="2781300"/>
            <a:ext cx="10896600" cy="1066800"/>
          </a:xfrm>
          <a:prstGeom xmlns:a="http://schemas.openxmlformats.org/drawingml/2006/main" prst="roundRect">
            <a:avLst>
              <a:gd name="adj" fmla="val 7143"/>
            </a:avLst>
          </a:prstGeom>
          <a:solidFill xmlns:a="http://schemas.openxmlformats.org/drawingml/2006/main">
            <a:srgbClr val="EBF2FF"/>
          </a:solidFill>
          <a:ln xmlns:a="http://schemas.openxmlformats.org/drawingml/2006/main" w="9525">
            <a:solidFill>
              <a:srgbClr val="D6DADF"/>
            </a:solidFill>
            <a:prstDash val="solid"/>
          </a:ln>
        </p:spPr>
      </p:sp>
      <p:sp>
        <p:nvSpPr>
          <p:cNvPr id="30" name="">
            <a:extLst xmlns:a="http://schemas.openxmlformats.org/drawingml/2006/main">
              <a:ext uri="{FF2B5EF4-FFF2-40B4-BE49-F238E27FC236}">
                <a16:creationId xmlns:a16="http://schemas.microsoft.com/office/drawing/2014/main" id="{D4A76B71-C0C2-4DDF-B8FC-D6AE11062A69}"/>
              </a:ext>
            </a:extLst>
          </p:cNvPr>
          <p:cNvSpPr>
            <a:spLocks xmlns:a="http://schemas.openxmlformats.org/drawingml/2006/main" noGrp="1"/>
          </p:cNvSpPr>
          <p:nvPr/>
        </p:nvSpPr>
        <p:spPr>
          <a:xfrm xmlns:a="http://schemas.openxmlformats.org/drawingml/2006/main">
            <a:off x="819150" y="2895600"/>
            <a:ext cx="1714500" cy="26670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0">
            <a:solidFill>
              <a:srgbClr val="2D6CDF"/>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Observability Plane</a:t>
            </a:r>
          </a:p>
        </p:txBody>
      </p:sp>
      <p:sp>
        <p:nvSpPr>
          <p:cNvPr id="31" name="">
            <a:extLst xmlns:a="http://schemas.openxmlformats.org/drawingml/2006/main">
              <a:ext uri="{FF2B5EF4-FFF2-40B4-BE49-F238E27FC236}">
                <a16:creationId xmlns:a16="http://schemas.microsoft.com/office/drawing/2014/main" id="{E17A5443-054E-4477-9C4B-229154F21C43}"/>
              </a:ext>
            </a:extLst>
          </p:cNvPr>
          <p:cNvSpPr>
            <a:spLocks xmlns:a="http://schemas.openxmlformats.org/drawingml/2006/main" noGrp="1"/>
          </p:cNvSpPr>
          <p:nvPr/>
        </p:nvSpPr>
        <p:spPr>
          <a:xfrm xmlns:a="http://schemas.openxmlformats.org/drawingml/2006/main">
            <a:off x="1028700" y="3124200"/>
            <a:ext cx="173355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6DADF"/>
            </a:solidFill>
            <a:prstDash val="solid"/>
          </a:ln>
        </p:spPr>
      </p:sp>
      <p:sp>
        <p:nvSpPr>
          <p:cNvPr id="32" name="">
            <a:extLst xmlns:a="http://schemas.openxmlformats.org/drawingml/2006/main">
              <a:ext uri="{FF2B5EF4-FFF2-40B4-BE49-F238E27FC236}">
                <a16:creationId xmlns:a16="http://schemas.microsoft.com/office/drawing/2014/main" id="{1040EA95-8869-486B-A992-551FCB954B80}"/>
              </a:ext>
            </a:extLst>
          </p:cNvPr>
          <p:cNvSpPr>
            <a:spLocks xmlns:a="http://schemas.openxmlformats.org/drawingml/2006/main" noGrp="1"/>
          </p:cNvSpPr>
          <p:nvPr/>
        </p:nvSpPr>
        <p:spPr>
          <a:xfrm xmlns:a="http://schemas.openxmlformats.org/drawingml/2006/main">
            <a:off x="1028700" y="3124200"/>
            <a:ext cx="173355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33" name="">
            <a:extLst xmlns:a="http://schemas.openxmlformats.org/drawingml/2006/main">
              <a:ext uri="{FF2B5EF4-FFF2-40B4-BE49-F238E27FC236}">
                <a16:creationId xmlns:a16="http://schemas.microsoft.com/office/drawing/2014/main" id="{966BF0B9-B561-4F9F-9238-58686BA3BFB9}"/>
              </a:ext>
            </a:extLst>
          </p:cNvPr>
          <p:cNvSpPr>
            <a:spLocks xmlns:a="http://schemas.openxmlformats.org/drawingml/2006/main" noGrp="1"/>
          </p:cNvSpPr>
          <p:nvPr/>
        </p:nvSpPr>
        <p:spPr>
          <a:xfrm xmlns:a="http://schemas.openxmlformats.org/drawingml/2006/main">
            <a:off x="1162050" y="3276600"/>
            <a:ext cx="1466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Metrics</a:t>
            </a:r>
          </a:p>
        </p:txBody>
      </p:sp>
      <p:sp>
        <p:nvSpPr>
          <p:cNvPr id="34" name="">
            <a:extLst xmlns:a="http://schemas.openxmlformats.org/drawingml/2006/main">
              <a:ext uri="{FF2B5EF4-FFF2-40B4-BE49-F238E27FC236}">
                <a16:creationId xmlns:a16="http://schemas.microsoft.com/office/drawing/2014/main" id="{2600B1DD-811C-4386-B105-65A5EBBE0BEE}"/>
              </a:ext>
            </a:extLst>
          </p:cNvPr>
          <p:cNvSpPr>
            <a:spLocks xmlns:a="http://schemas.openxmlformats.org/drawingml/2006/main" noGrp="1"/>
          </p:cNvSpPr>
          <p:nvPr/>
        </p:nvSpPr>
        <p:spPr>
          <a:xfrm xmlns:a="http://schemas.openxmlformats.org/drawingml/2006/main">
            <a:off x="1162050" y="3581400"/>
            <a:ext cx="1466850" cy="-19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Operational counters and latency.</a:t>
            </a:r>
          </a:p>
        </p:txBody>
      </p:sp>
      <p:sp>
        <p:nvSpPr>
          <p:cNvPr id="35" name="">
            <a:extLst xmlns:a="http://schemas.openxmlformats.org/drawingml/2006/main">
              <a:ext uri="{FF2B5EF4-FFF2-40B4-BE49-F238E27FC236}">
                <a16:creationId xmlns:a16="http://schemas.microsoft.com/office/drawing/2014/main" id="{020850B0-45F9-4F27-B19B-62BE395B9015}"/>
              </a:ext>
            </a:extLst>
          </p:cNvPr>
          <p:cNvSpPr>
            <a:spLocks xmlns:a="http://schemas.openxmlformats.org/drawingml/2006/main" noGrp="1"/>
          </p:cNvSpPr>
          <p:nvPr/>
        </p:nvSpPr>
        <p:spPr>
          <a:xfrm xmlns:a="http://schemas.openxmlformats.org/drawingml/2006/main">
            <a:off x="2457450" y="323850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36" name="">
            <a:extLst xmlns:a="http://schemas.openxmlformats.org/drawingml/2006/main">
              <a:ext uri="{FF2B5EF4-FFF2-40B4-BE49-F238E27FC236}">
                <a16:creationId xmlns:a16="http://schemas.microsoft.com/office/drawing/2014/main" id="{EC14EEFB-D3C8-4477-8501-98E2DA53934E}"/>
              </a:ext>
            </a:extLst>
          </p:cNvPr>
          <p:cNvSpPr>
            <a:spLocks xmlns:a="http://schemas.openxmlformats.org/drawingml/2006/main" noGrp="1"/>
          </p:cNvSpPr>
          <p:nvPr/>
        </p:nvSpPr>
        <p:spPr>
          <a:xfrm xmlns:a="http://schemas.openxmlformats.org/drawingml/2006/main">
            <a:off x="2990850" y="3124200"/>
            <a:ext cx="173355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6DADF"/>
            </a:solidFill>
            <a:prstDash val="solid"/>
          </a:ln>
        </p:spPr>
      </p:sp>
      <p:sp>
        <p:nvSpPr>
          <p:cNvPr id="37" name="">
            <a:extLst xmlns:a="http://schemas.openxmlformats.org/drawingml/2006/main">
              <a:ext uri="{FF2B5EF4-FFF2-40B4-BE49-F238E27FC236}">
                <a16:creationId xmlns:a16="http://schemas.microsoft.com/office/drawing/2014/main" id="{85F3C911-CCCC-4FF4-AF27-C6A35DE78D29}"/>
              </a:ext>
            </a:extLst>
          </p:cNvPr>
          <p:cNvSpPr>
            <a:spLocks xmlns:a="http://schemas.openxmlformats.org/drawingml/2006/main" noGrp="1"/>
          </p:cNvSpPr>
          <p:nvPr/>
        </p:nvSpPr>
        <p:spPr>
          <a:xfrm xmlns:a="http://schemas.openxmlformats.org/drawingml/2006/main">
            <a:off x="2990850" y="3124200"/>
            <a:ext cx="173355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38" name="">
            <a:extLst xmlns:a="http://schemas.openxmlformats.org/drawingml/2006/main">
              <a:ext uri="{FF2B5EF4-FFF2-40B4-BE49-F238E27FC236}">
                <a16:creationId xmlns:a16="http://schemas.microsoft.com/office/drawing/2014/main" id="{7034DD30-8F6B-4DE8-ADCE-6C6FD5B5875E}"/>
              </a:ext>
            </a:extLst>
          </p:cNvPr>
          <p:cNvSpPr>
            <a:spLocks xmlns:a="http://schemas.openxmlformats.org/drawingml/2006/main" noGrp="1"/>
          </p:cNvSpPr>
          <p:nvPr/>
        </p:nvSpPr>
        <p:spPr>
          <a:xfrm xmlns:a="http://schemas.openxmlformats.org/drawingml/2006/main">
            <a:off x="3124200" y="3276600"/>
            <a:ext cx="1466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Traces</a:t>
            </a:r>
          </a:p>
        </p:txBody>
      </p:sp>
      <p:sp>
        <p:nvSpPr>
          <p:cNvPr id="39" name="">
            <a:extLst xmlns:a="http://schemas.openxmlformats.org/drawingml/2006/main">
              <a:ext uri="{FF2B5EF4-FFF2-40B4-BE49-F238E27FC236}">
                <a16:creationId xmlns:a16="http://schemas.microsoft.com/office/drawing/2014/main" id="{02DE74ED-2DF9-47A6-A876-F446B8161040}"/>
              </a:ext>
            </a:extLst>
          </p:cNvPr>
          <p:cNvSpPr>
            <a:spLocks xmlns:a="http://schemas.openxmlformats.org/drawingml/2006/main" noGrp="1"/>
          </p:cNvSpPr>
          <p:nvPr/>
        </p:nvSpPr>
        <p:spPr>
          <a:xfrm xmlns:a="http://schemas.openxmlformats.org/drawingml/2006/main">
            <a:off x="3124200" y="3581400"/>
            <a:ext cx="1466850" cy="-19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Request and workflow timing.</a:t>
            </a:r>
          </a:p>
        </p:txBody>
      </p:sp>
      <p:sp>
        <p:nvSpPr>
          <p:cNvPr id="40" name="">
            <a:extLst xmlns:a="http://schemas.openxmlformats.org/drawingml/2006/main">
              <a:ext uri="{FF2B5EF4-FFF2-40B4-BE49-F238E27FC236}">
                <a16:creationId xmlns:a16="http://schemas.microsoft.com/office/drawing/2014/main" id="{C49DFC0B-3450-4F45-A70E-1400882AB70E}"/>
              </a:ext>
            </a:extLst>
          </p:cNvPr>
          <p:cNvSpPr>
            <a:spLocks xmlns:a="http://schemas.openxmlformats.org/drawingml/2006/main" noGrp="1"/>
          </p:cNvSpPr>
          <p:nvPr/>
        </p:nvSpPr>
        <p:spPr>
          <a:xfrm xmlns:a="http://schemas.openxmlformats.org/drawingml/2006/main">
            <a:off x="4419600" y="323850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41" name="">
            <a:extLst xmlns:a="http://schemas.openxmlformats.org/drawingml/2006/main">
              <a:ext uri="{FF2B5EF4-FFF2-40B4-BE49-F238E27FC236}">
                <a16:creationId xmlns:a16="http://schemas.microsoft.com/office/drawing/2014/main" id="{2FECE134-1D98-45E1-B60B-340AAE74ACB3}"/>
              </a:ext>
            </a:extLst>
          </p:cNvPr>
          <p:cNvSpPr>
            <a:spLocks xmlns:a="http://schemas.openxmlformats.org/drawingml/2006/main" noGrp="1"/>
          </p:cNvSpPr>
          <p:nvPr/>
        </p:nvSpPr>
        <p:spPr>
          <a:xfrm xmlns:a="http://schemas.openxmlformats.org/drawingml/2006/main">
            <a:off x="4953000" y="3124200"/>
            <a:ext cx="173355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6DADF"/>
            </a:solidFill>
            <a:prstDash val="solid"/>
          </a:ln>
        </p:spPr>
      </p:sp>
      <p:sp>
        <p:nvSpPr>
          <p:cNvPr id="42" name="">
            <a:extLst xmlns:a="http://schemas.openxmlformats.org/drawingml/2006/main">
              <a:ext uri="{FF2B5EF4-FFF2-40B4-BE49-F238E27FC236}">
                <a16:creationId xmlns:a16="http://schemas.microsoft.com/office/drawing/2014/main" id="{1DB4E1EB-7CB7-4C24-97CA-C8E0938E92E7}"/>
              </a:ext>
            </a:extLst>
          </p:cNvPr>
          <p:cNvSpPr>
            <a:spLocks xmlns:a="http://schemas.openxmlformats.org/drawingml/2006/main" noGrp="1"/>
          </p:cNvSpPr>
          <p:nvPr/>
        </p:nvSpPr>
        <p:spPr>
          <a:xfrm xmlns:a="http://schemas.openxmlformats.org/drawingml/2006/main">
            <a:off x="4953000" y="3124200"/>
            <a:ext cx="173355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43" name="">
            <a:extLst xmlns:a="http://schemas.openxmlformats.org/drawingml/2006/main">
              <a:ext uri="{FF2B5EF4-FFF2-40B4-BE49-F238E27FC236}">
                <a16:creationId xmlns:a16="http://schemas.microsoft.com/office/drawing/2014/main" id="{82E3E808-B798-4644-8605-91701D9E204D}"/>
              </a:ext>
            </a:extLst>
          </p:cNvPr>
          <p:cNvSpPr>
            <a:spLocks xmlns:a="http://schemas.openxmlformats.org/drawingml/2006/main" noGrp="1"/>
          </p:cNvSpPr>
          <p:nvPr/>
        </p:nvSpPr>
        <p:spPr>
          <a:xfrm xmlns:a="http://schemas.openxmlformats.org/drawingml/2006/main">
            <a:off x="5086350" y="3276600"/>
            <a:ext cx="1466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Logs / Events</a:t>
            </a:r>
          </a:p>
        </p:txBody>
      </p:sp>
      <p:sp>
        <p:nvSpPr>
          <p:cNvPr id="44" name="">
            <a:extLst xmlns:a="http://schemas.openxmlformats.org/drawingml/2006/main">
              <a:ext uri="{FF2B5EF4-FFF2-40B4-BE49-F238E27FC236}">
                <a16:creationId xmlns:a16="http://schemas.microsoft.com/office/drawing/2014/main" id="{0942ACFC-D079-4243-B6D9-0187A82C8217}"/>
              </a:ext>
            </a:extLst>
          </p:cNvPr>
          <p:cNvSpPr>
            <a:spLocks xmlns:a="http://schemas.openxmlformats.org/drawingml/2006/main" noGrp="1"/>
          </p:cNvSpPr>
          <p:nvPr/>
        </p:nvSpPr>
        <p:spPr>
          <a:xfrm xmlns:a="http://schemas.openxmlformats.org/drawingml/2006/main">
            <a:off x="5086350" y="3581400"/>
            <a:ext cx="1466850" cy="-19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Rich incident evidence.</a:t>
            </a:r>
          </a:p>
        </p:txBody>
      </p:sp>
      <p:sp>
        <p:nvSpPr>
          <p:cNvPr id="45" name="">
            <a:extLst xmlns:a="http://schemas.openxmlformats.org/drawingml/2006/main">
              <a:ext uri="{FF2B5EF4-FFF2-40B4-BE49-F238E27FC236}">
                <a16:creationId xmlns:a16="http://schemas.microsoft.com/office/drawing/2014/main" id="{11228C0A-1059-41C9-8EF2-51249A7FEAD8}"/>
              </a:ext>
            </a:extLst>
          </p:cNvPr>
          <p:cNvSpPr>
            <a:spLocks xmlns:a="http://schemas.openxmlformats.org/drawingml/2006/main" noGrp="1"/>
          </p:cNvSpPr>
          <p:nvPr/>
        </p:nvSpPr>
        <p:spPr>
          <a:xfrm xmlns:a="http://schemas.openxmlformats.org/drawingml/2006/main">
            <a:off x="6381750" y="323850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46" name="">
            <a:extLst xmlns:a="http://schemas.openxmlformats.org/drawingml/2006/main">
              <a:ext uri="{FF2B5EF4-FFF2-40B4-BE49-F238E27FC236}">
                <a16:creationId xmlns:a16="http://schemas.microsoft.com/office/drawing/2014/main" id="{539C572D-FE3B-4930-AA6B-B65CCFF04EED}"/>
              </a:ext>
            </a:extLst>
          </p:cNvPr>
          <p:cNvSpPr>
            <a:spLocks xmlns:a="http://schemas.openxmlformats.org/drawingml/2006/main" noGrp="1"/>
          </p:cNvSpPr>
          <p:nvPr/>
        </p:nvSpPr>
        <p:spPr>
          <a:xfrm xmlns:a="http://schemas.openxmlformats.org/drawingml/2006/main">
            <a:off x="6781800" y="32385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47" name="">
            <a:extLst xmlns:a="http://schemas.openxmlformats.org/drawingml/2006/main">
              <a:ext uri="{FF2B5EF4-FFF2-40B4-BE49-F238E27FC236}">
                <a16:creationId xmlns:a16="http://schemas.microsoft.com/office/drawing/2014/main" id="{1994C34F-574C-4207-B824-7C89F8ADD8CA}"/>
              </a:ext>
            </a:extLst>
          </p:cNvPr>
          <p:cNvSpPr>
            <a:spLocks xmlns:a="http://schemas.openxmlformats.org/drawingml/2006/main" noGrp="1"/>
          </p:cNvSpPr>
          <p:nvPr/>
        </p:nvSpPr>
        <p:spPr>
          <a:xfrm xmlns:a="http://schemas.openxmlformats.org/drawingml/2006/main">
            <a:off x="7200900" y="3009900"/>
            <a:ext cx="238125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6DADF"/>
            </a:solidFill>
            <a:prstDash val="solid"/>
          </a:ln>
        </p:spPr>
      </p:sp>
      <p:sp>
        <p:nvSpPr>
          <p:cNvPr id="48" name="">
            <a:extLst xmlns:a="http://schemas.openxmlformats.org/drawingml/2006/main">
              <a:ext uri="{FF2B5EF4-FFF2-40B4-BE49-F238E27FC236}">
                <a16:creationId xmlns:a16="http://schemas.microsoft.com/office/drawing/2014/main" id="{51D8DEEA-1541-496B-A2B1-E07FD552072F}"/>
              </a:ext>
            </a:extLst>
          </p:cNvPr>
          <p:cNvSpPr>
            <a:spLocks xmlns:a="http://schemas.openxmlformats.org/drawingml/2006/main" noGrp="1"/>
          </p:cNvSpPr>
          <p:nvPr/>
        </p:nvSpPr>
        <p:spPr>
          <a:xfrm xmlns:a="http://schemas.openxmlformats.org/drawingml/2006/main">
            <a:off x="7200900" y="3009900"/>
            <a:ext cx="238125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49" name="">
            <a:extLst xmlns:a="http://schemas.openxmlformats.org/drawingml/2006/main">
              <a:ext uri="{FF2B5EF4-FFF2-40B4-BE49-F238E27FC236}">
                <a16:creationId xmlns:a16="http://schemas.microsoft.com/office/drawing/2014/main" id="{FC2E3A3F-B169-40DC-9868-61877AA59CA4}"/>
              </a:ext>
            </a:extLst>
          </p:cNvPr>
          <p:cNvSpPr>
            <a:spLocks xmlns:a="http://schemas.openxmlformats.org/drawingml/2006/main" noGrp="1"/>
          </p:cNvSpPr>
          <p:nvPr/>
        </p:nvSpPr>
        <p:spPr>
          <a:xfrm xmlns:a="http://schemas.openxmlformats.org/drawingml/2006/main">
            <a:off x="7334250" y="3162300"/>
            <a:ext cx="2114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Signal Detection</a:t>
            </a:r>
          </a:p>
        </p:txBody>
      </p:sp>
      <p:sp>
        <p:nvSpPr>
          <p:cNvPr id="50" name="">
            <a:extLst xmlns:a="http://schemas.openxmlformats.org/drawingml/2006/main">
              <a:ext uri="{FF2B5EF4-FFF2-40B4-BE49-F238E27FC236}">
                <a16:creationId xmlns:a16="http://schemas.microsoft.com/office/drawing/2014/main" id="{C9158919-FFF1-40FE-A152-974D0748D708}"/>
              </a:ext>
            </a:extLst>
          </p:cNvPr>
          <p:cNvSpPr>
            <a:spLocks xmlns:a="http://schemas.openxmlformats.org/drawingml/2006/main" noGrp="1"/>
          </p:cNvSpPr>
          <p:nvPr/>
        </p:nvSpPr>
        <p:spPr>
          <a:xfrm xmlns:a="http://schemas.openxmlformats.org/drawingml/2006/main">
            <a:off x="7334250" y="3467100"/>
            <a:ext cx="21145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Detects patterns worth escalating into an incident.</a:t>
            </a:r>
          </a:p>
        </p:txBody>
      </p:sp>
      <p:sp>
        <p:nvSpPr>
          <p:cNvPr id="51" name="">
            <a:extLst xmlns:a="http://schemas.openxmlformats.org/drawingml/2006/main">
              <a:ext uri="{FF2B5EF4-FFF2-40B4-BE49-F238E27FC236}">
                <a16:creationId xmlns:a16="http://schemas.microsoft.com/office/drawing/2014/main" id="{A9C09CDB-0A48-4CE7-AD43-97DCB584F663}"/>
              </a:ext>
            </a:extLst>
          </p:cNvPr>
          <p:cNvSpPr>
            <a:spLocks xmlns:a="http://schemas.openxmlformats.org/drawingml/2006/main" noGrp="1"/>
          </p:cNvSpPr>
          <p:nvPr/>
        </p:nvSpPr>
        <p:spPr>
          <a:xfrm xmlns:a="http://schemas.openxmlformats.org/drawingml/2006/main">
            <a:off x="9277350" y="312420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52" name="">
            <a:extLst xmlns:a="http://schemas.openxmlformats.org/drawingml/2006/main">
              <a:ext uri="{FF2B5EF4-FFF2-40B4-BE49-F238E27FC236}">
                <a16:creationId xmlns:a16="http://schemas.microsoft.com/office/drawing/2014/main" id="{517D2BA8-9F14-46F3-AE53-13102681C96A}"/>
              </a:ext>
            </a:extLst>
          </p:cNvPr>
          <p:cNvSpPr>
            <a:spLocks xmlns:a="http://schemas.openxmlformats.org/drawingml/2006/main" noGrp="1"/>
          </p:cNvSpPr>
          <p:nvPr/>
        </p:nvSpPr>
        <p:spPr>
          <a:xfrm xmlns:a="http://schemas.openxmlformats.org/drawingml/2006/main">
            <a:off x="9658350" y="32385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53" name="">
            <a:extLst xmlns:a="http://schemas.openxmlformats.org/drawingml/2006/main">
              <a:ext uri="{FF2B5EF4-FFF2-40B4-BE49-F238E27FC236}">
                <a16:creationId xmlns:a16="http://schemas.microsoft.com/office/drawing/2014/main" id="{5222263F-E6DF-4175-9418-81020BE7D973}"/>
              </a:ext>
            </a:extLst>
          </p:cNvPr>
          <p:cNvSpPr>
            <a:spLocks xmlns:a="http://schemas.openxmlformats.org/drawingml/2006/main" noGrp="1"/>
          </p:cNvSpPr>
          <p:nvPr/>
        </p:nvSpPr>
        <p:spPr>
          <a:xfrm xmlns:a="http://schemas.openxmlformats.org/drawingml/2006/main">
            <a:off x="10077450" y="3124200"/>
            <a:ext cx="112395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6DADF"/>
            </a:solidFill>
            <a:prstDash val="solid"/>
          </a:ln>
        </p:spPr>
      </p:sp>
      <p:sp>
        <p:nvSpPr>
          <p:cNvPr id="54" name="">
            <a:extLst xmlns:a="http://schemas.openxmlformats.org/drawingml/2006/main">
              <a:ext uri="{FF2B5EF4-FFF2-40B4-BE49-F238E27FC236}">
                <a16:creationId xmlns:a16="http://schemas.microsoft.com/office/drawing/2014/main" id="{7B956284-1E35-4769-9687-6FDEBC144ED7}"/>
              </a:ext>
            </a:extLst>
          </p:cNvPr>
          <p:cNvSpPr>
            <a:spLocks xmlns:a="http://schemas.openxmlformats.org/drawingml/2006/main" noGrp="1"/>
          </p:cNvSpPr>
          <p:nvPr/>
        </p:nvSpPr>
        <p:spPr>
          <a:xfrm xmlns:a="http://schemas.openxmlformats.org/drawingml/2006/main">
            <a:off x="10077450" y="3124200"/>
            <a:ext cx="112395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55" name="">
            <a:extLst xmlns:a="http://schemas.openxmlformats.org/drawingml/2006/main">
              <a:ext uri="{FF2B5EF4-FFF2-40B4-BE49-F238E27FC236}">
                <a16:creationId xmlns:a16="http://schemas.microsoft.com/office/drawing/2014/main" id="{0A22484D-D717-4C99-B677-97AFB82FCB64}"/>
              </a:ext>
            </a:extLst>
          </p:cNvPr>
          <p:cNvSpPr>
            <a:spLocks xmlns:a="http://schemas.openxmlformats.org/drawingml/2006/main" noGrp="1"/>
          </p:cNvSpPr>
          <p:nvPr/>
        </p:nvSpPr>
        <p:spPr>
          <a:xfrm xmlns:a="http://schemas.openxmlformats.org/drawingml/2006/main">
            <a:off x="10210800" y="3276600"/>
            <a:ext cx="857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Dashboards</a:t>
            </a:r>
          </a:p>
        </p:txBody>
      </p:sp>
      <p:sp>
        <p:nvSpPr>
          <p:cNvPr id="56" name="">
            <a:extLst xmlns:a="http://schemas.openxmlformats.org/drawingml/2006/main">
              <a:ext uri="{FF2B5EF4-FFF2-40B4-BE49-F238E27FC236}">
                <a16:creationId xmlns:a16="http://schemas.microsoft.com/office/drawing/2014/main" id="{0F3F9A07-F806-4A29-84FA-84F68B11F5B8}"/>
              </a:ext>
            </a:extLst>
          </p:cNvPr>
          <p:cNvSpPr>
            <a:spLocks xmlns:a="http://schemas.openxmlformats.org/drawingml/2006/main" noGrp="1"/>
          </p:cNvSpPr>
          <p:nvPr/>
        </p:nvSpPr>
        <p:spPr>
          <a:xfrm xmlns:a="http://schemas.openxmlformats.org/drawingml/2006/main">
            <a:off x="10210800" y="3581400"/>
            <a:ext cx="857250" cy="-19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Operator visibility.</a:t>
            </a:r>
          </a:p>
        </p:txBody>
      </p:sp>
      <p:sp>
        <p:nvSpPr>
          <p:cNvPr id="57" name="">
            <a:extLst xmlns:a="http://schemas.openxmlformats.org/drawingml/2006/main">
              <a:ext uri="{FF2B5EF4-FFF2-40B4-BE49-F238E27FC236}">
                <a16:creationId xmlns:a16="http://schemas.microsoft.com/office/drawing/2014/main" id="{F17EDCE7-5AF9-4835-ABBA-F28354AB3CDE}"/>
              </a:ext>
            </a:extLst>
          </p:cNvPr>
          <p:cNvSpPr>
            <a:spLocks xmlns:a="http://schemas.openxmlformats.org/drawingml/2006/main" noGrp="1"/>
          </p:cNvSpPr>
          <p:nvPr/>
        </p:nvSpPr>
        <p:spPr>
          <a:xfrm xmlns:a="http://schemas.openxmlformats.org/drawingml/2006/main">
            <a:off x="10896600" y="323850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58" name="">
            <a:extLst xmlns:a="http://schemas.openxmlformats.org/drawingml/2006/main">
              <a:ext uri="{FF2B5EF4-FFF2-40B4-BE49-F238E27FC236}">
                <a16:creationId xmlns:a16="http://schemas.microsoft.com/office/drawing/2014/main" id="{54906576-F3C3-48B8-8162-857752478778}"/>
              </a:ext>
            </a:extLst>
          </p:cNvPr>
          <p:cNvSpPr>
            <a:spLocks xmlns:a="http://schemas.openxmlformats.org/drawingml/2006/main" noGrp="1"/>
          </p:cNvSpPr>
          <p:nvPr/>
        </p:nvSpPr>
        <p:spPr>
          <a:xfrm xmlns:a="http://schemas.openxmlformats.org/drawingml/2006/main">
            <a:off x="647700" y="4057650"/>
            <a:ext cx="10896600" cy="2038350"/>
          </a:xfrm>
          <a:prstGeom xmlns:a="http://schemas.openxmlformats.org/drawingml/2006/main" prst="roundRect">
            <a:avLst>
              <a:gd name="adj" fmla="val 3738"/>
            </a:avLst>
          </a:prstGeom>
          <a:solidFill xmlns:a="http://schemas.openxmlformats.org/drawingml/2006/main">
            <a:srgbClr val="FFF1E8"/>
          </a:solidFill>
          <a:ln xmlns:a="http://schemas.openxmlformats.org/drawingml/2006/main" w="9525">
            <a:solidFill>
              <a:srgbClr val="D6DADF"/>
            </a:solidFill>
            <a:prstDash val="solid"/>
          </a:ln>
        </p:spPr>
      </p:sp>
      <p:sp>
        <p:nvSpPr>
          <p:cNvPr id="59" name="">
            <a:extLst xmlns:a="http://schemas.openxmlformats.org/drawingml/2006/main">
              <a:ext uri="{FF2B5EF4-FFF2-40B4-BE49-F238E27FC236}">
                <a16:creationId xmlns:a16="http://schemas.microsoft.com/office/drawing/2014/main" id="{AFBCCE63-D31B-4537-AA00-5F1B9F7341D6}"/>
              </a:ext>
            </a:extLst>
          </p:cNvPr>
          <p:cNvSpPr>
            <a:spLocks xmlns:a="http://schemas.openxmlformats.org/drawingml/2006/main" noGrp="1"/>
          </p:cNvSpPr>
          <p:nvPr/>
        </p:nvSpPr>
        <p:spPr>
          <a:xfrm xmlns:a="http://schemas.openxmlformats.org/drawingml/2006/main">
            <a:off x="819150" y="4171950"/>
            <a:ext cx="1714500" cy="266700"/>
          </a:xfrm>
          <a:prstGeom xmlns:a="http://schemas.openxmlformats.org/drawingml/2006/main" prst="roundRect">
            <a:avLst>
              <a:gd name="adj" fmla="val 28571"/>
            </a:avLst>
          </a:prstGeom>
          <a:solidFill xmlns:a="http://schemas.openxmlformats.org/drawingml/2006/main">
            <a:srgbClr val="F0883E"/>
          </a:solidFill>
          <a:ln xmlns:a="http://schemas.openxmlformats.org/drawingml/2006/main" w="0">
            <a:solidFill>
              <a:srgbClr val="F0883E"/>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AI Ops Control Plane</a:t>
            </a:r>
          </a:p>
        </p:txBody>
      </p:sp>
      <p:sp>
        <p:nvSpPr>
          <p:cNvPr id="60" name="">
            <a:extLst xmlns:a="http://schemas.openxmlformats.org/drawingml/2006/main">
              <a:ext uri="{FF2B5EF4-FFF2-40B4-BE49-F238E27FC236}">
                <a16:creationId xmlns:a16="http://schemas.microsoft.com/office/drawing/2014/main" id="{FF3276EB-88DA-4536-A785-C1E501C1FFE2}"/>
              </a:ext>
            </a:extLst>
          </p:cNvPr>
          <p:cNvSpPr>
            <a:spLocks xmlns:a="http://schemas.openxmlformats.org/drawingml/2006/main" noGrp="1"/>
          </p:cNvSpPr>
          <p:nvPr/>
        </p:nvSpPr>
        <p:spPr>
          <a:xfrm xmlns:a="http://schemas.openxmlformats.org/drawingml/2006/main">
            <a:off x="895350" y="4438650"/>
            <a:ext cx="1714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61" name="">
            <a:extLst xmlns:a="http://schemas.openxmlformats.org/drawingml/2006/main">
              <a:ext uri="{FF2B5EF4-FFF2-40B4-BE49-F238E27FC236}">
                <a16:creationId xmlns:a16="http://schemas.microsoft.com/office/drawing/2014/main" id="{5C90B098-4FC1-43E9-832E-9EB2C2948642}"/>
              </a:ext>
            </a:extLst>
          </p:cNvPr>
          <p:cNvSpPr>
            <a:spLocks xmlns:a="http://schemas.openxmlformats.org/drawingml/2006/main" noGrp="1"/>
          </p:cNvSpPr>
          <p:nvPr/>
        </p:nvSpPr>
        <p:spPr>
          <a:xfrm xmlns:a="http://schemas.openxmlformats.org/drawingml/2006/main">
            <a:off x="895350" y="4438650"/>
            <a:ext cx="1714500" cy="76200"/>
          </a:xfrm>
          <a:prstGeom xmlns:a="http://schemas.openxmlformats.org/drawingml/2006/main" prst="roundRect">
            <a:avLst>
              <a:gd name="adj" fmla="val 50000"/>
            </a:avLst>
          </a:prstGeom>
          <a:solidFill xmlns:a="http://schemas.openxmlformats.org/drawingml/2006/main">
            <a:srgbClr val="F0883E"/>
          </a:solidFill>
          <a:ln xmlns:a="http://schemas.openxmlformats.org/drawingml/2006/main" w="0">
            <a:solidFill>
              <a:srgbClr val="F0883E"/>
            </a:solidFill>
            <a:prstDash val="solid"/>
          </a:ln>
        </p:spPr>
      </p:sp>
      <p:sp>
        <p:nvSpPr>
          <p:cNvPr id="62" name="">
            <a:extLst xmlns:a="http://schemas.openxmlformats.org/drawingml/2006/main">
              <a:ext uri="{FF2B5EF4-FFF2-40B4-BE49-F238E27FC236}">
                <a16:creationId xmlns:a16="http://schemas.microsoft.com/office/drawing/2014/main" id="{91906029-BAB0-4ADA-BEE9-D046B69BEDE2}"/>
              </a:ext>
            </a:extLst>
          </p:cNvPr>
          <p:cNvSpPr>
            <a:spLocks xmlns:a="http://schemas.openxmlformats.org/drawingml/2006/main" noGrp="1"/>
          </p:cNvSpPr>
          <p:nvPr/>
        </p:nvSpPr>
        <p:spPr>
          <a:xfrm xmlns:a="http://schemas.openxmlformats.org/drawingml/2006/main">
            <a:off x="1028700" y="4591050"/>
            <a:ext cx="1447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Incident Intelligence</a:t>
            </a:r>
          </a:p>
        </p:txBody>
      </p:sp>
      <p:sp>
        <p:nvSpPr>
          <p:cNvPr id="63" name="">
            <a:extLst xmlns:a="http://schemas.openxmlformats.org/drawingml/2006/main">
              <a:ext uri="{FF2B5EF4-FFF2-40B4-BE49-F238E27FC236}">
                <a16:creationId xmlns:a16="http://schemas.microsoft.com/office/drawing/2014/main" id="{E9EB6CA2-4737-4C58-B107-35B970CA8BC5}"/>
              </a:ext>
            </a:extLst>
          </p:cNvPr>
          <p:cNvSpPr>
            <a:spLocks xmlns:a="http://schemas.openxmlformats.org/drawingml/2006/main" noGrp="1"/>
          </p:cNvSpPr>
          <p:nvPr/>
        </p:nvSpPr>
        <p:spPr>
          <a:xfrm xmlns:a="http://schemas.openxmlformats.org/drawingml/2006/main">
            <a:off x="1028700" y="4895850"/>
            <a:ext cx="1447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Diagnostics, incident packet, RLM analysis, and owner mapping.</a:t>
            </a:r>
          </a:p>
        </p:txBody>
      </p:sp>
      <p:sp>
        <p:nvSpPr>
          <p:cNvPr id="64" name="">
            <a:extLst xmlns:a="http://schemas.openxmlformats.org/drawingml/2006/main">
              <a:ext uri="{FF2B5EF4-FFF2-40B4-BE49-F238E27FC236}">
                <a16:creationId xmlns:a16="http://schemas.microsoft.com/office/drawing/2014/main" id="{BDDC2924-8EA0-4325-B1D8-6A98CFAAA18A}"/>
              </a:ext>
            </a:extLst>
          </p:cNvPr>
          <p:cNvSpPr>
            <a:spLocks xmlns:a="http://schemas.openxmlformats.org/drawingml/2006/main" noGrp="1"/>
          </p:cNvSpPr>
          <p:nvPr/>
        </p:nvSpPr>
        <p:spPr>
          <a:xfrm xmlns:a="http://schemas.openxmlformats.org/drawingml/2006/main">
            <a:off x="2305050" y="4552950"/>
            <a:ext cx="152400" cy="152400"/>
          </a:xfrm>
          <a:prstGeom xmlns:a="http://schemas.openxmlformats.org/drawingml/2006/main" prst="roundRect">
            <a:avLst>
              <a:gd name="adj" fmla="val 50000"/>
            </a:avLst>
          </a:prstGeom>
          <a:solidFill xmlns:a="http://schemas.openxmlformats.org/drawingml/2006/main">
            <a:srgbClr val="FFF1E8"/>
          </a:solidFill>
          <a:ln xmlns:a="http://schemas.openxmlformats.org/drawingml/2006/main" w="9525">
            <a:solidFill>
              <a:srgbClr val="F0883E"/>
            </a:solidFill>
            <a:prstDash val="solid"/>
          </a:ln>
        </p:spPr>
      </p:sp>
      <p:sp>
        <p:nvSpPr>
          <p:cNvPr id="65" name="">
            <a:extLst xmlns:a="http://schemas.openxmlformats.org/drawingml/2006/main">
              <a:ext uri="{FF2B5EF4-FFF2-40B4-BE49-F238E27FC236}">
                <a16:creationId xmlns:a16="http://schemas.microsoft.com/office/drawing/2014/main" id="{983AA826-1D97-451B-AF56-D08563FFDD43}"/>
              </a:ext>
            </a:extLst>
          </p:cNvPr>
          <p:cNvSpPr>
            <a:spLocks xmlns:a="http://schemas.openxmlformats.org/drawingml/2006/main" noGrp="1"/>
          </p:cNvSpPr>
          <p:nvPr/>
        </p:nvSpPr>
        <p:spPr>
          <a:xfrm xmlns:a="http://schemas.openxmlformats.org/drawingml/2006/main">
            <a:off x="2667000" y="47244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66" name="">
            <a:extLst xmlns:a="http://schemas.openxmlformats.org/drawingml/2006/main">
              <a:ext uri="{FF2B5EF4-FFF2-40B4-BE49-F238E27FC236}">
                <a16:creationId xmlns:a16="http://schemas.microsoft.com/office/drawing/2014/main" id="{1C91F081-EDF5-4680-AB69-E10CF503F40A}"/>
              </a:ext>
            </a:extLst>
          </p:cNvPr>
          <p:cNvSpPr>
            <a:spLocks xmlns:a="http://schemas.openxmlformats.org/drawingml/2006/main" noGrp="1"/>
          </p:cNvSpPr>
          <p:nvPr/>
        </p:nvSpPr>
        <p:spPr>
          <a:xfrm xmlns:a="http://schemas.openxmlformats.org/drawingml/2006/main">
            <a:off x="3086100" y="4438650"/>
            <a:ext cx="16192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67" name="">
            <a:extLst xmlns:a="http://schemas.openxmlformats.org/drawingml/2006/main">
              <a:ext uri="{FF2B5EF4-FFF2-40B4-BE49-F238E27FC236}">
                <a16:creationId xmlns:a16="http://schemas.microsoft.com/office/drawing/2014/main" id="{93DA42AA-6A7D-49AD-AEA6-B07C3C76DAC9}"/>
              </a:ext>
            </a:extLst>
          </p:cNvPr>
          <p:cNvSpPr>
            <a:spLocks xmlns:a="http://schemas.openxmlformats.org/drawingml/2006/main" noGrp="1"/>
          </p:cNvSpPr>
          <p:nvPr/>
        </p:nvSpPr>
        <p:spPr>
          <a:xfrm xmlns:a="http://schemas.openxmlformats.org/drawingml/2006/main">
            <a:off x="3086100" y="4438650"/>
            <a:ext cx="1619250" cy="76200"/>
          </a:xfrm>
          <a:prstGeom xmlns:a="http://schemas.openxmlformats.org/drawingml/2006/main" prst="roundRect">
            <a:avLst>
              <a:gd name="adj" fmla="val 50000"/>
            </a:avLst>
          </a:prstGeom>
          <a:solidFill xmlns:a="http://schemas.openxmlformats.org/drawingml/2006/main">
            <a:srgbClr val="F0883E"/>
          </a:solidFill>
          <a:ln xmlns:a="http://schemas.openxmlformats.org/drawingml/2006/main" w="0">
            <a:solidFill>
              <a:srgbClr val="F0883E"/>
            </a:solidFill>
            <a:prstDash val="solid"/>
          </a:ln>
        </p:spPr>
      </p:sp>
      <p:sp>
        <p:nvSpPr>
          <p:cNvPr id="68" name="">
            <a:extLst xmlns:a="http://schemas.openxmlformats.org/drawingml/2006/main">
              <a:ext uri="{FF2B5EF4-FFF2-40B4-BE49-F238E27FC236}">
                <a16:creationId xmlns:a16="http://schemas.microsoft.com/office/drawing/2014/main" id="{52C58E08-D9E8-436D-AB0D-115DC5E405E7}"/>
              </a:ext>
            </a:extLst>
          </p:cNvPr>
          <p:cNvSpPr>
            <a:spLocks xmlns:a="http://schemas.openxmlformats.org/drawingml/2006/main" noGrp="1"/>
          </p:cNvSpPr>
          <p:nvPr/>
        </p:nvSpPr>
        <p:spPr>
          <a:xfrm xmlns:a="http://schemas.openxmlformats.org/drawingml/2006/main">
            <a:off x="3219450" y="4591050"/>
            <a:ext cx="1352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Runbook + Eval</a:t>
            </a:r>
          </a:p>
        </p:txBody>
      </p:sp>
      <p:sp>
        <p:nvSpPr>
          <p:cNvPr id="69" name="">
            <a:extLst xmlns:a="http://schemas.openxmlformats.org/drawingml/2006/main">
              <a:ext uri="{FF2B5EF4-FFF2-40B4-BE49-F238E27FC236}">
                <a16:creationId xmlns:a16="http://schemas.microsoft.com/office/drawing/2014/main" id="{AF2AD6D8-97B5-42E2-9FEF-CDA7A5B0873C}"/>
              </a:ext>
            </a:extLst>
          </p:cNvPr>
          <p:cNvSpPr>
            <a:spLocks xmlns:a="http://schemas.openxmlformats.org/drawingml/2006/main" noGrp="1"/>
          </p:cNvSpPr>
          <p:nvPr/>
        </p:nvSpPr>
        <p:spPr>
          <a:xfrm xmlns:a="http://schemas.openxmlformats.org/drawingml/2006/main">
            <a:off x="3219450" y="4895850"/>
            <a:ext cx="1352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Candidate fix, rollout guardrails, and test dataset.</a:t>
            </a:r>
          </a:p>
        </p:txBody>
      </p:sp>
      <p:sp>
        <p:nvSpPr>
          <p:cNvPr id="70" name="">
            <a:extLst xmlns:a="http://schemas.openxmlformats.org/drawingml/2006/main">
              <a:ext uri="{FF2B5EF4-FFF2-40B4-BE49-F238E27FC236}">
                <a16:creationId xmlns:a16="http://schemas.microsoft.com/office/drawing/2014/main" id="{7F4F231B-7128-4DDD-8A48-CFFCF23F2AD5}"/>
              </a:ext>
            </a:extLst>
          </p:cNvPr>
          <p:cNvSpPr>
            <a:spLocks xmlns:a="http://schemas.openxmlformats.org/drawingml/2006/main" noGrp="1"/>
          </p:cNvSpPr>
          <p:nvPr/>
        </p:nvSpPr>
        <p:spPr>
          <a:xfrm xmlns:a="http://schemas.openxmlformats.org/drawingml/2006/main">
            <a:off x="4400550" y="4552950"/>
            <a:ext cx="152400" cy="152400"/>
          </a:xfrm>
          <a:prstGeom xmlns:a="http://schemas.openxmlformats.org/drawingml/2006/main" prst="roundRect">
            <a:avLst>
              <a:gd name="adj" fmla="val 50000"/>
            </a:avLst>
          </a:prstGeom>
          <a:solidFill xmlns:a="http://schemas.openxmlformats.org/drawingml/2006/main">
            <a:srgbClr val="FFF1E8"/>
          </a:solidFill>
          <a:ln xmlns:a="http://schemas.openxmlformats.org/drawingml/2006/main" w="9525">
            <a:solidFill>
              <a:srgbClr val="F0883E"/>
            </a:solidFill>
            <a:prstDash val="solid"/>
          </a:ln>
        </p:spPr>
      </p:sp>
      <p:sp>
        <p:nvSpPr>
          <p:cNvPr id="71" name="">
            <a:extLst xmlns:a="http://schemas.openxmlformats.org/drawingml/2006/main">
              <a:ext uri="{FF2B5EF4-FFF2-40B4-BE49-F238E27FC236}">
                <a16:creationId xmlns:a16="http://schemas.microsoft.com/office/drawing/2014/main" id="{BA6AED96-0176-42D6-9F4E-60B3CF05DC8A}"/>
              </a:ext>
            </a:extLst>
          </p:cNvPr>
          <p:cNvSpPr>
            <a:spLocks xmlns:a="http://schemas.openxmlformats.org/drawingml/2006/main" noGrp="1"/>
          </p:cNvSpPr>
          <p:nvPr/>
        </p:nvSpPr>
        <p:spPr>
          <a:xfrm xmlns:a="http://schemas.openxmlformats.org/drawingml/2006/main">
            <a:off x="4762500" y="47244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72" name="">
            <a:extLst xmlns:a="http://schemas.openxmlformats.org/drawingml/2006/main">
              <a:ext uri="{FF2B5EF4-FFF2-40B4-BE49-F238E27FC236}">
                <a16:creationId xmlns:a16="http://schemas.microsoft.com/office/drawing/2014/main" id="{77DFBEAD-26FC-462E-9CDB-786662732F0D}"/>
              </a:ext>
            </a:extLst>
          </p:cNvPr>
          <p:cNvSpPr>
            <a:spLocks xmlns:a="http://schemas.openxmlformats.org/drawingml/2006/main" noGrp="1"/>
          </p:cNvSpPr>
          <p:nvPr/>
        </p:nvSpPr>
        <p:spPr>
          <a:xfrm xmlns:a="http://schemas.openxmlformats.org/drawingml/2006/main">
            <a:off x="5181600" y="4438650"/>
            <a:ext cx="14859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73" name="">
            <a:extLst xmlns:a="http://schemas.openxmlformats.org/drawingml/2006/main">
              <a:ext uri="{FF2B5EF4-FFF2-40B4-BE49-F238E27FC236}">
                <a16:creationId xmlns:a16="http://schemas.microsoft.com/office/drawing/2014/main" id="{DE16081B-AA7E-4242-86FC-96F38F3EC75A}"/>
              </a:ext>
            </a:extLst>
          </p:cNvPr>
          <p:cNvSpPr>
            <a:spLocks xmlns:a="http://schemas.openxmlformats.org/drawingml/2006/main" noGrp="1"/>
          </p:cNvSpPr>
          <p:nvPr/>
        </p:nvSpPr>
        <p:spPr>
          <a:xfrm xmlns:a="http://schemas.openxmlformats.org/drawingml/2006/main">
            <a:off x="5181600" y="4438650"/>
            <a:ext cx="1485900" cy="76200"/>
          </a:xfrm>
          <a:prstGeom xmlns:a="http://schemas.openxmlformats.org/drawingml/2006/main" prst="roundRect">
            <a:avLst>
              <a:gd name="adj" fmla="val 50000"/>
            </a:avLst>
          </a:prstGeom>
          <a:solidFill xmlns:a="http://schemas.openxmlformats.org/drawingml/2006/main">
            <a:srgbClr val="F0883E"/>
          </a:solidFill>
          <a:ln xmlns:a="http://schemas.openxmlformats.org/drawingml/2006/main" w="0">
            <a:solidFill>
              <a:srgbClr val="F0883E"/>
            </a:solidFill>
            <a:prstDash val="solid"/>
          </a:ln>
        </p:spPr>
      </p:sp>
      <p:sp>
        <p:nvSpPr>
          <p:cNvPr id="74" name="">
            <a:extLst xmlns:a="http://schemas.openxmlformats.org/drawingml/2006/main">
              <a:ext uri="{FF2B5EF4-FFF2-40B4-BE49-F238E27FC236}">
                <a16:creationId xmlns:a16="http://schemas.microsoft.com/office/drawing/2014/main" id="{490B738F-62E5-402A-A328-5300971ACCD8}"/>
              </a:ext>
            </a:extLst>
          </p:cNvPr>
          <p:cNvSpPr>
            <a:spLocks xmlns:a="http://schemas.openxmlformats.org/drawingml/2006/main" noGrp="1"/>
          </p:cNvSpPr>
          <p:nvPr/>
        </p:nvSpPr>
        <p:spPr>
          <a:xfrm xmlns:a="http://schemas.openxmlformats.org/drawingml/2006/main">
            <a:off x="5314950" y="4591050"/>
            <a:ext cx="1219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Human Approval</a:t>
            </a:r>
          </a:p>
        </p:txBody>
      </p:sp>
      <p:sp>
        <p:nvSpPr>
          <p:cNvPr id="75" name="">
            <a:extLst xmlns:a="http://schemas.openxmlformats.org/drawingml/2006/main">
              <a:ext uri="{FF2B5EF4-FFF2-40B4-BE49-F238E27FC236}">
                <a16:creationId xmlns:a16="http://schemas.microsoft.com/office/drawing/2014/main" id="{4F20423B-6544-4747-9D8B-F92F58171F0D}"/>
              </a:ext>
            </a:extLst>
          </p:cNvPr>
          <p:cNvSpPr>
            <a:spLocks xmlns:a="http://schemas.openxmlformats.org/drawingml/2006/main" noGrp="1"/>
          </p:cNvSpPr>
          <p:nvPr/>
        </p:nvSpPr>
        <p:spPr>
          <a:xfrm xmlns:a="http://schemas.openxmlformats.org/drawingml/2006/main">
            <a:off x="5314950" y="4895850"/>
            <a:ext cx="1219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Business impact and risk signoff.</a:t>
            </a:r>
          </a:p>
        </p:txBody>
      </p:sp>
      <p:sp>
        <p:nvSpPr>
          <p:cNvPr id="76" name="">
            <a:extLst xmlns:a="http://schemas.openxmlformats.org/drawingml/2006/main">
              <a:ext uri="{FF2B5EF4-FFF2-40B4-BE49-F238E27FC236}">
                <a16:creationId xmlns:a16="http://schemas.microsoft.com/office/drawing/2014/main" id="{5103A95D-3A3E-42F8-A4DA-EC518DB3ACB9}"/>
              </a:ext>
            </a:extLst>
          </p:cNvPr>
          <p:cNvSpPr>
            <a:spLocks xmlns:a="http://schemas.openxmlformats.org/drawingml/2006/main" noGrp="1"/>
          </p:cNvSpPr>
          <p:nvPr/>
        </p:nvSpPr>
        <p:spPr>
          <a:xfrm xmlns:a="http://schemas.openxmlformats.org/drawingml/2006/main">
            <a:off x="6362700" y="4552950"/>
            <a:ext cx="152400" cy="152400"/>
          </a:xfrm>
          <a:prstGeom xmlns:a="http://schemas.openxmlformats.org/drawingml/2006/main" prst="roundRect">
            <a:avLst>
              <a:gd name="adj" fmla="val 50000"/>
            </a:avLst>
          </a:prstGeom>
          <a:solidFill xmlns:a="http://schemas.openxmlformats.org/drawingml/2006/main">
            <a:srgbClr val="FFF1E8"/>
          </a:solidFill>
          <a:ln xmlns:a="http://schemas.openxmlformats.org/drawingml/2006/main" w="9525">
            <a:solidFill>
              <a:srgbClr val="F0883E"/>
            </a:solidFill>
            <a:prstDash val="solid"/>
          </a:ln>
        </p:spPr>
      </p:sp>
      <p:sp>
        <p:nvSpPr>
          <p:cNvPr id="77" name="">
            <a:extLst xmlns:a="http://schemas.openxmlformats.org/drawingml/2006/main">
              <a:ext uri="{FF2B5EF4-FFF2-40B4-BE49-F238E27FC236}">
                <a16:creationId xmlns:a16="http://schemas.microsoft.com/office/drawing/2014/main" id="{AA421451-737F-4CF4-B67E-58E594F2C13D}"/>
              </a:ext>
            </a:extLst>
          </p:cNvPr>
          <p:cNvSpPr>
            <a:spLocks xmlns:a="http://schemas.openxmlformats.org/drawingml/2006/main" noGrp="1"/>
          </p:cNvSpPr>
          <p:nvPr/>
        </p:nvSpPr>
        <p:spPr>
          <a:xfrm xmlns:a="http://schemas.openxmlformats.org/drawingml/2006/main">
            <a:off x="6724650" y="47244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78" name="">
            <a:extLst xmlns:a="http://schemas.openxmlformats.org/drawingml/2006/main">
              <a:ext uri="{FF2B5EF4-FFF2-40B4-BE49-F238E27FC236}">
                <a16:creationId xmlns:a16="http://schemas.microsoft.com/office/drawing/2014/main" id="{C46B9DDC-1146-4CC9-B97B-48388A8E73A2}"/>
              </a:ext>
            </a:extLst>
          </p:cNvPr>
          <p:cNvSpPr>
            <a:spLocks xmlns:a="http://schemas.openxmlformats.org/drawingml/2006/main" noGrp="1"/>
          </p:cNvSpPr>
          <p:nvPr/>
        </p:nvSpPr>
        <p:spPr>
          <a:xfrm xmlns:a="http://schemas.openxmlformats.org/drawingml/2006/main">
            <a:off x="7143750" y="4438650"/>
            <a:ext cx="14859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79" name="">
            <a:extLst xmlns:a="http://schemas.openxmlformats.org/drawingml/2006/main">
              <a:ext uri="{FF2B5EF4-FFF2-40B4-BE49-F238E27FC236}">
                <a16:creationId xmlns:a16="http://schemas.microsoft.com/office/drawing/2014/main" id="{8C879F14-EC53-44DD-98F5-4370A36CE197}"/>
              </a:ext>
            </a:extLst>
          </p:cNvPr>
          <p:cNvSpPr>
            <a:spLocks xmlns:a="http://schemas.openxmlformats.org/drawingml/2006/main" noGrp="1"/>
          </p:cNvSpPr>
          <p:nvPr/>
        </p:nvSpPr>
        <p:spPr>
          <a:xfrm xmlns:a="http://schemas.openxmlformats.org/drawingml/2006/main">
            <a:off x="7143750" y="4438650"/>
            <a:ext cx="1485900" cy="76200"/>
          </a:xfrm>
          <a:prstGeom xmlns:a="http://schemas.openxmlformats.org/drawingml/2006/main" prst="roundRect">
            <a:avLst>
              <a:gd name="adj" fmla="val 50000"/>
            </a:avLst>
          </a:prstGeom>
          <a:solidFill xmlns:a="http://schemas.openxmlformats.org/drawingml/2006/main">
            <a:srgbClr val="7A4FD1"/>
          </a:solidFill>
          <a:ln xmlns:a="http://schemas.openxmlformats.org/drawingml/2006/main" w="0">
            <a:solidFill>
              <a:srgbClr val="7A4FD1"/>
            </a:solidFill>
            <a:prstDash val="solid"/>
          </a:ln>
        </p:spPr>
      </p:sp>
      <p:sp>
        <p:nvSpPr>
          <p:cNvPr id="80" name="">
            <a:extLst xmlns:a="http://schemas.openxmlformats.org/drawingml/2006/main">
              <a:ext uri="{FF2B5EF4-FFF2-40B4-BE49-F238E27FC236}">
                <a16:creationId xmlns:a16="http://schemas.microsoft.com/office/drawing/2014/main" id="{48EFA090-4D82-4332-B29D-FB8E3B4AF2AB}"/>
              </a:ext>
            </a:extLst>
          </p:cNvPr>
          <p:cNvSpPr>
            <a:spLocks xmlns:a="http://schemas.openxmlformats.org/drawingml/2006/main" noGrp="1"/>
          </p:cNvSpPr>
          <p:nvPr/>
        </p:nvSpPr>
        <p:spPr>
          <a:xfrm xmlns:a="http://schemas.openxmlformats.org/drawingml/2006/main">
            <a:off x="7277100" y="4591050"/>
            <a:ext cx="1219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Temporal Workflow</a:t>
            </a:r>
          </a:p>
        </p:txBody>
      </p:sp>
      <p:sp>
        <p:nvSpPr>
          <p:cNvPr id="81" name="">
            <a:extLst xmlns:a="http://schemas.openxmlformats.org/drawingml/2006/main">
              <a:ext uri="{FF2B5EF4-FFF2-40B4-BE49-F238E27FC236}">
                <a16:creationId xmlns:a16="http://schemas.microsoft.com/office/drawing/2014/main" id="{B04DD8AD-3623-4076-B5C1-0AE5B950BE9D}"/>
              </a:ext>
            </a:extLst>
          </p:cNvPr>
          <p:cNvSpPr>
            <a:spLocks xmlns:a="http://schemas.openxmlformats.org/drawingml/2006/main" noGrp="1"/>
          </p:cNvSpPr>
          <p:nvPr/>
        </p:nvSpPr>
        <p:spPr>
          <a:xfrm xmlns:a="http://schemas.openxmlformats.org/drawingml/2006/main">
            <a:off x="7277100" y="4895850"/>
            <a:ext cx="1219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Durable approval, promote, rollback, and history.</a:t>
            </a:r>
          </a:p>
        </p:txBody>
      </p:sp>
      <p:sp>
        <p:nvSpPr>
          <p:cNvPr id="82" name="">
            <a:extLst xmlns:a="http://schemas.openxmlformats.org/drawingml/2006/main">
              <a:ext uri="{FF2B5EF4-FFF2-40B4-BE49-F238E27FC236}">
                <a16:creationId xmlns:a16="http://schemas.microsoft.com/office/drawing/2014/main" id="{7DD8453D-2E4F-4E64-B18A-C747D905E5D8}"/>
              </a:ext>
            </a:extLst>
          </p:cNvPr>
          <p:cNvSpPr>
            <a:spLocks xmlns:a="http://schemas.openxmlformats.org/drawingml/2006/main" noGrp="1"/>
          </p:cNvSpPr>
          <p:nvPr/>
        </p:nvSpPr>
        <p:spPr>
          <a:xfrm xmlns:a="http://schemas.openxmlformats.org/drawingml/2006/main">
            <a:off x="8324850" y="4552950"/>
            <a:ext cx="152400" cy="152400"/>
          </a:xfrm>
          <a:prstGeom xmlns:a="http://schemas.openxmlformats.org/drawingml/2006/main" prst="roundRect">
            <a:avLst>
              <a:gd name="adj" fmla="val 50000"/>
            </a:avLst>
          </a:prstGeom>
          <a:solidFill xmlns:a="http://schemas.openxmlformats.org/drawingml/2006/main">
            <a:srgbClr val="F2EBFF"/>
          </a:solidFill>
          <a:ln xmlns:a="http://schemas.openxmlformats.org/drawingml/2006/main" w="9525">
            <a:solidFill>
              <a:srgbClr val="7A4FD1"/>
            </a:solidFill>
            <a:prstDash val="solid"/>
          </a:ln>
        </p:spPr>
      </p:sp>
      <p:sp>
        <p:nvSpPr>
          <p:cNvPr id="83" name="">
            <a:extLst xmlns:a="http://schemas.openxmlformats.org/drawingml/2006/main">
              <a:ext uri="{FF2B5EF4-FFF2-40B4-BE49-F238E27FC236}">
                <a16:creationId xmlns:a16="http://schemas.microsoft.com/office/drawing/2014/main" id="{96F0A933-D083-478E-B352-889DC2B4E713}"/>
              </a:ext>
            </a:extLst>
          </p:cNvPr>
          <p:cNvSpPr>
            <a:spLocks xmlns:a="http://schemas.openxmlformats.org/drawingml/2006/main" noGrp="1"/>
          </p:cNvSpPr>
          <p:nvPr/>
        </p:nvSpPr>
        <p:spPr>
          <a:xfrm xmlns:a="http://schemas.openxmlformats.org/drawingml/2006/main">
            <a:off x="8686800" y="4724400"/>
            <a:ext cx="41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84" name="">
            <a:extLst xmlns:a="http://schemas.openxmlformats.org/drawingml/2006/main">
              <a:ext uri="{FF2B5EF4-FFF2-40B4-BE49-F238E27FC236}">
                <a16:creationId xmlns:a16="http://schemas.microsoft.com/office/drawing/2014/main" id="{346877DB-3864-41FE-B293-0DD88EA28E75}"/>
              </a:ext>
            </a:extLst>
          </p:cNvPr>
          <p:cNvSpPr>
            <a:spLocks xmlns:a="http://schemas.openxmlformats.org/drawingml/2006/main" noGrp="1"/>
          </p:cNvSpPr>
          <p:nvPr/>
        </p:nvSpPr>
        <p:spPr>
          <a:xfrm xmlns:a="http://schemas.openxmlformats.org/drawingml/2006/main">
            <a:off x="9105900" y="4438650"/>
            <a:ext cx="14859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85" name="">
            <a:extLst xmlns:a="http://schemas.openxmlformats.org/drawingml/2006/main">
              <a:ext uri="{FF2B5EF4-FFF2-40B4-BE49-F238E27FC236}">
                <a16:creationId xmlns:a16="http://schemas.microsoft.com/office/drawing/2014/main" id="{700AFDE9-CEA2-4E55-ABAC-D80EF377E21A}"/>
              </a:ext>
            </a:extLst>
          </p:cNvPr>
          <p:cNvSpPr>
            <a:spLocks xmlns:a="http://schemas.openxmlformats.org/drawingml/2006/main" noGrp="1"/>
          </p:cNvSpPr>
          <p:nvPr/>
        </p:nvSpPr>
        <p:spPr>
          <a:xfrm xmlns:a="http://schemas.openxmlformats.org/drawingml/2006/main">
            <a:off x="9105900" y="4438650"/>
            <a:ext cx="1485900" cy="76200"/>
          </a:xfrm>
          <a:prstGeom xmlns:a="http://schemas.openxmlformats.org/drawingml/2006/main" prst="roundRect">
            <a:avLst>
              <a:gd name="adj" fmla="val 50000"/>
            </a:avLst>
          </a:prstGeom>
          <a:solidFill xmlns:a="http://schemas.openxmlformats.org/drawingml/2006/main">
            <a:srgbClr val="7A4FD1"/>
          </a:solidFill>
          <a:ln xmlns:a="http://schemas.openxmlformats.org/drawingml/2006/main" w="0">
            <a:solidFill>
              <a:srgbClr val="7A4FD1"/>
            </a:solidFill>
            <a:prstDash val="solid"/>
          </a:ln>
        </p:spPr>
      </p:sp>
      <p:sp>
        <p:nvSpPr>
          <p:cNvPr id="86" name="">
            <a:extLst xmlns:a="http://schemas.openxmlformats.org/drawingml/2006/main">
              <a:ext uri="{FF2B5EF4-FFF2-40B4-BE49-F238E27FC236}">
                <a16:creationId xmlns:a16="http://schemas.microsoft.com/office/drawing/2014/main" id="{3FD3CCEA-3CCD-462F-82FD-A6882C3B8138}"/>
              </a:ext>
            </a:extLst>
          </p:cNvPr>
          <p:cNvSpPr>
            <a:spLocks xmlns:a="http://schemas.openxmlformats.org/drawingml/2006/main" noGrp="1"/>
          </p:cNvSpPr>
          <p:nvPr/>
        </p:nvSpPr>
        <p:spPr>
          <a:xfrm xmlns:a="http://schemas.openxmlformats.org/drawingml/2006/main">
            <a:off x="9239250" y="4591050"/>
            <a:ext cx="1219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Release Control</a:t>
            </a:r>
          </a:p>
        </p:txBody>
      </p:sp>
      <p:sp>
        <p:nvSpPr>
          <p:cNvPr id="87" name="">
            <a:extLst xmlns:a="http://schemas.openxmlformats.org/drawingml/2006/main">
              <a:ext uri="{FF2B5EF4-FFF2-40B4-BE49-F238E27FC236}">
                <a16:creationId xmlns:a16="http://schemas.microsoft.com/office/drawing/2014/main" id="{549961EB-F043-4805-AD60-42C062405AEB}"/>
              </a:ext>
            </a:extLst>
          </p:cNvPr>
          <p:cNvSpPr>
            <a:spLocks xmlns:a="http://schemas.openxmlformats.org/drawingml/2006/main" noGrp="1"/>
          </p:cNvSpPr>
          <p:nvPr/>
        </p:nvSpPr>
        <p:spPr>
          <a:xfrm xmlns:a="http://schemas.openxmlformats.org/drawingml/2006/main">
            <a:off x="9239250" y="4895850"/>
            <a:ext cx="12192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Shadow, canary, 100%, rollback.</a:t>
            </a:r>
          </a:p>
        </p:txBody>
      </p:sp>
      <p:sp>
        <p:nvSpPr>
          <p:cNvPr id="88" name="">
            <a:extLst xmlns:a="http://schemas.openxmlformats.org/drawingml/2006/main">
              <a:ext uri="{FF2B5EF4-FFF2-40B4-BE49-F238E27FC236}">
                <a16:creationId xmlns:a16="http://schemas.microsoft.com/office/drawing/2014/main" id="{A2B0CB7D-4E05-495F-B304-D105B2602DF0}"/>
              </a:ext>
            </a:extLst>
          </p:cNvPr>
          <p:cNvSpPr>
            <a:spLocks xmlns:a="http://schemas.openxmlformats.org/drawingml/2006/main" noGrp="1"/>
          </p:cNvSpPr>
          <p:nvPr/>
        </p:nvSpPr>
        <p:spPr>
          <a:xfrm xmlns:a="http://schemas.openxmlformats.org/drawingml/2006/main">
            <a:off x="10287000" y="4552950"/>
            <a:ext cx="152400" cy="152400"/>
          </a:xfrm>
          <a:prstGeom xmlns:a="http://schemas.openxmlformats.org/drawingml/2006/main" prst="roundRect">
            <a:avLst>
              <a:gd name="adj" fmla="val 50000"/>
            </a:avLst>
          </a:prstGeom>
          <a:solidFill xmlns:a="http://schemas.openxmlformats.org/drawingml/2006/main">
            <a:srgbClr val="F2EBFF"/>
          </a:solidFill>
          <a:ln xmlns:a="http://schemas.openxmlformats.org/drawingml/2006/main" w="9525">
            <a:solidFill>
              <a:srgbClr val="7A4FD1"/>
            </a:solidFill>
            <a:prstDash val="solid"/>
          </a:ln>
        </p:spPr>
      </p:sp>
      <p:sp>
        <p:nvSpPr>
          <p:cNvPr id="89" name="">
            <a:extLst xmlns:a="http://schemas.openxmlformats.org/drawingml/2006/main">
              <a:ext uri="{FF2B5EF4-FFF2-40B4-BE49-F238E27FC236}">
                <a16:creationId xmlns:a16="http://schemas.microsoft.com/office/drawing/2014/main" id="{9EF5F905-24E6-4AD9-B535-3E518E21B076}"/>
              </a:ext>
            </a:extLst>
          </p:cNvPr>
          <p:cNvSpPr>
            <a:spLocks xmlns:a="http://schemas.openxmlformats.org/drawingml/2006/main" noGrp="1"/>
          </p:cNvSpPr>
          <p:nvPr/>
        </p:nvSpPr>
        <p:spPr>
          <a:xfrm xmlns:a="http://schemas.openxmlformats.org/drawingml/2006/main">
            <a:off x="10648950" y="4724400"/>
            <a:ext cx="304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90" name="">
            <a:extLst xmlns:a="http://schemas.openxmlformats.org/drawingml/2006/main">
              <a:ext uri="{FF2B5EF4-FFF2-40B4-BE49-F238E27FC236}">
                <a16:creationId xmlns:a16="http://schemas.microsoft.com/office/drawing/2014/main" id="{00562CB5-9082-4531-9F87-50F0E44DE88A}"/>
              </a:ext>
            </a:extLst>
          </p:cNvPr>
          <p:cNvSpPr>
            <a:spLocks xmlns:a="http://schemas.openxmlformats.org/drawingml/2006/main" noGrp="1"/>
          </p:cNvSpPr>
          <p:nvPr/>
        </p:nvSpPr>
        <p:spPr>
          <a:xfrm xmlns:a="http://schemas.openxmlformats.org/drawingml/2006/main">
            <a:off x="10934700" y="4438650"/>
            <a:ext cx="457200" cy="8763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6DADF"/>
            </a:solidFill>
            <a:prstDash val="solid"/>
          </a:ln>
        </p:spPr>
      </p:sp>
      <p:sp>
        <p:nvSpPr>
          <p:cNvPr id="91" name="">
            <a:extLst xmlns:a="http://schemas.openxmlformats.org/drawingml/2006/main">
              <a:ext uri="{FF2B5EF4-FFF2-40B4-BE49-F238E27FC236}">
                <a16:creationId xmlns:a16="http://schemas.microsoft.com/office/drawing/2014/main" id="{B0125398-9E50-4F27-B983-A7B4F5F8BF43}"/>
              </a:ext>
            </a:extLst>
          </p:cNvPr>
          <p:cNvSpPr>
            <a:spLocks xmlns:a="http://schemas.openxmlformats.org/drawingml/2006/main" noGrp="1"/>
          </p:cNvSpPr>
          <p:nvPr/>
        </p:nvSpPr>
        <p:spPr>
          <a:xfrm xmlns:a="http://schemas.openxmlformats.org/drawingml/2006/main">
            <a:off x="10934700" y="4438650"/>
            <a:ext cx="457200" cy="76200"/>
          </a:xfrm>
          <a:prstGeom xmlns:a="http://schemas.openxmlformats.org/drawingml/2006/main" prst="roundRect">
            <a:avLst>
              <a:gd name="adj" fmla="val 50000"/>
            </a:avLst>
          </a:prstGeom>
          <a:solidFill xmlns:a="http://schemas.openxmlformats.org/drawingml/2006/main">
            <a:srgbClr val="4B5EAA"/>
          </a:solidFill>
          <a:ln xmlns:a="http://schemas.openxmlformats.org/drawingml/2006/main" w="0">
            <a:solidFill>
              <a:srgbClr val="4B5EAA"/>
            </a:solidFill>
            <a:prstDash val="solid"/>
          </a:ln>
        </p:spPr>
      </p:sp>
      <p:sp>
        <p:nvSpPr>
          <p:cNvPr id="92" name="">
            <a:extLst xmlns:a="http://schemas.openxmlformats.org/drawingml/2006/main">
              <a:ext uri="{FF2B5EF4-FFF2-40B4-BE49-F238E27FC236}">
                <a16:creationId xmlns:a16="http://schemas.microsoft.com/office/drawing/2014/main" id="{88D25F5B-6E24-47A0-9992-83427B0773BB}"/>
              </a:ext>
            </a:extLst>
          </p:cNvPr>
          <p:cNvSpPr>
            <a:spLocks xmlns:a="http://schemas.openxmlformats.org/drawingml/2006/main" noGrp="1"/>
          </p:cNvSpPr>
          <p:nvPr/>
        </p:nvSpPr>
        <p:spPr>
          <a:xfrm xmlns:a="http://schemas.openxmlformats.org/drawingml/2006/main">
            <a:off x="11068050" y="4591050"/>
            <a:ext cx="190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PG</a:t>
            </a:r>
          </a:p>
        </p:txBody>
      </p:sp>
      <p:sp>
        <p:nvSpPr>
          <p:cNvPr id="93" name="">
            <a:extLst xmlns:a="http://schemas.openxmlformats.org/drawingml/2006/main">
              <a:ext uri="{FF2B5EF4-FFF2-40B4-BE49-F238E27FC236}">
                <a16:creationId xmlns:a16="http://schemas.microsoft.com/office/drawing/2014/main" id="{59C28B2C-CCBE-4427-A5D7-CB86957A8474}"/>
              </a:ext>
            </a:extLst>
          </p:cNvPr>
          <p:cNvSpPr>
            <a:spLocks xmlns:a="http://schemas.openxmlformats.org/drawingml/2006/main" noGrp="1"/>
          </p:cNvSpPr>
          <p:nvPr/>
        </p:nvSpPr>
        <p:spPr>
          <a:xfrm xmlns:a="http://schemas.openxmlformats.org/drawingml/2006/main">
            <a:off x="11068050" y="4895850"/>
            <a:ext cx="19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Audit</a:t>
            </a:r>
          </a:p>
        </p:txBody>
      </p:sp>
      <p:sp>
        <p:nvSpPr>
          <p:cNvPr id="94" name="">
            <a:extLst xmlns:a="http://schemas.openxmlformats.org/drawingml/2006/main">
              <a:ext uri="{FF2B5EF4-FFF2-40B4-BE49-F238E27FC236}">
                <a16:creationId xmlns:a16="http://schemas.microsoft.com/office/drawing/2014/main" id="{8A336F7E-3002-4585-8EEE-DF8F6A96A551}"/>
              </a:ext>
            </a:extLst>
          </p:cNvPr>
          <p:cNvSpPr>
            <a:spLocks xmlns:a="http://schemas.openxmlformats.org/drawingml/2006/main" noGrp="1"/>
          </p:cNvSpPr>
          <p:nvPr/>
        </p:nvSpPr>
        <p:spPr>
          <a:xfrm xmlns:a="http://schemas.openxmlformats.org/drawingml/2006/main">
            <a:off x="11087100" y="4552950"/>
            <a:ext cx="152400" cy="152400"/>
          </a:xfrm>
          <a:prstGeom xmlns:a="http://schemas.openxmlformats.org/drawingml/2006/main" prst="roundRect">
            <a:avLst>
              <a:gd name="adj" fmla="val 50000"/>
            </a:avLst>
          </a:prstGeom>
          <a:solidFill xmlns:a="http://schemas.openxmlformats.org/drawingml/2006/main">
            <a:srgbClr val="EEF1FF"/>
          </a:solidFill>
          <a:ln xmlns:a="http://schemas.openxmlformats.org/drawingml/2006/main" w="9525">
            <a:solidFill>
              <a:srgbClr val="4B5EAA"/>
            </a:solidFill>
            <a:prstDash val="solid"/>
          </a:ln>
        </p:spPr>
      </p:sp>
      <p:sp>
        <p:nvSpPr>
          <p:cNvPr id="95" name="">
            <a:extLst xmlns:a="http://schemas.openxmlformats.org/drawingml/2006/main">
              <a:ext uri="{FF2B5EF4-FFF2-40B4-BE49-F238E27FC236}">
                <a16:creationId xmlns:a16="http://schemas.microsoft.com/office/drawing/2014/main" id="{B58806CB-F859-4F65-8F9E-7E3D115EC787}"/>
              </a:ext>
            </a:extLst>
          </p:cNvPr>
          <p:cNvSpPr>
            <a:spLocks xmlns:a="http://schemas.openxmlformats.org/drawingml/2006/main" noGrp="1"/>
          </p:cNvSpPr>
          <p:nvPr/>
        </p:nvSpPr>
        <p:spPr>
          <a:xfrm xmlns:a="http://schemas.openxmlformats.org/drawingml/2006/main">
            <a:off x="876300" y="5600700"/>
            <a:ext cx="10572750" cy="361950"/>
          </a:xfrm>
          <a:prstGeom xmlns:a="http://schemas.openxmlformats.org/drawingml/2006/main" prst="roundRect">
            <a:avLst>
              <a:gd name="adj" fmla="val 21053"/>
            </a:avLst>
          </a:prstGeom>
          <a:solidFill xmlns:a="http://schemas.openxmlformats.org/drawingml/2006/main">
            <a:srgbClr val="EEF1FF"/>
          </a:solidFill>
          <a:ln xmlns:a="http://schemas.openxmlformats.org/drawingml/2006/main" w="9525">
            <a:solidFill>
              <a:srgbClr val="4B5EAA"/>
            </a:solidFill>
            <a:prstDash val="solid"/>
          </a:ln>
        </p:spPr>
        <p:txBody>
          <a:bodyPr xmlns:a="http://schemas.openxmlformats.org/drawingml/2006/main" lIns="152400" tIns="95250" rIns="152400" bIns="95250" anchor="t"/>
          <a:lstStyle xmlns:a="http://schemas.openxmlformats.org/drawingml/2006/main"/>
          <a:p xmlns:a="http://schemas.openxmlformats.org/drawingml/2006/main">
            <a:pPr algn="l">
              <a:defRPr sz="1200" b="0">
                <a:solidFill>
                  <a:srgbClr val="17202A"/>
                </a:solidFill>
              </a:defRPr>
            </a:pPr>
            <a:r>
              <a:rPr sz="1200" b="0">
                <a:solidFill>
                  <a:srgbClr val="17202A"/>
                </a:solidFill>
              </a:rPr>
              <a:t>Only the serving engine changes. The signal, diagnosis, approval, Temporal, and audit patterns remain reusable.</a:t>
            </a:r>
          </a:p>
        </p:txBody>
      </p:sp>
    </p:spTree>
    <p:extLst>
      <p:ext uri="{BB962C8B-B14F-4D97-AF65-F5344CB8AC3E}">
        <p14:creationId xmlns:p14="http://schemas.microsoft.com/office/powerpoint/2010/main" val="2095181333"/>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A6FEF05-D048-440E-A88D-4A745AAB4CEB}"/>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D2C072FB-9ACA-42EA-AE27-C12E1A54120B}"/>
              </a:ext>
            </a:extLst>
          </p:cNvPr>
          <p:cNvSpPr>
            <a:spLocks xmlns:a="http://schemas.openxmlformats.org/drawingml/2006/main" noGrp="1"/>
          </p:cNvSpPr>
          <p:nvPr/>
        </p:nvSpPr>
        <p:spPr>
          <a:xfrm xmlns:a="http://schemas.openxmlformats.org/drawingml/2006/main">
            <a:off x="647700" y="400050"/>
            <a:ext cx="7239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2325" b="1">
                <a:solidFill>
                  <a:srgbClr val="17202A"/>
                </a:solidFill>
              </a:defRPr>
            </a:pPr>
            <a:r>
              <a:rPr sz="2325" b="1">
                <a:solidFill>
                  <a:srgbClr val="17202A"/>
                </a:solidFill>
              </a:rPr>
              <a:t>Current To Target Evolution</a:t>
            </a:r>
          </a:p>
        </p:txBody>
      </p:sp>
      <p:sp>
        <p:nvSpPr>
          <p:cNvPr id="3" name="">
            <a:extLst xmlns:a="http://schemas.openxmlformats.org/drawingml/2006/main">
              <a:ext uri="{FF2B5EF4-FFF2-40B4-BE49-F238E27FC236}">
                <a16:creationId xmlns:a16="http://schemas.microsoft.com/office/drawing/2014/main" id="{3AFA7364-0BA2-469E-B3D5-E2891F5D9917}"/>
              </a:ext>
            </a:extLst>
          </p:cNvPr>
          <p:cNvSpPr>
            <a:spLocks xmlns:a="http://schemas.openxmlformats.org/drawingml/2006/main" noGrp="1"/>
          </p:cNvSpPr>
          <p:nvPr/>
        </p:nvSpPr>
        <p:spPr>
          <a:xfrm xmlns:a="http://schemas.openxmlformats.org/drawingml/2006/main">
            <a:off x="647700" y="87630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275" b="0">
                <a:solidFill>
                  <a:srgbClr val="5D6975"/>
                </a:solidFill>
              </a:defRPr>
            </a:pPr>
            <a:r>
              <a:rPr sz="1275" b="0">
                <a:solidFill>
                  <a:srgbClr val="5D6975"/>
                </a:solidFill>
              </a:rPr>
              <a:t>The serving engine changes from the demo to enterprise deployment. The control plane remains the stable reusable investment.</a:t>
            </a:r>
          </a:p>
        </p:txBody>
      </p:sp>
      <p:sp>
        <p:nvSpPr>
          <p:cNvPr id="4" name="">
            <a:extLst xmlns:a="http://schemas.openxmlformats.org/drawingml/2006/main">
              <a:ext uri="{FF2B5EF4-FFF2-40B4-BE49-F238E27FC236}">
                <a16:creationId xmlns:a16="http://schemas.microsoft.com/office/drawing/2014/main" id="{7A7B8A74-C28F-4EB1-B39F-54F3E44BEF25}"/>
              </a:ext>
            </a:extLst>
          </p:cNvPr>
          <p:cNvSpPr>
            <a:spLocks xmlns:a="http://schemas.openxmlformats.org/drawingml/2006/main" noGrp="1"/>
          </p:cNvSpPr>
          <p:nvPr/>
        </p:nvSpPr>
        <p:spPr>
          <a:xfrm xmlns:a="http://schemas.openxmlformats.org/drawingml/2006/main">
            <a:off x="647700" y="1390650"/>
            <a:ext cx="31432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5" name="">
            <a:extLst xmlns:a="http://schemas.openxmlformats.org/drawingml/2006/main">
              <a:ext uri="{FF2B5EF4-FFF2-40B4-BE49-F238E27FC236}">
                <a16:creationId xmlns:a16="http://schemas.microsoft.com/office/drawing/2014/main" id="{C1915136-D282-4B04-87FA-145947C75A32}"/>
              </a:ext>
            </a:extLst>
          </p:cNvPr>
          <p:cNvSpPr>
            <a:spLocks xmlns:a="http://schemas.openxmlformats.org/drawingml/2006/main" noGrp="1"/>
          </p:cNvSpPr>
          <p:nvPr/>
        </p:nvSpPr>
        <p:spPr>
          <a:xfrm xmlns:a="http://schemas.openxmlformats.org/drawingml/2006/main">
            <a:off x="647700" y="1390650"/>
            <a:ext cx="3143250" cy="76200"/>
          </a:xfrm>
          <a:prstGeom xmlns:a="http://schemas.openxmlformats.org/drawingml/2006/main" prst="roundRect">
            <a:avLst>
              <a:gd name="adj" fmla="val 50000"/>
            </a:avLst>
          </a:prstGeom>
          <a:solidFill xmlns:a="http://schemas.openxmlformats.org/drawingml/2006/main">
            <a:srgbClr val="22A06B"/>
          </a:solidFill>
          <a:ln xmlns:a="http://schemas.openxmlformats.org/drawingml/2006/main" w="0">
            <a:solidFill>
              <a:srgbClr val="22A06B"/>
            </a:solidFill>
            <a:prstDash val="solid"/>
          </a:ln>
        </p:spPr>
      </p:sp>
      <p:sp>
        <p:nvSpPr>
          <p:cNvPr id="6" name="">
            <a:extLst xmlns:a="http://schemas.openxmlformats.org/drawingml/2006/main">
              <a:ext uri="{FF2B5EF4-FFF2-40B4-BE49-F238E27FC236}">
                <a16:creationId xmlns:a16="http://schemas.microsoft.com/office/drawing/2014/main" id="{974294F8-ED6A-47FA-B6EA-01D0E005B9EF}"/>
              </a:ext>
            </a:extLst>
          </p:cNvPr>
          <p:cNvSpPr>
            <a:spLocks xmlns:a="http://schemas.openxmlformats.org/drawingml/2006/main" noGrp="1"/>
          </p:cNvSpPr>
          <p:nvPr/>
        </p:nvSpPr>
        <p:spPr>
          <a:xfrm xmlns:a="http://schemas.openxmlformats.org/drawingml/2006/main">
            <a:off x="781050" y="1543050"/>
            <a:ext cx="2876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Current demo</a:t>
            </a:r>
          </a:p>
        </p:txBody>
      </p:sp>
      <p:sp>
        <p:nvSpPr>
          <p:cNvPr id="7" name="">
            <a:extLst xmlns:a="http://schemas.openxmlformats.org/drawingml/2006/main">
              <a:ext uri="{FF2B5EF4-FFF2-40B4-BE49-F238E27FC236}">
                <a16:creationId xmlns:a16="http://schemas.microsoft.com/office/drawing/2014/main" id="{48336A20-ECCD-4A9E-9795-A0F9DF94BB15}"/>
              </a:ext>
            </a:extLst>
          </p:cNvPr>
          <p:cNvSpPr>
            <a:spLocks xmlns:a="http://schemas.openxmlformats.org/drawingml/2006/main" noGrp="1"/>
          </p:cNvSpPr>
          <p:nvPr/>
        </p:nvSpPr>
        <p:spPr>
          <a:xfrm xmlns:a="http://schemas.openxmlformats.org/drawingml/2006/main">
            <a:off x="781050" y="18478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FastAPI serves search through Meilisearch baseline/candidate indexes while the control plane manages incidents and releases.</a:t>
            </a:r>
          </a:p>
        </p:txBody>
      </p:sp>
      <p:sp>
        <p:nvSpPr>
          <p:cNvPr id="8" name="">
            <a:extLst xmlns:a="http://schemas.openxmlformats.org/drawingml/2006/main">
              <a:ext uri="{FF2B5EF4-FFF2-40B4-BE49-F238E27FC236}">
                <a16:creationId xmlns:a16="http://schemas.microsoft.com/office/drawing/2014/main" id="{0035A208-BDB6-4364-9782-1DC240C7B357}"/>
              </a:ext>
            </a:extLst>
          </p:cNvPr>
          <p:cNvSpPr>
            <a:spLocks xmlns:a="http://schemas.openxmlformats.org/drawingml/2006/main" noGrp="1"/>
          </p:cNvSpPr>
          <p:nvPr/>
        </p:nvSpPr>
        <p:spPr>
          <a:xfrm xmlns:a="http://schemas.openxmlformats.org/drawingml/2006/main">
            <a:off x="3486150" y="1504950"/>
            <a:ext cx="152400" cy="152400"/>
          </a:xfrm>
          <a:prstGeom xmlns:a="http://schemas.openxmlformats.org/drawingml/2006/main" prst="roundRect">
            <a:avLst>
              <a:gd name="adj" fmla="val 50000"/>
            </a:avLst>
          </a:prstGeom>
          <a:solidFill xmlns:a="http://schemas.openxmlformats.org/drawingml/2006/main">
            <a:srgbClr val="EAF8F1"/>
          </a:solidFill>
          <a:ln xmlns:a="http://schemas.openxmlformats.org/drawingml/2006/main" w="9525">
            <a:solidFill>
              <a:srgbClr val="22A06B"/>
            </a:solidFill>
            <a:prstDash val="solid"/>
          </a:ln>
        </p:spPr>
      </p:sp>
      <p:sp>
        <p:nvSpPr>
          <p:cNvPr id="9" name="">
            <a:extLst xmlns:a="http://schemas.openxmlformats.org/drawingml/2006/main">
              <a:ext uri="{FF2B5EF4-FFF2-40B4-BE49-F238E27FC236}">
                <a16:creationId xmlns:a16="http://schemas.microsoft.com/office/drawing/2014/main" id="{F779CE62-3FAB-4DC1-A72B-44D4A5445790}"/>
              </a:ext>
            </a:extLst>
          </p:cNvPr>
          <p:cNvSpPr>
            <a:spLocks xmlns:a="http://schemas.openxmlformats.org/drawingml/2006/main" noGrp="1"/>
          </p:cNvSpPr>
          <p:nvPr/>
        </p:nvSpPr>
        <p:spPr>
          <a:xfrm xmlns:a="http://schemas.openxmlformats.org/drawingml/2006/main">
            <a:off x="8401050" y="1390650"/>
            <a:ext cx="31432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6DADF"/>
            </a:solidFill>
            <a:prstDash val="solid"/>
          </a:ln>
        </p:spPr>
      </p:sp>
      <p:sp>
        <p:nvSpPr>
          <p:cNvPr id="10" name="">
            <a:extLst xmlns:a="http://schemas.openxmlformats.org/drawingml/2006/main">
              <a:ext uri="{FF2B5EF4-FFF2-40B4-BE49-F238E27FC236}">
                <a16:creationId xmlns:a16="http://schemas.microsoft.com/office/drawing/2014/main" id="{085F73DC-AC23-49BA-88AA-138FAD5487FE}"/>
              </a:ext>
            </a:extLst>
          </p:cNvPr>
          <p:cNvSpPr>
            <a:spLocks xmlns:a="http://schemas.openxmlformats.org/drawingml/2006/main" noGrp="1"/>
          </p:cNvSpPr>
          <p:nvPr/>
        </p:nvSpPr>
        <p:spPr>
          <a:xfrm xmlns:a="http://schemas.openxmlformats.org/drawingml/2006/main">
            <a:off x="8401050" y="1390650"/>
            <a:ext cx="3143250" cy="76200"/>
          </a:xfrm>
          <a:prstGeom xmlns:a="http://schemas.openxmlformats.org/drawingml/2006/main" prst="roundRect">
            <a:avLst>
              <a:gd name="adj" fmla="val 50000"/>
            </a:avLst>
          </a:prstGeom>
          <a:solidFill xmlns:a="http://schemas.openxmlformats.org/drawingml/2006/main">
            <a:srgbClr val="7A4FD1"/>
          </a:solidFill>
          <a:ln xmlns:a="http://schemas.openxmlformats.org/drawingml/2006/main" w="0">
            <a:solidFill>
              <a:srgbClr val="7A4FD1"/>
            </a:solidFill>
            <a:prstDash val="solid"/>
          </a:ln>
        </p:spPr>
      </p:sp>
      <p:sp>
        <p:nvSpPr>
          <p:cNvPr id="11" name="">
            <a:extLst xmlns:a="http://schemas.openxmlformats.org/drawingml/2006/main">
              <a:ext uri="{FF2B5EF4-FFF2-40B4-BE49-F238E27FC236}">
                <a16:creationId xmlns:a16="http://schemas.microsoft.com/office/drawing/2014/main" id="{4E9189F7-140A-4799-BC8D-CBC27B0C919A}"/>
              </a:ext>
            </a:extLst>
          </p:cNvPr>
          <p:cNvSpPr>
            <a:spLocks xmlns:a="http://schemas.openxmlformats.org/drawingml/2006/main" noGrp="1"/>
          </p:cNvSpPr>
          <p:nvPr/>
        </p:nvSpPr>
        <p:spPr>
          <a:xfrm xmlns:a="http://schemas.openxmlformats.org/drawingml/2006/main">
            <a:off x="8534400" y="1543050"/>
            <a:ext cx="2876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Target enterprise</a:t>
            </a:r>
          </a:p>
        </p:txBody>
      </p:sp>
      <p:sp>
        <p:nvSpPr>
          <p:cNvPr id="12" name="">
            <a:extLst xmlns:a="http://schemas.openxmlformats.org/drawingml/2006/main">
              <a:ext uri="{FF2B5EF4-FFF2-40B4-BE49-F238E27FC236}">
                <a16:creationId xmlns:a16="http://schemas.microsoft.com/office/drawing/2014/main" id="{47764255-FB25-49E1-9196-0B15F8694991}"/>
              </a:ext>
            </a:extLst>
          </p:cNvPr>
          <p:cNvSpPr>
            <a:spLocks xmlns:a="http://schemas.openxmlformats.org/drawingml/2006/main" noGrp="1"/>
          </p:cNvSpPr>
          <p:nvPr/>
        </p:nvSpPr>
        <p:spPr>
          <a:xfrm xmlns:a="http://schemas.openxmlformats.org/drawingml/2006/main">
            <a:off x="8534400" y="18478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The same control plane wraps an existing AI Search Engine through a search change adapter and enterprise telemetry sources.</a:t>
            </a:r>
          </a:p>
        </p:txBody>
      </p:sp>
      <p:sp>
        <p:nvSpPr>
          <p:cNvPr id="13" name="">
            <a:extLst xmlns:a="http://schemas.openxmlformats.org/drawingml/2006/main">
              <a:ext uri="{FF2B5EF4-FFF2-40B4-BE49-F238E27FC236}">
                <a16:creationId xmlns:a16="http://schemas.microsoft.com/office/drawing/2014/main" id="{74BA2E38-2DF0-42B2-91FE-3CE0FFDBF273}"/>
              </a:ext>
            </a:extLst>
          </p:cNvPr>
          <p:cNvSpPr>
            <a:spLocks xmlns:a="http://schemas.openxmlformats.org/drawingml/2006/main" noGrp="1"/>
          </p:cNvSpPr>
          <p:nvPr/>
        </p:nvSpPr>
        <p:spPr>
          <a:xfrm xmlns:a="http://schemas.openxmlformats.org/drawingml/2006/main">
            <a:off x="11239500" y="1504950"/>
            <a:ext cx="152400" cy="152400"/>
          </a:xfrm>
          <a:prstGeom xmlns:a="http://schemas.openxmlformats.org/drawingml/2006/main" prst="roundRect">
            <a:avLst>
              <a:gd name="adj" fmla="val 50000"/>
            </a:avLst>
          </a:prstGeom>
          <a:solidFill xmlns:a="http://schemas.openxmlformats.org/drawingml/2006/main">
            <a:srgbClr val="F2EBFF"/>
          </a:solidFill>
          <a:ln xmlns:a="http://schemas.openxmlformats.org/drawingml/2006/main" w="9525">
            <a:solidFill>
              <a:srgbClr val="7A4FD1"/>
            </a:solidFill>
            <a:prstDash val="solid"/>
          </a:ln>
        </p:spPr>
      </p:sp>
      <p:sp>
        <p:nvSpPr>
          <p:cNvPr id="14" name="">
            <a:extLst xmlns:a="http://schemas.openxmlformats.org/drawingml/2006/main">
              <a:ext uri="{FF2B5EF4-FFF2-40B4-BE49-F238E27FC236}">
                <a16:creationId xmlns:a16="http://schemas.microsoft.com/office/drawing/2014/main" id="{259FD489-A34E-42F2-9126-2BA43825D83C}"/>
              </a:ext>
            </a:extLst>
          </p:cNvPr>
          <p:cNvSpPr>
            <a:spLocks xmlns:a="http://schemas.openxmlformats.org/drawingml/2006/main" noGrp="1"/>
          </p:cNvSpPr>
          <p:nvPr/>
        </p:nvSpPr>
        <p:spPr>
          <a:xfrm xmlns:a="http://schemas.openxmlformats.org/drawingml/2006/main">
            <a:off x="647700" y="2552700"/>
            <a:ext cx="2000250" cy="400050"/>
          </a:xfrm>
          <a:prstGeom xmlns:a="http://schemas.openxmlformats.org/drawingml/2006/main" prst="roundRect">
            <a:avLst>
              <a:gd name="adj" fmla="val 19048"/>
            </a:avLst>
          </a:prstGeom>
          <a:solidFill xmlns:a="http://schemas.openxmlformats.org/drawingml/2006/main">
            <a:srgbClr val="17202A"/>
          </a:solidFill>
          <a:ln xmlns:a="http://schemas.openxmlformats.org/drawingml/2006/main" w="0">
            <a:solidFill>
              <a:srgbClr val="17202A"/>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Concern</a:t>
            </a:r>
          </a:p>
        </p:txBody>
      </p:sp>
      <p:sp>
        <p:nvSpPr>
          <p:cNvPr id="15" name="">
            <a:extLst xmlns:a="http://schemas.openxmlformats.org/drawingml/2006/main">
              <a:ext uri="{FF2B5EF4-FFF2-40B4-BE49-F238E27FC236}">
                <a16:creationId xmlns:a16="http://schemas.microsoft.com/office/drawing/2014/main" id="{D337B4F1-6BF0-459C-8B5A-8C794F1BE899}"/>
              </a:ext>
            </a:extLst>
          </p:cNvPr>
          <p:cNvSpPr>
            <a:spLocks xmlns:a="http://schemas.openxmlformats.org/drawingml/2006/main" noGrp="1"/>
          </p:cNvSpPr>
          <p:nvPr/>
        </p:nvSpPr>
        <p:spPr>
          <a:xfrm xmlns:a="http://schemas.openxmlformats.org/drawingml/2006/main">
            <a:off x="2724150" y="2552700"/>
            <a:ext cx="4229100" cy="400050"/>
          </a:xfrm>
          <a:prstGeom xmlns:a="http://schemas.openxmlformats.org/drawingml/2006/main" prst="roundRect">
            <a:avLst>
              <a:gd name="adj" fmla="val 19048"/>
            </a:avLst>
          </a:prstGeom>
          <a:solidFill xmlns:a="http://schemas.openxmlformats.org/drawingml/2006/main">
            <a:srgbClr val="22A06B"/>
          </a:solidFill>
          <a:ln xmlns:a="http://schemas.openxmlformats.org/drawingml/2006/main" w="0">
            <a:solidFill>
              <a:srgbClr val="22A06B"/>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Current Demo</a:t>
            </a:r>
          </a:p>
        </p:txBody>
      </p:sp>
      <p:sp>
        <p:nvSpPr>
          <p:cNvPr id="16" name="">
            <a:extLst xmlns:a="http://schemas.openxmlformats.org/drawingml/2006/main">
              <a:ext uri="{FF2B5EF4-FFF2-40B4-BE49-F238E27FC236}">
                <a16:creationId xmlns:a16="http://schemas.microsoft.com/office/drawing/2014/main" id="{20ADE908-65D0-4C0E-A828-BD066F511856}"/>
              </a:ext>
            </a:extLst>
          </p:cNvPr>
          <p:cNvSpPr>
            <a:spLocks xmlns:a="http://schemas.openxmlformats.org/drawingml/2006/main" noGrp="1"/>
          </p:cNvSpPr>
          <p:nvPr/>
        </p:nvSpPr>
        <p:spPr>
          <a:xfrm xmlns:a="http://schemas.openxmlformats.org/drawingml/2006/main">
            <a:off x="7029450" y="2552700"/>
            <a:ext cx="4229100" cy="400050"/>
          </a:xfrm>
          <a:prstGeom xmlns:a="http://schemas.openxmlformats.org/drawingml/2006/main" prst="roundRect">
            <a:avLst>
              <a:gd name="adj" fmla="val 19048"/>
            </a:avLst>
          </a:prstGeom>
          <a:solidFill xmlns:a="http://schemas.openxmlformats.org/drawingml/2006/main">
            <a:srgbClr val="7A4FD1"/>
          </a:solidFill>
          <a:ln xmlns:a="http://schemas.openxmlformats.org/drawingml/2006/main" w="0">
            <a:solidFill>
              <a:srgbClr val="7A4FD1"/>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Target Enterprise</a:t>
            </a:r>
          </a:p>
        </p:txBody>
      </p:sp>
      <p:sp>
        <p:nvSpPr>
          <p:cNvPr id="17" name="">
            <a:extLst xmlns:a="http://schemas.openxmlformats.org/drawingml/2006/main">
              <a:ext uri="{FF2B5EF4-FFF2-40B4-BE49-F238E27FC236}">
                <a16:creationId xmlns:a16="http://schemas.microsoft.com/office/drawing/2014/main" id="{681D6956-7AC8-4C9B-B55A-0E0B619C9460}"/>
              </a:ext>
            </a:extLst>
          </p:cNvPr>
          <p:cNvSpPr>
            <a:spLocks xmlns:a="http://schemas.openxmlformats.org/drawingml/2006/main" noGrp="1"/>
          </p:cNvSpPr>
          <p:nvPr/>
        </p:nvSpPr>
        <p:spPr>
          <a:xfrm xmlns:a="http://schemas.openxmlformats.org/drawingml/2006/main">
            <a:off x="647700" y="3048000"/>
            <a:ext cx="20002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1">
                <a:solidFill>
                  <a:srgbClr val="17202A"/>
                </a:solidFill>
              </a:defRPr>
            </a:pPr>
            <a:r>
              <a:rPr sz="1125" b="1">
                <a:solidFill>
                  <a:srgbClr val="17202A"/>
                </a:solidFill>
              </a:rPr>
              <a:t>Search engine</a:t>
            </a:r>
          </a:p>
        </p:txBody>
      </p:sp>
      <p:sp>
        <p:nvSpPr>
          <p:cNvPr id="18" name="">
            <a:extLst xmlns:a="http://schemas.openxmlformats.org/drawingml/2006/main">
              <a:ext uri="{FF2B5EF4-FFF2-40B4-BE49-F238E27FC236}">
                <a16:creationId xmlns:a16="http://schemas.microsoft.com/office/drawing/2014/main" id="{A42E68D1-9D7B-4E9C-92F0-6CA4016F00E1}"/>
              </a:ext>
            </a:extLst>
          </p:cNvPr>
          <p:cNvSpPr>
            <a:spLocks xmlns:a="http://schemas.openxmlformats.org/drawingml/2006/main" noGrp="1"/>
          </p:cNvSpPr>
          <p:nvPr/>
        </p:nvSpPr>
        <p:spPr>
          <a:xfrm xmlns:a="http://schemas.openxmlformats.org/drawingml/2006/main">
            <a:off x="2724150" y="3048000"/>
            <a:ext cx="42291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0">
                <a:solidFill>
                  <a:srgbClr val="5D6975"/>
                </a:solidFill>
              </a:defRPr>
            </a:pPr>
            <a:r>
              <a:rPr sz="1125" b="0">
                <a:solidFill>
                  <a:srgbClr val="5D6975"/>
                </a:solidFill>
              </a:rPr>
              <a:t>Meilisearch mock search engine</a:t>
            </a:r>
          </a:p>
        </p:txBody>
      </p:sp>
      <p:sp>
        <p:nvSpPr>
          <p:cNvPr id="19" name="">
            <a:extLst xmlns:a="http://schemas.openxmlformats.org/drawingml/2006/main">
              <a:ext uri="{FF2B5EF4-FFF2-40B4-BE49-F238E27FC236}">
                <a16:creationId xmlns:a16="http://schemas.microsoft.com/office/drawing/2014/main" id="{8B91C666-9D20-499A-8651-95CD1D4596F4}"/>
              </a:ext>
            </a:extLst>
          </p:cNvPr>
          <p:cNvSpPr>
            <a:spLocks xmlns:a="http://schemas.openxmlformats.org/drawingml/2006/main" noGrp="1"/>
          </p:cNvSpPr>
          <p:nvPr/>
        </p:nvSpPr>
        <p:spPr>
          <a:xfrm xmlns:a="http://schemas.openxmlformats.org/drawingml/2006/main">
            <a:off x="7029450" y="3048000"/>
            <a:ext cx="42291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0">
                <a:solidFill>
                  <a:srgbClr val="5D6975"/>
                </a:solidFill>
              </a:defRPr>
            </a:pPr>
            <a:r>
              <a:rPr sz="1125" b="0">
                <a:solidFill>
                  <a:srgbClr val="5D6975"/>
                </a:solidFill>
              </a:rPr>
              <a:t>Existing AI Search Engine</a:t>
            </a:r>
          </a:p>
        </p:txBody>
      </p:sp>
      <p:sp>
        <p:nvSpPr>
          <p:cNvPr id="20" name="">
            <a:extLst xmlns:a="http://schemas.openxmlformats.org/drawingml/2006/main">
              <a:ext uri="{FF2B5EF4-FFF2-40B4-BE49-F238E27FC236}">
                <a16:creationId xmlns:a16="http://schemas.microsoft.com/office/drawing/2014/main" id="{9F3450A7-85BF-4F20-9D27-0C2FBBF2EA45}"/>
              </a:ext>
            </a:extLst>
          </p:cNvPr>
          <p:cNvSpPr>
            <a:spLocks xmlns:a="http://schemas.openxmlformats.org/drawingml/2006/main" noGrp="1"/>
          </p:cNvSpPr>
          <p:nvPr/>
        </p:nvSpPr>
        <p:spPr>
          <a:xfrm xmlns:a="http://schemas.openxmlformats.org/drawingml/2006/main">
            <a:off x="647700" y="3581400"/>
            <a:ext cx="2000250" cy="438150"/>
          </a:xfrm>
          <a:prstGeom xmlns:a="http://schemas.openxmlformats.org/drawingml/2006/main" prst="roundRect">
            <a:avLst>
              <a:gd name="adj" fmla="val 17391"/>
            </a:avLst>
          </a:prstGeom>
          <a:solidFill xmlns:a="http://schemas.openxmlformats.org/drawingml/2006/main">
            <a:srgbClr val="ECF3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1">
                <a:solidFill>
                  <a:srgbClr val="17202A"/>
                </a:solidFill>
              </a:defRPr>
            </a:pPr>
            <a:r>
              <a:rPr sz="1125" b="1">
                <a:solidFill>
                  <a:srgbClr val="17202A"/>
                </a:solidFill>
              </a:rPr>
              <a:t>Serving path</a:t>
            </a:r>
          </a:p>
        </p:txBody>
      </p:sp>
      <p:sp>
        <p:nvSpPr>
          <p:cNvPr id="21" name="">
            <a:extLst xmlns:a="http://schemas.openxmlformats.org/drawingml/2006/main">
              <a:ext uri="{FF2B5EF4-FFF2-40B4-BE49-F238E27FC236}">
                <a16:creationId xmlns:a16="http://schemas.microsoft.com/office/drawing/2014/main" id="{7539020A-19E8-4BC8-BEA1-246A5C968038}"/>
              </a:ext>
            </a:extLst>
          </p:cNvPr>
          <p:cNvSpPr>
            <a:spLocks xmlns:a="http://schemas.openxmlformats.org/drawingml/2006/main" noGrp="1"/>
          </p:cNvSpPr>
          <p:nvPr/>
        </p:nvSpPr>
        <p:spPr>
          <a:xfrm xmlns:a="http://schemas.openxmlformats.org/drawingml/2006/main">
            <a:off x="2724150" y="3581400"/>
            <a:ext cx="4229100" cy="438150"/>
          </a:xfrm>
          <a:prstGeom xmlns:a="http://schemas.openxmlformats.org/drawingml/2006/main" prst="roundRect">
            <a:avLst>
              <a:gd name="adj" fmla="val 17391"/>
            </a:avLst>
          </a:prstGeom>
          <a:solidFill xmlns:a="http://schemas.openxmlformats.org/drawingml/2006/main">
            <a:srgbClr val="ECF3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0">
                <a:solidFill>
                  <a:srgbClr val="5D6975"/>
                </a:solidFill>
              </a:defRPr>
            </a:pPr>
            <a:r>
              <a:rPr sz="1125" b="0">
                <a:solidFill>
                  <a:srgbClr val="5D6975"/>
                </a:solidFill>
              </a:rPr>
              <a:t>FastAPI + baseline/candidate routing</a:t>
            </a:r>
          </a:p>
        </p:txBody>
      </p:sp>
      <p:sp>
        <p:nvSpPr>
          <p:cNvPr id="22" name="">
            <a:extLst xmlns:a="http://schemas.openxmlformats.org/drawingml/2006/main">
              <a:ext uri="{FF2B5EF4-FFF2-40B4-BE49-F238E27FC236}">
                <a16:creationId xmlns:a16="http://schemas.microsoft.com/office/drawing/2014/main" id="{93B8BE99-0446-4FBB-897E-EF65E92D8671}"/>
              </a:ext>
            </a:extLst>
          </p:cNvPr>
          <p:cNvSpPr>
            <a:spLocks xmlns:a="http://schemas.openxmlformats.org/drawingml/2006/main" noGrp="1"/>
          </p:cNvSpPr>
          <p:nvPr/>
        </p:nvSpPr>
        <p:spPr>
          <a:xfrm xmlns:a="http://schemas.openxmlformats.org/drawingml/2006/main">
            <a:off x="7029450" y="3581400"/>
            <a:ext cx="4229100" cy="438150"/>
          </a:xfrm>
          <a:prstGeom xmlns:a="http://schemas.openxmlformats.org/drawingml/2006/main" prst="roundRect">
            <a:avLst>
              <a:gd name="adj" fmla="val 17391"/>
            </a:avLst>
          </a:prstGeom>
          <a:solidFill xmlns:a="http://schemas.openxmlformats.org/drawingml/2006/main">
            <a:srgbClr val="ECF3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0">
                <a:solidFill>
                  <a:srgbClr val="5D6975"/>
                </a:solidFill>
              </a:defRPr>
            </a:pPr>
            <a:r>
              <a:rPr sz="1125" b="0">
                <a:solidFill>
                  <a:srgbClr val="5D6975"/>
                </a:solidFill>
              </a:rPr>
              <a:t>FastAPI + enterprise search engine</a:t>
            </a:r>
          </a:p>
        </p:txBody>
      </p:sp>
      <p:sp>
        <p:nvSpPr>
          <p:cNvPr id="23" name="">
            <a:extLst xmlns:a="http://schemas.openxmlformats.org/drawingml/2006/main">
              <a:ext uri="{FF2B5EF4-FFF2-40B4-BE49-F238E27FC236}">
                <a16:creationId xmlns:a16="http://schemas.microsoft.com/office/drawing/2014/main" id="{8B6FB333-E587-4B2D-9447-D2AF29303A53}"/>
              </a:ext>
            </a:extLst>
          </p:cNvPr>
          <p:cNvSpPr>
            <a:spLocks xmlns:a="http://schemas.openxmlformats.org/drawingml/2006/main" noGrp="1"/>
          </p:cNvSpPr>
          <p:nvPr/>
        </p:nvSpPr>
        <p:spPr>
          <a:xfrm xmlns:a="http://schemas.openxmlformats.org/drawingml/2006/main">
            <a:off x="647700" y="4114800"/>
            <a:ext cx="20002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1">
                <a:solidFill>
                  <a:srgbClr val="17202A"/>
                </a:solidFill>
              </a:defRPr>
            </a:pPr>
            <a:r>
              <a:rPr sz="1125" b="1">
                <a:solidFill>
                  <a:srgbClr val="17202A"/>
                </a:solidFill>
              </a:rPr>
              <a:t>Diagnosis</a:t>
            </a:r>
          </a:p>
        </p:txBody>
      </p:sp>
      <p:sp>
        <p:nvSpPr>
          <p:cNvPr id="24" name="">
            <a:extLst xmlns:a="http://schemas.openxmlformats.org/drawingml/2006/main">
              <a:ext uri="{FF2B5EF4-FFF2-40B4-BE49-F238E27FC236}">
                <a16:creationId xmlns:a16="http://schemas.microsoft.com/office/drawing/2014/main" id="{FACCEAC9-09FE-4DA0-855A-477C4C4DE72B}"/>
              </a:ext>
            </a:extLst>
          </p:cNvPr>
          <p:cNvSpPr>
            <a:spLocks xmlns:a="http://schemas.openxmlformats.org/drawingml/2006/main" noGrp="1"/>
          </p:cNvSpPr>
          <p:nvPr/>
        </p:nvSpPr>
        <p:spPr>
          <a:xfrm xmlns:a="http://schemas.openxmlformats.org/drawingml/2006/main">
            <a:off x="2724150" y="4114800"/>
            <a:ext cx="42291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0">
                <a:solidFill>
                  <a:srgbClr val="5D6975"/>
                </a:solidFill>
              </a:defRPr>
            </a:pPr>
            <a:r>
              <a:rPr sz="1125" b="0">
                <a:solidFill>
                  <a:srgbClr val="5D6975"/>
                </a:solidFill>
              </a:rPr>
              <a:t>RCA + incident packet + RLM</a:t>
            </a:r>
          </a:p>
        </p:txBody>
      </p:sp>
      <p:sp>
        <p:nvSpPr>
          <p:cNvPr id="25" name="">
            <a:extLst xmlns:a="http://schemas.openxmlformats.org/drawingml/2006/main">
              <a:ext uri="{FF2B5EF4-FFF2-40B4-BE49-F238E27FC236}">
                <a16:creationId xmlns:a16="http://schemas.microsoft.com/office/drawing/2014/main" id="{8674D1CB-EDC2-46CA-96FE-176DD1AB8180}"/>
              </a:ext>
            </a:extLst>
          </p:cNvPr>
          <p:cNvSpPr>
            <a:spLocks xmlns:a="http://schemas.openxmlformats.org/drawingml/2006/main" noGrp="1"/>
          </p:cNvSpPr>
          <p:nvPr/>
        </p:nvSpPr>
        <p:spPr>
          <a:xfrm xmlns:a="http://schemas.openxmlformats.org/drawingml/2006/main">
            <a:off x="7029450" y="4114800"/>
            <a:ext cx="42291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0">
                <a:solidFill>
                  <a:srgbClr val="5D6975"/>
                </a:solidFill>
              </a:defRPr>
            </a:pPr>
            <a:r>
              <a:rPr sz="1125" b="0">
                <a:solidFill>
                  <a:srgbClr val="5D6975"/>
                </a:solidFill>
              </a:rPr>
              <a:t>Same logic pointed at enterprise evidence</a:t>
            </a:r>
          </a:p>
        </p:txBody>
      </p:sp>
      <p:sp>
        <p:nvSpPr>
          <p:cNvPr id="26" name="">
            <a:extLst xmlns:a="http://schemas.openxmlformats.org/drawingml/2006/main">
              <a:ext uri="{FF2B5EF4-FFF2-40B4-BE49-F238E27FC236}">
                <a16:creationId xmlns:a16="http://schemas.microsoft.com/office/drawing/2014/main" id="{59884871-0F2D-49C1-8A7B-4D7FCADB6F6F}"/>
              </a:ext>
            </a:extLst>
          </p:cNvPr>
          <p:cNvSpPr>
            <a:spLocks xmlns:a="http://schemas.openxmlformats.org/drawingml/2006/main" noGrp="1"/>
          </p:cNvSpPr>
          <p:nvPr/>
        </p:nvSpPr>
        <p:spPr>
          <a:xfrm xmlns:a="http://schemas.openxmlformats.org/drawingml/2006/main">
            <a:off x="647700" y="4648200"/>
            <a:ext cx="2000250" cy="438150"/>
          </a:xfrm>
          <a:prstGeom xmlns:a="http://schemas.openxmlformats.org/drawingml/2006/main" prst="roundRect">
            <a:avLst>
              <a:gd name="adj" fmla="val 17391"/>
            </a:avLst>
          </a:prstGeom>
          <a:solidFill xmlns:a="http://schemas.openxmlformats.org/drawingml/2006/main">
            <a:srgbClr val="ECF3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1">
                <a:solidFill>
                  <a:srgbClr val="17202A"/>
                </a:solidFill>
              </a:defRPr>
            </a:pPr>
            <a:r>
              <a:rPr sz="1125" b="1">
                <a:solidFill>
                  <a:srgbClr val="17202A"/>
                </a:solidFill>
              </a:rPr>
              <a:t>Rollout control</a:t>
            </a:r>
          </a:p>
        </p:txBody>
      </p:sp>
      <p:sp>
        <p:nvSpPr>
          <p:cNvPr id="27" name="">
            <a:extLst xmlns:a="http://schemas.openxmlformats.org/drawingml/2006/main">
              <a:ext uri="{FF2B5EF4-FFF2-40B4-BE49-F238E27FC236}">
                <a16:creationId xmlns:a16="http://schemas.microsoft.com/office/drawing/2014/main" id="{A7C71418-4A33-4886-8B00-381FEB46FE09}"/>
              </a:ext>
            </a:extLst>
          </p:cNvPr>
          <p:cNvSpPr>
            <a:spLocks xmlns:a="http://schemas.openxmlformats.org/drawingml/2006/main" noGrp="1"/>
          </p:cNvSpPr>
          <p:nvPr/>
        </p:nvSpPr>
        <p:spPr>
          <a:xfrm xmlns:a="http://schemas.openxmlformats.org/drawingml/2006/main">
            <a:off x="2724150" y="4648200"/>
            <a:ext cx="4229100" cy="438150"/>
          </a:xfrm>
          <a:prstGeom xmlns:a="http://schemas.openxmlformats.org/drawingml/2006/main" prst="roundRect">
            <a:avLst>
              <a:gd name="adj" fmla="val 17391"/>
            </a:avLst>
          </a:prstGeom>
          <a:solidFill xmlns:a="http://schemas.openxmlformats.org/drawingml/2006/main">
            <a:srgbClr val="ECF3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0">
                <a:solidFill>
                  <a:srgbClr val="5D6975"/>
                </a:solidFill>
              </a:defRPr>
            </a:pPr>
            <a:r>
              <a:rPr sz="1125" b="0">
                <a:solidFill>
                  <a:srgbClr val="5D6975"/>
                </a:solidFill>
              </a:rPr>
              <a:t>Temporal + traffic router</a:t>
            </a:r>
          </a:p>
        </p:txBody>
      </p:sp>
      <p:sp>
        <p:nvSpPr>
          <p:cNvPr id="28" name="">
            <a:extLst xmlns:a="http://schemas.openxmlformats.org/drawingml/2006/main">
              <a:ext uri="{FF2B5EF4-FFF2-40B4-BE49-F238E27FC236}">
                <a16:creationId xmlns:a16="http://schemas.microsoft.com/office/drawing/2014/main" id="{6614F703-1D73-45DA-A0F6-13F2C2AD98C5}"/>
              </a:ext>
            </a:extLst>
          </p:cNvPr>
          <p:cNvSpPr>
            <a:spLocks xmlns:a="http://schemas.openxmlformats.org/drawingml/2006/main" noGrp="1"/>
          </p:cNvSpPr>
          <p:nvPr/>
        </p:nvSpPr>
        <p:spPr>
          <a:xfrm xmlns:a="http://schemas.openxmlformats.org/drawingml/2006/main">
            <a:off x="7029450" y="4648200"/>
            <a:ext cx="4229100" cy="438150"/>
          </a:xfrm>
          <a:prstGeom xmlns:a="http://schemas.openxmlformats.org/drawingml/2006/main" prst="roundRect">
            <a:avLst>
              <a:gd name="adj" fmla="val 17391"/>
            </a:avLst>
          </a:prstGeom>
          <a:solidFill xmlns:a="http://schemas.openxmlformats.org/drawingml/2006/main">
            <a:srgbClr val="ECF3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0">
                <a:solidFill>
                  <a:srgbClr val="5D6975"/>
                </a:solidFill>
              </a:defRPr>
            </a:pPr>
            <a:r>
              <a:rPr sz="1125" b="0">
                <a:solidFill>
                  <a:srgbClr val="5D6975"/>
                </a:solidFill>
              </a:rPr>
              <a:t>Temporal + Search Change Adapter</a:t>
            </a:r>
          </a:p>
        </p:txBody>
      </p:sp>
      <p:sp>
        <p:nvSpPr>
          <p:cNvPr id="29" name="">
            <a:extLst xmlns:a="http://schemas.openxmlformats.org/drawingml/2006/main">
              <a:ext uri="{FF2B5EF4-FFF2-40B4-BE49-F238E27FC236}">
                <a16:creationId xmlns:a16="http://schemas.microsoft.com/office/drawing/2014/main" id="{B60CBB34-D59E-4234-87C3-6072EFB5BC53}"/>
              </a:ext>
            </a:extLst>
          </p:cNvPr>
          <p:cNvSpPr>
            <a:spLocks xmlns:a="http://schemas.openxmlformats.org/drawingml/2006/main" noGrp="1"/>
          </p:cNvSpPr>
          <p:nvPr/>
        </p:nvSpPr>
        <p:spPr>
          <a:xfrm xmlns:a="http://schemas.openxmlformats.org/drawingml/2006/main">
            <a:off x="647700" y="5181600"/>
            <a:ext cx="200025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1">
                <a:solidFill>
                  <a:srgbClr val="17202A"/>
                </a:solidFill>
              </a:defRPr>
            </a:pPr>
            <a:r>
              <a:rPr sz="1125" b="1">
                <a:solidFill>
                  <a:srgbClr val="17202A"/>
                </a:solidFill>
              </a:rPr>
              <a:t>Observability</a:t>
            </a:r>
          </a:p>
        </p:txBody>
      </p:sp>
      <p:sp>
        <p:nvSpPr>
          <p:cNvPr id="30" name="">
            <a:extLst xmlns:a="http://schemas.openxmlformats.org/drawingml/2006/main">
              <a:ext uri="{FF2B5EF4-FFF2-40B4-BE49-F238E27FC236}">
                <a16:creationId xmlns:a16="http://schemas.microsoft.com/office/drawing/2014/main" id="{71C790DC-01CF-445B-AC81-E307F62D0422}"/>
              </a:ext>
            </a:extLst>
          </p:cNvPr>
          <p:cNvSpPr>
            <a:spLocks xmlns:a="http://schemas.openxmlformats.org/drawingml/2006/main" noGrp="1"/>
          </p:cNvSpPr>
          <p:nvPr/>
        </p:nvSpPr>
        <p:spPr>
          <a:xfrm xmlns:a="http://schemas.openxmlformats.org/drawingml/2006/main">
            <a:off x="2724150" y="5181600"/>
            <a:ext cx="42291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0">
                <a:solidFill>
                  <a:srgbClr val="5D6975"/>
                </a:solidFill>
              </a:defRPr>
            </a:pPr>
            <a:r>
              <a:rPr sz="1125" b="0">
                <a:solidFill>
                  <a:srgbClr val="5D6975"/>
                </a:solidFill>
              </a:rPr>
              <a:t>Prometheus, Grafana, Jaeger</a:t>
            </a:r>
          </a:p>
        </p:txBody>
      </p:sp>
      <p:sp>
        <p:nvSpPr>
          <p:cNvPr id="31" name="">
            <a:extLst xmlns:a="http://schemas.openxmlformats.org/drawingml/2006/main">
              <a:ext uri="{FF2B5EF4-FFF2-40B4-BE49-F238E27FC236}">
                <a16:creationId xmlns:a16="http://schemas.microsoft.com/office/drawing/2014/main" id="{9E465578-48F3-4260-840A-3BDC014B1D6D}"/>
              </a:ext>
            </a:extLst>
          </p:cNvPr>
          <p:cNvSpPr>
            <a:spLocks xmlns:a="http://schemas.openxmlformats.org/drawingml/2006/main" noGrp="1"/>
          </p:cNvSpPr>
          <p:nvPr/>
        </p:nvSpPr>
        <p:spPr>
          <a:xfrm xmlns:a="http://schemas.openxmlformats.org/drawingml/2006/main">
            <a:off x="7029450" y="5181600"/>
            <a:ext cx="42291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0">
                <a:solidFill>
                  <a:srgbClr val="5D6975"/>
                </a:solidFill>
              </a:defRPr>
            </a:pPr>
            <a:r>
              <a:rPr sz="1125" b="0">
                <a:solidFill>
                  <a:srgbClr val="5D6975"/>
                </a:solidFill>
              </a:rPr>
              <a:t>Same pattern with production-grade sources</a:t>
            </a:r>
          </a:p>
        </p:txBody>
      </p:sp>
      <p:sp>
        <p:nvSpPr>
          <p:cNvPr id="32" name="">
            <a:extLst xmlns:a="http://schemas.openxmlformats.org/drawingml/2006/main">
              <a:ext uri="{FF2B5EF4-FFF2-40B4-BE49-F238E27FC236}">
                <a16:creationId xmlns:a16="http://schemas.microsoft.com/office/drawing/2014/main" id="{862E7CB5-0AC2-4223-AC33-4EA96ED63A72}"/>
              </a:ext>
            </a:extLst>
          </p:cNvPr>
          <p:cNvSpPr>
            <a:spLocks xmlns:a="http://schemas.openxmlformats.org/drawingml/2006/main" noGrp="1"/>
          </p:cNvSpPr>
          <p:nvPr/>
        </p:nvSpPr>
        <p:spPr>
          <a:xfrm xmlns:a="http://schemas.openxmlformats.org/drawingml/2006/main">
            <a:off x="647700" y="5715000"/>
            <a:ext cx="2000250" cy="438150"/>
          </a:xfrm>
          <a:prstGeom xmlns:a="http://schemas.openxmlformats.org/drawingml/2006/main" prst="roundRect">
            <a:avLst>
              <a:gd name="adj" fmla="val 17391"/>
            </a:avLst>
          </a:prstGeom>
          <a:solidFill xmlns:a="http://schemas.openxmlformats.org/drawingml/2006/main">
            <a:srgbClr val="ECF3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1">
                <a:solidFill>
                  <a:srgbClr val="17202A"/>
                </a:solidFill>
              </a:defRPr>
            </a:pPr>
            <a:r>
              <a:rPr sz="1125" b="1">
                <a:solidFill>
                  <a:srgbClr val="17202A"/>
                </a:solidFill>
              </a:rPr>
              <a:t>Business control</a:t>
            </a:r>
          </a:p>
        </p:txBody>
      </p:sp>
      <p:sp>
        <p:nvSpPr>
          <p:cNvPr id="33" name="">
            <a:extLst xmlns:a="http://schemas.openxmlformats.org/drawingml/2006/main">
              <a:ext uri="{FF2B5EF4-FFF2-40B4-BE49-F238E27FC236}">
                <a16:creationId xmlns:a16="http://schemas.microsoft.com/office/drawing/2014/main" id="{1AB6FF22-C68A-4BDD-8FB3-47F6A6D05829}"/>
              </a:ext>
            </a:extLst>
          </p:cNvPr>
          <p:cNvSpPr>
            <a:spLocks xmlns:a="http://schemas.openxmlformats.org/drawingml/2006/main" noGrp="1"/>
          </p:cNvSpPr>
          <p:nvPr/>
        </p:nvSpPr>
        <p:spPr>
          <a:xfrm xmlns:a="http://schemas.openxmlformats.org/drawingml/2006/main">
            <a:off x="2724150" y="5715000"/>
            <a:ext cx="4229100" cy="438150"/>
          </a:xfrm>
          <a:prstGeom xmlns:a="http://schemas.openxmlformats.org/drawingml/2006/main" prst="roundRect">
            <a:avLst>
              <a:gd name="adj" fmla="val 17391"/>
            </a:avLst>
          </a:prstGeom>
          <a:solidFill xmlns:a="http://schemas.openxmlformats.org/drawingml/2006/main">
            <a:srgbClr val="ECF3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0">
                <a:solidFill>
                  <a:srgbClr val="5D6975"/>
                </a:solidFill>
              </a:defRPr>
            </a:pPr>
            <a:r>
              <a:rPr sz="1125" b="0">
                <a:solidFill>
                  <a:srgbClr val="5D6975"/>
                </a:solidFill>
              </a:rPr>
              <a:t>Operator console + approval store</a:t>
            </a:r>
          </a:p>
        </p:txBody>
      </p:sp>
      <p:sp>
        <p:nvSpPr>
          <p:cNvPr id="34" name="">
            <a:extLst xmlns:a="http://schemas.openxmlformats.org/drawingml/2006/main">
              <a:ext uri="{FF2B5EF4-FFF2-40B4-BE49-F238E27FC236}">
                <a16:creationId xmlns:a16="http://schemas.microsoft.com/office/drawing/2014/main" id="{62E4E27F-4AF9-424B-968B-813045DA0538}"/>
              </a:ext>
            </a:extLst>
          </p:cNvPr>
          <p:cNvSpPr>
            <a:spLocks xmlns:a="http://schemas.openxmlformats.org/drawingml/2006/main" noGrp="1"/>
          </p:cNvSpPr>
          <p:nvPr/>
        </p:nvSpPr>
        <p:spPr>
          <a:xfrm xmlns:a="http://schemas.openxmlformats.org/drawingml/2006/main">
            <a:off x="7029450" y="5715000"/>
            <a:ext cx="4229100" cy="438150"/>
          </a:xfrm>
          <a:prstGeom xmlns:a="http://schemas.openxmlformats.org/drawingml/2006/main" prst="roundRect">
            <a:avLst>
              <a:gd name="adj" fmla="val 17391"/>
            </a:avLst>
          </a:prstGeom>
          <a:solidFill xmlns:a="http://schemas.openxmlformats.org/drawingml/2006/main">
            <a:srgbClr val="ECF3FF"/>
          </a:solidFill>
          <a:ln xmlns:a="http://schemas.openxmlformats.org/drawingml/2006/main" w="9525">
            <a:solidFill>
              <a:srgbClr val="D6DADF"/>
            </a:solidFill>
            <a:prstDash val="solid"/>
          </a:ln>
        </p:spPr>
        <p:txBody>
          <a:bodyPr xmlns:a="http://schemas.openxmlformats.org/drawingml/2006/main" lIns="114300" tIns="95250" rIns="114300" bIns="95250" anchor="ctr"/>
          <a:lstStyle xmlns:a="http://schemas.openxmlformats.org/drawingml/2006/main"/>
          <a:p xmlns:a="http://schemas.openxmlformats.org/drawingml/2006/main">
            <a:pPr algn="l">
              <a:defRPr sz="1125" b="0">
                <a:solidFill>
                  <a:srgbClr val="5D6975"/>
                </a:solidFill>
              </a:defRPr>
            </a:pPr>
            <a:r>
              <a:rPr sz="1125" b="0">
                <a:solidFill>
                  <a:srgbClr val="5D6975"/>
                </a:solidFill>
              </a:rPr>
              <a:t>Same pattern integrated with enterprise workflows</a:t>
            </a:r>
          </a:p>
        </p:txBody>
      </p:sp>
      <p:sp>
        <p:nvSpPr>
          <p:cNvPr id="35" name="">
            <a:extLst xmlns:a="http://schemas.openxmlformats.org/drawingml/2006/main">
              <a:ext uri="{FF2B5EF4-FFF2-40B4-BE49-F238E27FC236}">
                <a16:creationId xmlns:a16="http://schemas.microsoft.com/office/drawing/2014/main" id="{7FCD4BD1-D937-45A2-A2E8-48FA26E182B6}"/>
              </a:ext>
            </a:extLst>
          </p:cNvPr>
          <p:cNvSpPr>
            <a:spLocks xmlns:a="http://schemas.openxmlformats.org/drawingml/2006/main" noGrp="1"/>
          </p:cNvSpPr>
          <p:nvPr/>
        </p:nvSpPr>
        <p:spPr>
          <a:xfrm xmlns:a="http://schemas.openxmlformats.org/drawingml/2006/main">
            <a:off x="647700" y="6000750"/>
            <a:ext cx="10896600" cy="323850"/>
          </a:xfrm>
          <a:prstGeom xmlns:a="http://schemas.openxmlformats.org/drawingml/2006/main" prst="roundRect">
            <a:avLst>
              <a:gd name="adj" fmla="val 23529"/>
            </a:avLst>
          </a:prstGeom>
          <a:solidFill xmlns:a="http://schemas.openxmlformats.org/drawingml/2006/main">
            <a:srgbClr val="FFF9E8"/>
          </a:solidFill>
          <a:ln xmlns:a="http://schemas.openxmlformats.org/drawingml/2006/main" w="9525">
            <a:solidFill>
              <a:srgbClr val="B98900"/>
            </a:solidFill>
            <a:prstDash val="solid"/>
          </a:ln>
        </p:spPr>
        <p:txBody>
          <a:bodyPr xmlns:a="http://schemas.openxmlformats.org/drawingml/2006/main" lIns="152400" tIns="76200" rIns="152400" bIns="76200" anchor="t"/>
          <a:lstStyle xmlns:a="http://schemas.openxmlformats.org/drawingml/2006/main"/>
          <a:p xmlns:a="http://schemas.openxmlformats.org/drawingml/2006/main">
            <a:pPr algn="l">
              <a:defRPr sz="1125" b="0">
                <a:solidFill>
                  <a:srgbClr val="17202A"/>
                </a:solidFill>
              </a:defRPr>
            </a:pPr>
            <a:r>
              <a:rPr sz="1125" b="0">
                <a:solidFill>
                  <a:srgbClr val="17202A"/>
                </a:solidFill>
              </a:rPr>
              <a:t>What stays constant: detectors, incident intelligence, Temporal approval, rollout safety, rollback rules, and audit trail.</a:t>
            </a:r>
          </a:p>
        </p:txBody>
      </p:sp>
    </p:spTree>
    <p:extLst>
      <p:ext uri="{BB962C8B-B14F-4D97-AF65-F5344CB8AC3E}">
        <p14:creationId xmlns:p14="http://schemas.microsoft.com/office/powerpoint/2010/main" val="1351570916"/>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A6FEF05-D048-440E-A88D-4A745AAB4CEB}"/>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A1D5244-7D21-466F-84B5-64733067F6FC}"/>
              </a:ext>
            </a:extLst>
          </p:cNvPr>
          <p:cNvSpPr>
            <a:spLocks xmlns:a="http://schemas.openxmlformats.org/drawingml/2006/main" noGrp="1"/>
          </p:cNvSpPr>
          <p:nvPr/>
        </p:nvSpPr>
        <p:spPr>
          <a:xfrm xmlns:a="http://schemas.openxmlformats.org/drawingml/2006/main">
            <a:off x="647700" y="400050"/>
            <a:ext cx="7239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2325" b="1">
                <a:solidFill>
                  <a:srgbClr val="17202A"/>
                </a:solidFill>
              </a:defRPr>
            </a:pPr>
            <a:r>
              <a:rPr sz="2325" b="1">
                <a:solidFill>
                  <a:srgbClr val="17202A"/>
                </a:solidFill>
              </a:rPr>
              <a:t>Ownership And Operating Model</a:t>
            </a:r>
          </a:p>
        </p:txBody>
      </p:sp>
      <p:sp>
        <p:nvSpPr>
          <p:cNvPr id="3" name="">
            <a:extLst xmlns:a="http://schemas.openxmlformats.org/drawingml/2006/main">
              <a:ext uri="{FF2B5EF4-FFF2-40B4-BE49-F238E27FC236}">
                <a16:creationId xmlns:a16="http://schemas.microsoft.com/office/drawing/2014/main" id="{C4A8BCF0-9F4E-4A15-A973-2E39553A2C48}"/>
              </a:ext>
            </a:extLst>
          </p:cNvPr>
          <p:cNvSpPr>
            <a:spLocks xmlns:a="http://schemas.openxmlformats.org/drawingml/2006/main" noGrp="1"/>
          </p:cNvSpPr>
          <p:nvPr/>
        </p:nvSpPr>
        <p:spPr>
          <a:xfrm xmlns:a="http://schemas.openxmlformats.org/drawingml/2006/main">
            <a:off x="647700" y="87630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275" b="0">
                <a:solidFill>
                  <a:srgbClr val="5D6975"/>
                </a:solidFill>
              </a:defRPr>
            </a:pPr>
            <a:r>
              <a:rPr sz="1275" b="0">
                <a:solidFill>
                  <a:srgbClr val="5D6975"/>
                </a:solidFill>
              </a:rPr>
              <a:t>Each layer has a clear owner so the system is understandable during both normal operations and incident response.</a:t>
            </a:r>
          </a:p>
        </p:txBody>
      </p:sp>
      <p:sp>
        <p:nvSpPr>
          <p:cNvPr id="4" name="">
            <a:extLst xmlns:a="http://schemas.openxmlformats.org/drawingml/2006/main">
              <a:ext uri="{FF2B5EF4-FFF2-40B4-BE49-F238E27FC236}">
                <a16:creationId xmlns:a16="http://schemas.microsoft.com/office/drawing/2014/main" id="{C605227B-4E1B-4299-B870-5D8A9F27CF61}"/>
              </a:ext>
            </a:extLst>
          </p:cNvPr>
          <p:cNvSpPr>
            <a:spLocks xmlns:a="http://schemas.openxmlformats.org/drawingml/2006/main" noGrp="1"/>
          </p:cNvSpPr>
          <p:nvPr/>
        </p:nvSpPr>
        <p:spPr>
          <a:xfrm xmlns:a="http://schemas.openxmlformats.org/drawingml/2006/main">
            <a:off x="647700" y="1314450"/>
            <a:ext cx="10896600" cy="419100"/>
          </a:xfrm>
          <a:prstGeom xmlns:a="http://schemas.openxmlformats.org/drawingml/2006/main" prst="roundRect">
            <a:avLst>
              <a:gd name="adj" fmla="val 18182"/>
            </a:avLst>
          </a:prstGeom>
          <a:solidFill xmlns:a="http://schemas.openxmlformats.org/drawingml/2006/main">
            <a:srgbClr val="FFF9E8"/>
          </a:solidFill>
          <a:ln xmlns:a="http://schemas.openxmlformats.org/drawingml/2006/main" w="9525">
            <a:solidFill>
              <a:srgbClr val="B98900"/>
            </a:solidFill>
            <a:prstDash val="solid"/>
          </a:ln>
        </p:spPr>
        <p:txBody>
          <a:bodyPr xmlns:a="http://schemas.openxmlformats.org/drawingml/2006/main" lIns="152400" tIns="95250" rIns="152400" bIns="95250" anchor="t"/>
          <a:lstStyle xmlns:a="http://schemas.openxmlformats.org/drawingml/2006/main"/>
          <a:p xmlns:a="http://schemas.openxmlformats.org/drawingml/2006/main">
            <a:pPr algn="l">
              <a:defRPr sz="1200" b="0">
                <a:solidFill>
                  <a:srgbClr val="17202A"/>
                </a:solidFill>
              </a:defRPr>
            </a:pPr>
            <a:r>
              <a:rPr sz="1200" b="0">
                <a:solidFill>
                  <a:srgbClr val="17202A"/>
                </a:solidFill>
              </a:rPr>
              <a:t>Risky release approval happens after diagnosis, evaluation, and business guardrail review. Product / Business Approver is the final human signoff.</a:t>
            </a:r>
          </a:p>
        </p:txBody>
      </p:sp>
      <p:sp>
        <p:nvSpPr>
          <p:cNvPr id="5" name="">
            <a:extLst xmlns:a="http://schemas.openxmlformats.org/drawingml/2006/main">
              <a:ext uri="{FF2B5EF4-FFF2-40B4-BE49-F238E27FC236}">
                <a16:creationId xmlns:a16="http://schemas.microsoft.com/office/drawing/2014/main" id="{755AC024-6947-460D-A45C-38B92A9E0319}"/>
              </a:ext>
            </a:extLst>
          </p:cNvPr>
          <p:cNvSpPr>
            <a:spLocks xmlns:a="http://schemas.openxmlformats.org/drawingml/2006/main" noGrp="1"/>
          </p:cNvSpPr>
          <p:nvPr/>
        </p:nvSpPr>
        <p:spPr>
          <a:xfrm xmlns:a="http://schemas.openxmlformats.org/drawingml/2006/main">
            <a:off x="647700" y="2000250"/>
            <a:ext cx="333375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6DADF"/>
            </a:solidFill>
            <a:prstDash val="solid"/>
          </a:ln>
        </p:spPr>
      </p:sp>
      <p:sp>
        <p:nvSpPr>
          <p:cNvPr id="6" name="">
            <a:extLst xmlns:a="http://schemas.openxmlformats.org/drawingml/2006/main">
              <a:ext uri="{FF2B5EF4-FFF2-40B4-BE49-F238E27FC236}">
                <a16:creationId xmlns:a16="http://schemas.microsoft.com/office/drawing/2014/main" id="{B7BE7EC3-0428-4CF7-8292-8DDCF6EC2D98}"/>
              </a:ext>
            </a:extLst>
          </p:cNvPr>
          <p:cNvSpPr>
            <a:spLocks xmlns:a="http://schemas.openxmlformats.org/drawingml/2006/main" noGrp="1"/>
          </p:cNvSpPr>
          <p:nvPr/>
        </p:nvSpPr>
        <p:spPr>
          <a:xfrm xmlns:a="http://schemas.openxmlformats.org/drawingml/2006/main">
            <a:off x="647700" y="2000250"/>
            <a:ext cx="3333750" cy="76200"/>
          </a:xfrm>
          <a:prstGeom xmlns:a="http://schemas.openxmlformats.org/drawingml/2006/main" prst="roundRect">
            <a:avLst>
              <a:gd name="adj" fmla="val 50000"/>
            </a:avLst>
          </a:prstGeom>
          <a:solidFill xmlns:a="http://schemas.openxmlformats.org/drawingml/2006/main">
            <a:srgbClr val="22A06B"/>
          </a:solidFill>
          <a:ln xmlns:a="http://schemas.openxmlformats.org/drawingml/2006/main" w="0">
            <a:solidFill>
              <a:srgbClr val="22A06B"/>
            </a:solidFill>
            <a:prstDash val="solid"/>
          </a:ln>
        </p:spPr>
      </p:sp>
      <p:sp>
        <p:nvSpPr>
          <p:cNvPr id="7" name="">
            <a:extLst xmlns:a="http://schemas.openxmlformats.org/drawingml/2006/main">
              <a:ext uri="{FF2B5EF4-FFF2-40B4-BE49-F238E27FC236}">
                <a16:creationId xmlns:a16="http://schemas.microsoft.com/office/drawing/2014/main" id="{BB42B05D-5B96-48D2-8B3F-BE7DE70132D8}"/>
              </a:ext>
            </a:extLst>
          </p:cNvPr>
          <p:cNvSpPr>
            <a:spLocks xmlns:a="http://schemas.openxmlformats.org/drawingml/2006/main" noGrp="1"/>
          </p:cNvSpPr>
          <p:nvPr/>
        </p:nvSpPr>
        <p:spPr>
          <a:xfrm xmlns:a="http://schemas.openxmlformats.org/drawingml/2006/main">
            <a:off x="781050" y="2152650"/>
            <a:ext cx="3067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Search Platform Team</a:t>
            </a:r>
          </a:p>
        </p:txBody>
      </p:sp>
      <p:sp>
        <p:nvSpPr>
          <p:cNvPr id="8" name="">
            <a:extLst xmlns:a="http://schemas.openxmlformats.org/drawingml/2006/main">
              <a:ext uri="{FF2B5EF4-FFF2-40B4-BE49-F238E27FC236}">
                <a16:creationId xmlns:a16="http://schemas.microsoft.com/office/drawing/2014/main" id="{E04A0E0C-E598-4B79-B1C5-E9D258FB9696}"/>
              </a:ext>
            </a:extLst>
          </p:cNvPr>
          <p:cNvSpPr>
            <a:spLocks xmlns:a="http://schemas.openxmlformats.org/drawingml/2006/main" noGrp="1"/>
          </p:cNvSpPr>
          <p:nvPr/>
        </p:nvSpPr>
        <p:spPr>
          <a:xfrm xmlns:a="http://schemas.openxmlformats.org/drawingml/2006/main">
            <a:off x="781050" y="2457450"/>
            <a:ext cx="30670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Owns search-serving behavior.</a:t>
            </a:r>
          </a:p>
          <a:p xmlns:a="http://schemas.openxmlformats.org/drawingml/2006/main">
            <a:pPr algn="l">
              <a:defRPr sz="1125" b="0">
                <a:solidFill>
                  <a:srgbClr val="5D6975"/>
                </a:solidFill>
              </a:defRPr>
            </a:pPr>
            <a:r>
              <a:rPr sz="1125" b="0">
                <a:solidFill>
                  <a:srgbClr val="5D6975"/>
                </a:solidFill>
              </a:rPr>
              <a:t>• Meilisearch in the demo</a:t>
            </a:r>
          </a:p>
          <a:p xmlns:a="http://schemas.openxmlformats.org/drawingml/2006/main">
            <a:pPr algn="l">
              <a:defRPr sz="1125" b="0">
                <a:solidFill>
                  <a:srgbClr val="5D6975"/>
                </a:solidFill>
              </a:defRPr>
            </a:pPr>
            <a:r>
              <a:rPr sz="1125" b="0">
                <a:solidFill>
                  <a:srgbClr val="5D6975"/>
                </a:solidFill>
              </a:rPr>
              <a:t>• AI Search Engine in the target state</a:t>
            </a:r>
          </a:p>
          <a:p xmlns:a="http://schemas.openxmlformats.org/drawingml/2006/main">
            <a:pPr algn="l">
              <a:defRPr sz="1125" b="0">
                <a:solidFill>
                  <a:srgbClr val="5D6975"/>
                </a:solidFill>
              </a:defRPr>
            </a:pPr>
            <a:r>
              <a:rPr sz="1125" b="0">
                <a:solidFill>
                  <a:srgbClr val="5D6975"/>
                </a:solidFill>
              </a:rPr>
              <a:t>• relevance, retrieval, engine-side quality</a:t>
            </a:r>
          </a:p>
        </p:txBody>
      </p:sp>
      <p:sp>
        <p:nvSpPr>
          <p:cNvPr id="9" name="">
            <a:extLst xmlns:a="http://schemas.openxmlformats.org/drawingml/2006/main">
              <a:ext uri="{FF2B5EF4-FFF2-40B4-BE49-F238E27FC236}">
                <a16:creationId xmlns:a16="http://schemas.microsoft.com/office/drawing/2014/main" id="{8283E366-7295-4E20-B830-41F54A6EFBBF}"/>
              </a:ext>
            </a:extLst>
          </p:cNvPr>
          <p:cNvSpPr>
            <a:spLocks xmlns:a="http://schemas.openxmlformats.org/drawingml/2006/main" noGrp="1"/>
          </p:cNvSpPr>
          <p:nvPr/>
        </p:nvSpPr>
        <p:spPr>
          <a:xfrm xmlns:a="http://schemas.openxmlformats.org/drawingml/2006/main">
            <a:off x="3676650" y="2114550"/>
            <a:ext cx="152400" cy="152400"/>
          </a:xfrm>
          <a:prstGeom xmlns:a="http://schemas.openxmlformats.org/drawingml/2006/main" prst="roundRect">
            <a:avLst>
              <a:gd name="adj" fmla="val 50000"/>
            </a:avLst>
          </a:prstGeom>
          <a:solidFill xmlns:a="http://schemas.openxmlformats.org/drawingml/2006/main">
            <a:srgbClr val="EAF8F1"/>
          </a:solidFill>
          <a:ln xmlns:a="http://schemas.openxmlformats.org/drawingml/2006/main" w="9525">
            <a:solidFill>
              <a:srgbClr val="22A06B"/>
            </a:solidFill>
            <a:prstDash val="solid"/>
          </a:ln>
        </p:spPr>
      </p:sp>
      <p:sp>
        <p:nvSpPr>
          <p:cNvPr id="10" name="">
            <a:extLst xmlns:a="http://schemas.openxmlformats.org/drawingml/2006/main">
              <a:ext uri="{FF2B5EF4-FFF2-40B4-BE49-F238E27FC236}">
                <a16:creationId xmlns:a16="http://schemas.microsoft.com/office/drawing/2014/main" id="{32929155-CD59-4E43-9C88-459037C08561}"/>
              </a:ext>
            </a:extLst>
          </p:cNvPr>
          <p:cNvSpPr>
            <a:spLocks xmlns:a="http://schemas.openxmlformats.org/drawingml/2006/main" noGrp="1"/>
          </p:cNvSpPr>
          <p:nvPr/>
        </p:nvSpPr>
        <p:spPr>
          <a:xfrm xmlns:a="http://schemas.openxmlformats.org/drawingml/2006/main">
            <a:off x="4419600" y="2000250"/>
            <a:ext cx="333375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6DADF"/>
            </a:solidFill>
            <a:prstDash val="solid"/>
          </a:ln>
        </p:spPr>
      </p:sp>
      <p:sp>
        <p:nvSpPr>
          <p:cNvPr id="11" name="">
            <a:extLst xmlns:a="http://schemas.openxmlformats.org/drawingml/2006/main">
              <a:ext uri="{FF2B5EF4-FFF2-40B4-BE49-F238E27FC236}">
                <a16:creationId xmlns:a16="http://schemas.microsoft.com/office/drawing/2014/main" id="{FD864FEC-36B3-40CB-91C1-E0EEF8C0677B}"/>
              </a:ext>
            </a:extLst>
          </p:cNvPr>
          <p:cNvSpPr>
            <a:spLocks xmlns:a="http://schemas.openxmlformats.org/drawingml/2006/main" noGrp="1"/>
          </p:cNvSpPr>
          <p:nvPr/>
        </p:nvSpPr>
        <p:spPr>
          <a:xfrm xmlns:a="http://schemas.openxmlformats.org/drawingml/2006/main">
            <a:off x="4419600" y="2000250"/>
            <a:ext cx="3333750" cy="762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2" name="">
            <a:extLst xmlns:a="http://schemas.openxmlformats.org/drawingml/2006/main">
              <a:ext uri="{FF2B5EF4-FFF2-40B4-BE49-F238E27FC236}">
                <a16:creationId xmlns:a16="http://schemas.microsoft.com/office/drawing/2014/main" id="{0666754E-6EBB-47FB-AD9A-D9029B86D424}"/>
              </a:ext>
            </a:extLst>
          </p:cNvPr>
          <p:cNvSpPr>
            <a:spLocks xmlns:a="http://schemas.openxmlformats.org/drawingml/2006/main" noGrp="1"/>
          </p:cNvSpPr>
          <p:nvPr/>
        </p:nvSpPr>
        <p:spPr>
          <a:xfrm xmlns:a="http://schemas.openxmlformats.org/drawingml/2006/main">
            <a:off x="4552950" y="2152650"/>
            <a:ext cx="3067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Backend / API Team</a:t>
            </a:r>
          </a:p>
        </p:txBody>
      </p:sp>
      <p:sp>
        <p:nvSpPr>
          <p:cNvPr id="13" name="">
            <a:extLst xmlns:a="http://schemas.openxmlformats.org/drawingml/2006/main">
              <a:ext uri="{FF2B5EF4-FFF2-40B4-BE49-F238E27FC236}">
                <a16:creationId xmlns:a16="http://schemas.microsoft.com/office/drawing/2014/main" id="{68DDFE11-73ED-4698-A582-1216828969A3}"/>
              </a:ext>
            </a:extLst>
          </p:cNvPr>
          <p:cNvSpPr>
            <a:spLocks xmlns:a="http://schemas.openxmlformats.org/drawingml/2006/main" noGrp="1"/>
          </p:cNvSpPr>
          <p:nvPr/>
        </p:nvSpPr>
        <p:spPr>
          <a:xfrm xmlns:a="http://schemas.openxmlformats.org/drawingml/2006/main">
            <a:off x="4552950" y="2457450"/>
            <a:ext cx="30670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Owns FastAPI orchestration.</a:t>
            </a:r>
          </a:p>
          <a:p xmlns:a="http://schemas.openxmlformats.org/drawingml/2006/main">
            <a:pPr algn="l">
              <a:defRPr sz="1125" b="0">
                <a:solidFill>
                  <a:srgbClr val="5D6975"/>
                </a:solidFill>
              </a:defRPr>
            </a:pPr>
            <a:r>
              <a:rPr sz="1125" b="0">
                <a:solidFill>
                  <a:srgbClr val="5D6975"/>
                </a:solidFill>
              </a:rPr>
              <a:t>• /search and console APIs</a:t>
            </a:r>
          </a:p>
          <a:p xmlns:a="http://schemas.openxmlformats.org/drawingml/2006/main">
            <a:pPr algn="l">
              <a:defRPr sz="1125" b="0">
                <a:solidFill>
                  <a:srgbClr val="5D6975"/>
                </a:solidFill>
              </a:defRPr>
            </a:pPr>
            <a:r>
              <a:rPr sz="1125" b="0">
                <a:solidFill>
                  <a:srgbClr val="5D6975"/>
                </a:solidFill>
              </a:rPr>
              <a:t>• request composition</a:t>
            </a:r>
          </a:p>
          <a:p xmlns:a="http://schemas.openxmlformats.org/drawingml/2006/main">
            <a:pPr algn="l">
              <a:defRPr sz="1125" b="0">
                <a:solidFill>
                  <a:srgbClr val="5D6975"/>
                </a:solidFill>
              </a:defRPr>
            </a:pPr>
            <a:r>
              <a:rPr sz="1125" b="0">
                <a:solidFill>
                  <a:srgbClr val="5D6975"/>
                </a:solidFill>
              </a:rPr>
              <a:t>• serving-to-control-plane integration</a:t>
            </a:r>
          </a:p>
        </p:txBody>
      </p:sp>
      <p:sp>
        <p:nvSpPr>
          <p:cNvPr id="14" name="">
            <a:extLst xmlns:a="http://schemas.openxmlformats.org/drawingml/2006/main">
              <a:ext uri="{FF2B5EF4-FFF2-40B4-BE49-F238E27FC236}">
                <a16:creationId xmlns:a16="http://schemas.microsoft.com/office/drawing/2014/main" id="{3C5BB527-86F2-43B9-8604-AC42675D734F}"/>
              </a:ext>
            </a:extLst>
          </p:cNvPr>
          <p:cNvSpPr>
            <a:spLocks xmlns:a="http://schemas.openxmlformats.org/drawingml/2006/main" noGrp="1"/>
          </p:cNvSpPr>
          <p:nvPr/>
        </p:nvSpPr>
        <p:spPr>
          <a:xfrm xmlns:a="http://schemas.openxmlformats.org/drawingml/2006/main">
            <a:off x="7448550" y="2114550"/>
            <a:ext cx="152400" cy="152400"/>
          </a:xfrm>
          <a:prstGeom xmlns:a="http://schemas.openxmlformats.org/drawingml/2006/main" prst="roundRect">
            <a:avLst>
              <a:gd name="adj" fmla="val 50000"/>
            </a:avLst>
          </a:prstGeom>
          <a:solidFill xmlns:a="http://schemas.openxmlformats.org/drawingml/2006/main">
            <a:srgbClr val="EBF2FF"/>
          </a:solidFill>
          <a:ln xmlns:a="http://schemas.openxmlformats.org/drawingml/2006/main" w="9525">
            <a:solidFill>
              <a:srgbClr val="2D6CDF"/>
            </a:solidFill>
            <a:prstDash val="solid"/>
          </a:ln>
        </p:spPr>
      </p:sp>
      <p:sp>
        <p:nvSpPr>
          <p:cNvPr id="15" name="">
            <a:extLst xmlns:a="http://schemas.openxmlformats.org/drawingml/2006/main">
              <a:ext uri="{FF2B5EF4-FFF2-40B4-BE49-F238E27FC236}">
                <a16:creationId xmlns:a16="http://schemas.microsoft.com/office/drawing/2014/main" id="{AB5C5A40-3834-4CAE-9EA4-5DCAB645BA3B}"/>
              </a:ext>
            </a:extLst>
          </p:cNvPr>
          <p:cNvSpPr>
            <a:spLocks xmlns:a="http://schemas.openxmlformats.org/drawingml/2006/main" noGrp="1"/>
          </p:cNvSpPr>
          <p:nvPr/>
        </p:nvSpPr>
        <p:spPr>
          <a:xfrm xmlns:a="http://schemas.openxmlformats.org/drawingml/2006/main">
            <a:off x="8191500" y="2000250"/>
            <a:ext cx="333375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6DADF"/>
            </a:solidFill>
            <a:prstDash val="solid"/>
          </a:ln>
        </p:spPr>
      </p:sp>
      <p:sp>
        <p:nvSpPr>
          <p:cNvPr id="16" name="">
            <a:extLst xmlns:a="http://schemas.openxmlformats.org/drawingml/2006/main">
              <a:ext uri="{FF2B5EF4-FFF2-40B4-BE49-F238E27FC236}">
                <a16:creationId xmlns:a16="http://schemas.microsoft.com/office/drawing/2014/main" id="{7875F647-AFD5-46AD-ACC8-56642326D37B}"/>
              </a:ext>
            </a:extLst>
          </p:cNvPr>
          <p:cNvSpPr>
            <a:spLocks xmlns:a="http://schemas.openxmlformats.org/drawingml/2006/main" noGrp="1"/>
          </p:cNvSpPr>
          <p:nvPr/>
        </p:nvSpPr>
        <p:spPr>
          <a:xfrm xmlns:a="http://schemas.openxmlformats.org/drawingml/2006/main">
            <a:off x="8191500" y="2000250"/>
            <a:ext cx="3333750" cy="76200"/>
          </a:xfrm>
          <a:prstGeom xmlns:a="http://schemas.openxmlformats.org/drawingml/2006/main" prst="roundRect">
            <a:avLst>
              <a:gd name="adj" fmla="val 50000"/>
            </a:avLst>
          </a:prstGeom>
          <a:solidFill xmlns:a="http://schemas.openxmlformats.org/drawingml/2006/main">
            <a:srgbClr val="F0883E"/>
          </a:solidFill>
          <a:ln xmlns:a="http://schemas.openxmlformats.org/drawingml/2006/main" w="0">
            <a:solidFill>
              <a:srgbClr val="F0883E"/>
            </a:solidFill>
            <a:prstDash val="solid"/>
          </a:ln>
        </p:spPr>
      </p:sp>
      <p:sp>
        <p:nvSpPr>
          <p:cNvPr id="17" name="">
            <a:extLst xmlns:a="http://schemas.openxmlformats.org/drawingml/2006/main">
              <a:ext uri="{FF2B5EF4-FFF2-40B4-BE49-F238E27FC236}">
                <a16:creationId xmlns:a16="http://schemas.microsoft.com/office/drawing/2014/main" id="{60506F31-D874-4DB6-8C53-2DD6F281797B}"/>
              </a:ext>
            </a:extLst>
          </p:cNvPr>
          <p:cNvSpPr>
            <a:spLocks xmlns:a="http://schemas.openxmlformats.org/drawingml/2006/main" noGrp="1"/>
          </p:cNvSpPr>
          <p:nvPr/>
        </p:nvSpPr>
        <p:spPr>
          <a:xfrm xmlns:a="http://schemas.openxmlformats.org/drawingml/2006/main">
            <a:off x="8324850" y="2152650"/>
            <a:ext cx="3067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AI Ops / Incident Intelligence Team</a:t>
            </a:r>
          </a:p>
        </p:txBody>
      </p:sp>
      <p:sp>
        <p:nvSpPr>
          <p:cNvPr id="18" name="">
            <a:extLst xmlns:a="http://schemas.openxmlformats.org/drawingml/2006/main">
              <a:ext uri="{FF2B5EF4-FFF2-40B4-BE49-F238E27FC236}">
                <a16:creationId xmlns:a16="http://schemas.microsoft.com/office/drawing/2014/main" id="{9AEF1ECB-B778-4F66-B249-E51BFDE99A4C}"/>
              </a:ext>
            </a:extLst>
          </p:cNvPr>
          <p:cNvSpPr>
            <a:spLocks xmlns:a="http://schemas.openxmlformats.org/drawingml/2006/main" noGrp="1"/>
          </p:cNvSpPr>
          <p:nvPr/>
        </p:nvSpPr>
        <p:spPr>
          <a:xfrm xmlns:a="http://schemas.openxmlformats.org/drawingml/2006/main">
            <a:off x="8324850" y="2457450"/>
            <a:ext cx="30670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Owns diagnosis logic.</a:t>
            </a:r>
          </a:p>
          <a:p xmlns:a="http://schemas.openxmlformats.org/drawingml/2006/main">
            <a:pPr algn="l">
              <a:defRPr sz="1125" b="0">
                <a:solidFill>
                  <a:srgbClr val="5D6975"/>
                </a:solidFill>
              </a:defRPr>
            </a:pPr>
            <a:r>
              <a:rPr sz="1125" b="0">
                <a:solidFill>
                  <a:srgbClr val="5D6975"/>
                </a:solidFill>
              </a:rPr>
              <a:t>• detectors</a:t>
            </a:r>
          </a:p>
          <a:p xmlns:a="http://schemas.openxmlformats.org/drawingml/2006/main">
            <a:pPr algn="l">
              <a:defRPr sz="1125" b="0">
                <a:solidFill>
                  <a:srgbClr val="5D6975"/>
                </a:solidFill>
              </a:defRPr>
            </a:pPr>
            <a:r>
              <a:rPr sz="1125" b="0">
                <a:solidFill>
                  <a:srgbClr val="5D6975"/>
                </a:solidFill>
              </a:rPr>
              <a:t>• RCA and incident packets</a:t>
            </a:r>
          </a:p>
          <a:p xmlns:a="http://schemas.openxmlformats.org/drawingml/2006/main">
            <a:pPr algn="l">
              <a:defRPr sz="1125" b="0">
                <a:solidFill>
                  <a:srgbClr val="5D6975"/>
                </a:solidFill>
              </a:defRPr>
            </a:pPr>
            <a:r>
              <a:rPr sz="1125" b="0">
                <a:solidFill>
                  <a:srgbClr val="5D6975"/>
                </a:solidFill>
              </a:rPr>
              <a:t>• RLM orchestration</a:t>
            </a:r>
          </a:p>
          <a:p xmlns:a="http://schemas.openxmlformats.org/drawingml/2006/main">
            <a:pPr algn="l">
              <a:defRPr sz="1125" b="0">
                <a:solidFill>
                  <a:srgbClr val="5D6975"/>
                </a:solidFill>
              </a:defRPr>
            </a:pPr>
            <a:r>
              <a:rPr sz="1125" b="0">
                <a:solidFill>
                  <a:srgbClr val="5D6975"/>
                </a:solidFill>
              </a:rPr>
              <a:t>• runbook and eval design</a:t>
            </a:r>
          </a:p>
        </p:txBody>
      </p:sp>
      <p:sp>
        <p:nvSpPr>
          <p:cNvPr id="19" name="">
            <a:extLst xmlns:a="http://schemas.openxmlformats.org/drawingml/2006/main">
              <a:ext uri="{FF2B5EF4-FFF2-40B4-BE49-F238E27FC236}">
                <a16:creationId xmlns:a16="http://schemas.microsoft.com/office/drawing/2014/main" id="{656D272E-299C-4F24-A65C-BE25CDFDF755}"/>
              </a:ext>
            </a:extLst>
          </p:cNvPr>
          <p:cNvSpPr>
            <a:spLocks xmlns:a="http://schemas.openxmlformats.org/drawingml/2006/main" noGrp="1"/>
          </p:cNvSpPr>
          <p:nvPr/>
        </p:nvSpPr>
        <p:spPr>
          <a:xfrm xmlns:a="http://schemas.openxmlformats.org/drawingml/2006/main">
            <a:off x="11220450" y="2114550"/>
            <a:ext cx="152400" cy="152400"/>
          </a:xfrm>
          <a:prstGeom xmlns:a="http://schemas.openxmlformats.org/drawingml/2006/main" prst="roundRect">
            <a:avLst>
              <a:gd name="adj" fmla="val 50000"/>
            </a:avLst>
          </a:prstGeom>
          <a:solidFill xmlns:a="http://schemas.openxmlformats.org/drawingml/2006/main">
            <a:srgbClr val="FFF1E8"/>
          </a:solidFill>
          <a:ln xmlns:a="http://schemas.openxmlformats.org/drawingml/2006/main" w="9525">
            <a:solidFill>
              <a:srgbClr val="F0883E"/>
            </a:solidFill>
            <a:prstDash val="solid"/>
          </a:ln>
        </p:spPr>
      </p:sp>
      <p:sp>
        <p:nvSpPr>
          <p:cNvPr id="20" name="">
            <a:extLst xmlns:a="http://schemas.openxmlformats.org/drawingml/2006/main">
              <a:ext uri="{FF2B5EF4-FFF2-40B4-BE49-F238E27FC236}">
                <a16:creationId xmlns:a16="http://schemas.microsoft.com/office/drawing/2014/main" id="{4924CEBD-E30C-4722-A0CB-20A7E642EE3A}"/>
              </a:ext>
            </a:extLst>
          </p:cNvPr>
          <p:cNvSpPr>
            <a:spLocks xmlns:a="http://schemas.openxmlformats.org/drawingml/2006/main" noGrp="1"/>
          </p:cNvSpPr>
          <p:nvPr/>
        </p:nvSpPr>
        <p:spPr>
          <a:xfrm xmlns:a="http://schemas.openxmlformats.org/drawingml/2006/main">
            <a:off x="1600200" y="3771900"/>
            <a:ext cx="409575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6DADF"/>
            </a:solidFill>
            <a:prstDash val="solid"/>
          </a:ln>
        </p:spPr>
      </p:sp>
      <p:sp>
        <p:nvSpPr>
          <p:cNvPr id="21" name="">
            <a:extLst xmlns:a="http://schemas.openxmlformats.org/drawingml/2006/main">
              <a:ext uri="{FF2B5EF4-FFF2-40B4-BE49-F238E27FC236}">
                <a16:creationId xmlns:a16="http://schemas.microsoft.com/office/drawing/2014/main" id="{01F5BEBF-A621-4E00-A64D-D2B44D1CFCB8}"/>
              </a:ext>
            </a:extLst>
          </p:cNvPr>
          <p:cNvSpPr>
            <a:spLocks xmlns:a="http://schemas.openxmlformats.org/drawingml/2006/main" noGrp="1"/>
          </p:cNvSpPr>
          <p:nvPr/>
        </p:nvSpPr>
        <p:spPr>
          <a:xfrm xmlns:a="http://schemas.openxmlformats.org/drawingml/2006/main">
            <a:off x="1600200" y="3771900"/>
            <a:ext cx="4095750" cy="76200"/>
          </a:xfrm>
          <a:prstGeom xmlns:a="http://schemas.openxmlformats.org/drawingml/2006/main" prst="roundRect">
            <a:avLst>
              <a:gd name="adj" fmla="val 50000"/>
            </a:avLst>
          </a:prstGeom>
          <a:solidFill xmlns:a="http://schemas.openxmlformats.org/drawingml/2006/main">
            <a:srgbClr val="7A4FD1"/>
          </a:solidFill>
          <a:ln xmlns:a="http://schemas.openxmlformats.org/drawingml/2006/main" w="0">
            <a:solidFill>
              <a:srgbClr val="7A4FD1"/>
            </a:solidFill>
            <a:prstDash val="solid"/>
          </a:ln>
        </p:spPr>
      </p:sp>
      <p:sp>
        <p:nvSpPr>
          <p:cNvPr id="22" name="">
            <a:extLst xmlns:a="http://schemas.openxmlformats.org/drawingml/2006/main">
              <a:ext uri="{FF2B5EF4-FFF2-40B4-BE49-F238E27FC236}">
                <a16:creationId xmlns:a16="http://schemas.microsoft.com/office/drawing/2014/main" id="{D3819AD0-60B5-4793-8B43-5097116B8DD3}"/>
              </a:ext>
            </a:extLst>
          </p:cNvPr>
          <p:cNvSpPr>
            <a:spLocks xmlns:a="http://schemas.openxmlformats.org/drawingml/2006/main" noGrp="1"/>
          </p:cNvSpPr>
          <p:nvPr/>
        </p:nvSpPr>
        <p:spPr>
          <a:xfrm xmlns:a="http://schemas.openxmlformats.org/drawingml/2006/main">
            <a:off x="1733550" y="3924300"/>
            <a:ext cx="3829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Platform / SRE Team</a:t>
            </a:r>
          </a:p>
        </p:txBody>
      </p:sp>
      <p:sp>
        <p:nvSpPr>
          <p:cNvPr id="23" name="">
            <a:extLst xmlns:a="http://schemas.openxmlformats.org/drawingml/2006/main">
              <a:ext uri="{FF2B5EF4-FFF2-40B4-BE49-F238E27FC236}">
                <a16:creationId xmlns:a16="http://schemas.microsoft.com/office/drawing/2014/main" id="{2BC4F456-A8B5-477E-87F7-5F10D559EC92}"/>
              </a:ext>
            </a:extLst>
          </p:cNvPr>
          <p:cNvSpPr>
            <a:spLocks xmlns:a="http://schemas.openxmlformats.org/drawingml/2006/main" noGrp="1"/>
          </p:cNvSpPr>
          <p:nvPr/>
        </p:nvSpPr>
        <p:spPr>
          <a:xfrm xmlns:a="http://schemas.openxmlformats.org/drawingml/2006/main">
            <a:off x="1733550" y="4229100"/>
            <a:ext cx="382905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Owns runtime safety and operability.</a:t>
            </a:r>
          </a:p>
          <a:p xmlns:a="http://schemas.openxmlformats.org/drawingml/2006/main">
            <a:pPr algn="l">
              <a:defRPr sz="1125" b="0">
                <a:solidFill>
                  <a:srgbClr val="5D6975"/>
                </a:solidFill>
              </a:defRPr>
            </a:pPr>
            <a:r>
              <a:rPr sz="1125" b="0">
                <a:solidFill>
                  <a:srgbClr val="5D6975"/>
                </a:solidFill>
              </a:rPr>
              <a:t>• Temporal</a:t>
            </a:r>
          </a:p>
          <a:p xmlns:a="http://schemas.openxmlformats.org/drawingml/2006/main">
            <a:pPr algn="l">
              <a:defRPr sz="1125" b="0">
                <a:solidFill>
                  <a:srgbClr val="5D6975"/>
                </a:solidFill>
              </a:defRPr>
            </a:pPr>
            <a:r>
              <a:rPr sz="1125" b="0">
                <a:solidFill>
                  <a:srgbClr val="5D6975"/>
                </a:solidFill>
              </a:rPr>
              <a:t>• PostgreSQL</a:t>
            </a:r>
          </a:p>
          <a:p xmlns:a="http://schemas.openxmlformats.org/drawingml/2006/main">
            <a:pPr algn="l">
              <a:defRPr sz="1125" b="0">
                <a:solidFill>
                  <a:srgbClr val="5D6975"/>
                </a:solidFill>
              </a:defRPr>
            </a:pPr>
            <a:r>
              <a:rPr sz="1125" b="0">
                <a:solidFill>
                  <a:srgbClr val="5D6975"/>
                </a:solidFill>
              </a:rPr>
              <a:t>• Kafka</a:t>
            </a:r>
          </a:p>
          <a:p xmlns:a="http://schemas.openxmlformats.org/drawingml/2006/main">
            <a:pPr algn="l">
              <a:defRPr sz="1125" b="0">
                <a:solidFill>
                  <a:srgbClr val="5D6975"/>
                </a:solidFill>
              </a:defRPr>
            </a:pPr>
            <a:r>
              <a:rPr sz="1125" b="0">
                <a:solidFill>
                  <a:srgbClr val="5D6975"/>
                </a:solidFill>
              </a:rPr>
              <a:t>• Prometheus / Grafana / Jaeger</a:t>
            </a:r>
          </a:p>
          <a:p xmlns:a="http://schemas.openxmlformats.org/drawingml/2006/main">
            <a:pPr algn="l">
              <a:defRPr sz="1125" b="0">
                <a:solidFill>
                  <a:srgbClr val="5D6975"/>
                </a:solidFill>
              </a:defRPr>
            </a:pPr>
            <a:r>
              <a:rPr sz="1125" b="0">
                <a:solidFill>
                  <a:srgbClr val="5D6975"/>
                </a:solidFill>
              </a:rPr>
              <a:t>• rollback reliability</a:t>
            </a:r>
          </a:p>
        </p:txBody>
      </p:sp>
      <p:sp>
        <p:nvSpPr>
          <p:cNvPr id="24" name="">
            <a:extLst xmlns:a="http://schemas.openxmlformats.org/drawingml/2006/main">
              <a:ext uri="{FF2B5EF4-FFF2-40B4-BE49-F238E27FC236}">
                <a16:creationId xmlns:a16="http://schemas.microsoft.com/office/drawing/2014/main" id="{AB6106CE-D551-48AC-99CC-F7E928F93DB2}"/>
              </a:ext>
            </a:extLst>
          </p:cNvPr>
          <p:cNvSpPr>
            <a:spLocks xmlns:a="http://schemas.openxmlformats.org/drawingml/2006/main" noGrp="1"/>
          </p:cNvSpPr>
          <p:nvPr/>
        </p:nvSpPr>
        <p:spPr>
          <a:xfrm xmlns:a="http://schemas.openxmlformats.org/drawingml/2006/main">
            <a:off x="5391150" y="3886200"/>
            <a:ext cx="152400" cy="152400"/>
          </a:xfrm>
          <a:prstGeom xmlns:a="http://schemas.openxmlformats.org/drawingml/2006/main" prst="roundRect">
            <a:avLst>
              <a:gd name="adj" fmla="val 50000"/>
            </a:avLst>
          </a:prstGeom>
          <a:solidFill xmlns:a="http://schemas.openxmlformats.org/drawingml/2006/main">
            <a:srgbClr val="F2EBFF"/>
          </a:solidFill>
          <a:ln xmlns:a="http://schemas.openxmlformats.org/drawingml/2006/main" w="9525">
            <a:solidFill>
              <a:srgbClr val="7A4FD1"/>
            </a:solidFill>
            <a:prstDash val="solid"/>
          </a:ln>
        </p:spPr>
      </p:sp>
      <p:sp>
        <p:nvSpPr>
          <p:cNvPr id="25" name="">
            <a:extLst xmlns:a="http://schemas.openxmlformats.org/drawingml/2006/main">
              <a:ext uri="{FF2B5EF4-FFF2-40B4-BE49-F238E27FC236}">
                <a16:creationId xmlns:a16="http://schemas.microsoft.com/office/drawing/2014/main" id="{F40D521B-3B36-47BF-9C00-9AD08C1838A2}"/>
              </a:ext>
            </a:extLst>
          </p:cNvPr>
          <p:cNvSpPr>
            <a:spLocks xmlns:a="http://schemas.openxmlformats.org/drawingml/2006/main" noGrp="1"/>
          </p:cNvSpPr>
          <p:nvPr/>
        </p:nvSpPr>
        <p:spPr>
          <a:xfrm xmlns:a="http://schemas.openxmlformats.org/drawingml/2006/main">
            <a:off x="6400800" y="3771900"/>
            <a:ext cx="409575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6DADF"/>
            </a:solidFill>
            <a:prstDash val="solid"/>
          </a:ln>
        </p:spPr>
      </p:sp>
      <p:sp>
        <p:nvSpPr>
          <p:cNvPr id="26" name="">
            <a:extLst xmlns:a="http://schemas.openxmlformats.org/drawingml/2006/main">
              <a:ext uri="{FF2B5EF4-FFF2-40B4-BE49-F238E27FC236}">
                <a16:creationId xmlns:a16="http://schemas.microsoft.com/office/drawing/2014/main" id="{C17FCCF1-FFE5-4319-B153-C5199D143C71}"/>
              </a:ext>
            </a:extLst>
          </p:cNvPr>
          <p:cNvSpPr>
            <a:spLocks xmlns:a="http://schemas.openxmlformats.org/drawingml/2006/main" noGrp="1"/>
          </p:cNvSpPr>
          <p:nvPr/>
        </p:nvSpPr>
        <p:spPr>
          <a:xfrm xmlns:a="http://schemas.openxmlformats.org/drawingml/2006/main">
            <a:off x="6400800" y="3771900"/>
            <a:ext cx="4095750" cy="76200"/>
          </a:xfrm>
          <a:prstGeom xmlns:a="http://schemas.openxmlformats.org/drawingml/2006/main" prst="roundRect">
            <a:avLst>
              <a:gd name="adj" fmla="val 50000"/>
            </a:avLst>
          </a:prstGeom>
          <a:solidFill xmlns:a="http://schemas.openxmlformats.org/drawingml/2006/main">
            <a:srgbClr val="4B5EAA"/>
          </a:solidFill>
          <a:ln xmlns:a="http://schemas.openxmlformats.org/drawingml/2006/main" w="0">
            <a:solidFill>
              <a:srgbClr val="4B5EAA"/>
            </a:solidFill>
            <a:prstDash val="solid"/>
          </a:ln>
        </p:spPr>
      </p:sp>
      <p:sp>
        <p:nvSpPr>
          <p:cNvPr id="27" name="">
            <a:extLst xmlns:a="http://schemas.openxmlformats.org/drawingml/2006/main">
              <a:ext uri="{FF2B5EF4-FFF2-40B4-BE49-F238E27FC236}">
                <a16:creationId xmlns:a16="http://schemas.microsoft.com/office/drawing/2014/main" id="{33B4FA87-5ECF-494A-AAB6-9AA4F43D6BFC}"/>
              </a:ext>
            </a:extLst>
          </p:cNvPr>
          <p:cNvSpPr>
            <a:spLocks xmlns:a="http://schemas.openxmlformats.org/drawingml/2006/main" noGrp="1"/>
          </p:cNvSpPr>
          <p:nvPr/>
        </p:nvSpPr>
        <p:spPr>
          <a:xfrm xmlns:a="http://schemas.openxmlformats.org/drawingml/2006/main">
            <a:off x="6534150" y="3924300"/>
            <a:ext cx="3829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Product / Business Approver</a:t>
            </a:r>
          </a:p>
        </p:txBody>
      </p:sp>
      <p:sp>
        <p:nvSpPr>
          <p:cNvPr id="28" name="">
            <a:extLst xmlns:a="http://schemas.openxmlformats.org/drawingml/2006/main">
              <a:ext uri="{FF2B5EF4-FFF2-40B4-BE49-F238E27FC236}">
                <a16:creationId xmlns:a16="http://schemas.microsoft.com/office/drawing/2014/main" id="{284E26D6-2205-4868-B963-3D2178AC3F03}"/>
              </a:ext>
            </a:extLst>
          </p:cNvPr>
          <p:cNvSpPr>
            <a:spLocks xmlns:a="http://schemas.openxmlformats.org/drawingml/2006/main" noGrp="1"/>
          </p:cNvSpPr>
          <p:nvPr/>
        </p:nvSpPr>
        <p:spPr>
          <a:xfrm xmlns:a="http://schemas.openxmlformats.org/drawingml/2006/main">
            <a:off x="6534150" y="4229100"/>
            <a:ext cx="382905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0">
                <a:solidFill>
                  <a:srgbClr val="5D6975"/>
                </a:solidFill>
              </a:defRPr>
            </a:pPr>
            <a:r>
              <a:rPr sz="1125" b="0">
                <a:solidFill>
                  <a:srgbClr val="5D6975"/>
                </a:solidFill>
              </a:rPr>
              <a:t>Owns business-impact review.</a:t>
            </a:r>
          </a:p>
          <a:p xmlns:a="http://schemas.openxmlformats.org/drawingml/2006/main">
            <a:pPr algn="l">
              <a:defRPr sz="1125" b="0">
                <a:solidFill>
                  <a:srgbClr val="5D6975"/>
                </a:solidFill>
              </a:defRPr>
            </a:pPr>
            <a:r>
              <a:rPr sz="1125" b="0">
                <a:solidFill>
                  <a:srgbClr val="5D6975"/>
                </a:solidFill>
              </a:rPr>
              <a:t>• approves risky changes</a:t>
            </a:r>
          </a:p>
          <a:p xmlns:a="http://schemas.openxmlformats.org/drawingml/2006/main">
            <a:pPr algn="l">
              <a:defRPr sz="1125" b="0">
                <a:solidFill>
                  <a:srgbClr val="5D6975"/>
                </a:solidFill>
              </a:defRPr>
            </a:pPr>
            <a:r>
              <a:rPr sz="1125" b="0">
                <a:solidFill>
                  <a:srgbClr val="5D6975"/>
                </a:solidFill>
              </a:rPr>
              <a:t>• validates guardrails</a:t>
            </a:r>
          </a:p>
          <a:p xmlns:a="http://schemas.openxmlformats.org/drawingml/2006/main">
            <a:pPr algn="l">
              <a:defRPr sz="1125" b="0">
                <a:solidFill>
                  <a:srgbClr val="5D6975"/>
                </a:solidFill>
              </a:defRPr>
            </a:pPr>
            <a:r>
              <a:rPr sz="1125" b="0">
                <a:solidFill>
                  <a:srgbClr val="5D6975"/>
                </a:solidFill>
              </a:rPr>
              <a:t>• decides whether the change is acceptable for rollout</a:t>
            </a:r>
          </a:p>
        </p:txBody>
      </p:sp>
      <p:sp>
        <p:nvSpPr>
          <p:cNvPr id="29" name="">
            <a:extLst xmlns:a="http://schemas.openxmlformats.org/drawingml/2006/main">
              <a:ext uri="{FF2B5EF4-FFF2-40B4-BE49-F238E27FC236}">
                <a16:creationId xmlns:a16="http://schemas.microsoft.com/office/drawing/2014/main" id="{CC960AE8-C774-4105-B00A-7A2FD0FCEDFB}"/>
              </a:ext>
            </a:extLst>
          </p:cNvPr>
          <p:cNvSpPr>
            <a:spLocks xmlns:a="http://schemas.openxmlformats.org/drawingml/2006/main" noGrp="1"/>
          </p:cNvSpPr>
          <p:nvPr/>
        </p:nvSpPr>
        <p:spPr>
          <a:xfrm xmlns:a="http://schemas.openxmlformats.org/drawingml/2006/main">
            <a:off x="10191750" y="3886200"/>
            <a:ext cx="152400" cy="152400"/>
          </a:xfrm>
          <a:prstGeom xmlns:a="http://schemas.openxmlformats.org/drawingml/2006/main" prst="roundRect">
            <a:avLst>
              <a:gd name="adj" fmla="val 50000"/>
            </a:avLst>
          </a:prstGeom>
          <a:solidFill xmlns:a="http://schemas.openxmlformats.org/drawingml/2006/main">
            <a:srgbClr val="EEF1FF"/>
          </a:solidFill>
          <a:ln xmlns:a="http://schemas.openxmlformats.org/drawingml/2006/main" w="9525">
            <a:solidFill>
              <a:srgbClr val="4B5EAA"/>
            </a:solidFill>
            <a:prstDash val="solid"/>
          </a:ln>
        </p:spPr>
      </p:sp>
      <p:sp>
        <p:nvSpPr>
          <p:cNvPr id="30" name="">
            <a:extLst xmlns:a="http://schemas.openxmlformats.org/drawingml/2006/main">
              <a:ext uri="{FF2B5EF4-FFF2-40B4-BE49-F238E27FC236}">
                <a16:creationId xmlns:a16="http://schemas.microsoft.com/office/drawing/2014/main" id="{3692D12F-B35D-48AF-9797-3F0D612CC607}"/>
              </a:ext>
            </a:extLst>
          </p:cNvPr>
          <p:cNvSpPr>
            <a:spLocks xmlns:a="http://schemas.openxmlformats.org/drawingml/2006/main" noGrp="1"/>
          </p:cNvSpPr>
          <p:nvPr/>
        </p:nvSpPr>
        <p:spPr>
          <a:xfrm xmlns:a="http://schemas.openxmlformats.org/drawingml/2006/main">
            <a:off x="857250" y="5619750"/>
            <a:ext cx="2095500" cy="266700"/>
          </a:xfrm>
          <a:prstGeom xmlns:a="http://schemas.openxmlformats.org/drawingml/2006/main" prst="roundRect">
            <a:avLst>
              <a:gd name="adj" fmla="val 28571"/>
            </a:avLst>
          </a:prstGeom>
          <a:solidFill xmlns:a="http://schemas.openxmlformats.org/drawingml/2006/main">
            <a:srgbClr val="17202A"/>
          </a:solidFill>
          <a:ln xmlns:a="http://schemas.openxmlformats.org/drawingml/2006/main" w="0">
            <a:solidFill>
              <a:srgbClr val="17202A"/>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ctr">
              <a:defRPr sz="1200" b="1">
                <a:solidFill>
                  <a:srgbClr val="FFFFFF"/>
                </a:solidFill>
              </a:defRPr>
            </a:pPr>
            <a:r>
              <a:rPr sz="1200" b="1">
                <a:solidFill>
                  <a:srgbClr val="FFFFFF"/>
                </a:solidFill>
              </a:rPr>
              <a:t>HANDOFF CHAIN</a:t>
            </a:r>
          </a:p>
        </p:txBody>
      </p:sp>
      <p:sp>
        <p:nvSpPr>
          <p:cNvPr id="31" name="">
            <a:extLst xmlns:a="http://schemas.openxmlformats.org/drawingml/2006/main">
              <a:ext uri="{FF2B5EF4-FFF2-40B4-BE49-F238E27FC236}">
                <a16:creationId xmlns:a16="http://schemas.microsoft.com/office/drawing/2014/main" id="{A4C9AF08-D597-4FB9-BEBE-734D402D8D1D}"/>
              </a:ext>
            </a:extLst>
          </p:cNvPr>
          <p:cNvSpPr>
            <a:spLocks xmlns:a="http://schemas.openxmlformats.org/drawingml/2006/main" noGrp="1"/>
          </p:cNvSpPr>
          <p:nvPr/>
        </p:nvSpPr>
        <p:spPr>
          <a:xfrm xmlns:a="http://schemas.openxmlformats.org/drawingml/2006/main">
            <a:off x="647700" y="5962650"/>
            <a:ext cx="20002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6DADF"/>
            </a:solidFill>
            <a:prstDash val="solid"/>
          </a:ln>
        </p:spPr>
      </p:sp>
      <p:sp>
        <p:nvSpPr>
          <p:cNvPr id="32" name="">
            <a:extLst xmlns:a="http://schemas.openxmlformats.org/drawingml/2006/main">
              <a:ext uri="{FF2B5EF4-FFF2-40B4-BE49-F238E27FC236}">
                <a16:creationId xmlns:a16="http://schemas.microsoft.com/office/drawing/2014/main" id="{FB733AD6-D55E-470E-A965-D740FE636FAB}"/>
              </a:ext>
            </a:extLst>
          </p:cNvPr>
          <p:cNvSpPr>
            <a:spLocks xmlns:a="http://schemas.openxmlformats.org/drawingml/2006/main" noGrp="1"/>
          </p:cNvSpPr>
          <p:nvPr/>
        </p:nvSpPr>
        <p:spPr>
          <a:xfrm xmlns:a="http://schemas.openxmlformats.org/drawingml/2006/main">
            <a:off x="647700" y="5962650"/>
            <a:ext cx="2000250" cy="76200"/>
          </a:xfrm>
          <a:prstGeom xmlns:a="http://schemas.openxmlformats.org/drawingml/2006/main" prst="roundRect">
            <a:avLst>
              <a:gd name="adj" fmla="val 50000"/>
            </a:avLst>
          </a:prstGeom>
          <a:solidFill xmlns:a="http://schemas.openxmlformats.org/drawingml/2006/main">
            <a:srgbClr val="22A06B"/>
          </a:solidFill>
          <a:ln xmlns:a="http://schemas.openxmlformats.org/drawingml/2006/main" w="0">
            <a:solidFill>
              <a:srgbClr val="22A06B"/>
            </a:solidFill>
            <a:prstDash val="solid"/>
          </a:ln>
        </p:spPr>
      </p:sp>
      <p:sp>
        <p:nvSpPr>
          <p:cNvPr id="33" name="">
            <a:extLst xmlns:a="http://schemas.openxmlformats.org/drawingml/2006/main">
              <a:ext uri="{FF2B5EF4-FFF2-40B4-BE49-F238E27FC236}">
                <a16:creationId xmlns:a16="http://schemas.microsoft.com/office/drawing/2014/main" id="{2494F2F1-691B-4C43-9D2C-E4043C2EBD57}"/>
              </a:ext>
            </a:extLst>
          </p:cNvPr>
          <p:cNvSpPr>
            <a:spLocks xmlns:a="http://schemas.openxmlformats.org/drawingml/2006/main" noGrp="1"/>
          </p:cNvSpPr>
          <p:nvPr/>
        </p:nvSpPr>
        <p:spPr>
          <a:xfrm xmlns:a="http://schemas.openxmlformats.org/drawingml/2006/main">
            <a:off x="781050" y="6115050"/>
            <a:ext cx="1733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Search issue detected</a:t>
            </a:r>
          </a:p>
        </p:txBody>
      </p:sp>
      <p:sp>
        <p:nvSpPr>
          <p:cNvPr id="34" name="">
            <a:extLst xmlns:a="http://schemas.openxmlformats.org/drawingml/2006/main">
              <a:ext uri="{FF2B5EF4-FFF2-40B4-BE49-F238E27FC236}">
                <a16:creationId xmlns:a16="http://schemas.microsoft.com/office/drawing/2014/main" id="{DCC41D68-D332-4D13-96C9-81D92C54D642}"/>
              </a:ext>
            </a:extLst>
          </p:cNvPr>
          <p:cNvSpPr>
            <a:spLocks xmlns:a="http://schemas.openxmlformats.org/drawingml/2006/main" noGrp="1"/>
          </p:cNvSpPr>
          <p:nvPr/>
        </p:nvSpPr>
        <p:spPr>
          <a:xfrm xmlns:a="http://schemas.openxmlformats.org/drawingml/2006/main">
            <a:off x="781050" y="6419850"/>
            <a:ext cx="17335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r>
              <a:t/>
            </a:r>
          </a:p>
        </p:txBody>
      </p:sp>
      <p:sp>
        <p:nvSpPr>
          <p:cNvPr id="35" name="">
            <a:extLst xmlns:a="http://schemas.openxmlformats.org/drawingml/2006/main">
              <a:ext uri="{FF2B5EF4-FFF2-40B4-BE49-F238E27FC236}">
                <a16:creationId xmlns:a16="http://schemas.microsoft.com/office/drawing/2014/main" id="{1099698C-1136-4549-9075-A9194BA1D6A3}"/>
              </a:ext>
            </a:extLst>
          </p:cNvPr>
          <p:cNvSpPr>
            <a:spLocks xmlns:a="http://schemas.openxmlformats.org/drawingml/2006/main" noGrp="1"/>
          </p:cNvSpPr>
          <p:nvPr/>
        </p:nvSpPr>
        <p:spPr>
          <a:xfrm xmlns:a="http://schemas.openxmlformats.org/drawingml/2006/main">
            <a:off x="2343150" y="6076950"/>
            <a:ext cx="152400" cy="152400"/>
          </a:xfrm>
          <a:prstGeom xmlns:a="http://schemas.openxmlformats.org/drawingml/2006/main" prst="roundRect">
            <a:avLst>
              <a:gd name="adj" fmla="val 50000"/>
            </a:avLst>
          </a:prstGeom>
          <a:solidFill xmlns:a="http://schemas.openxmlformats.org/drawingml/2006/main">
            <a:srgbClr val="EAF8F1"/>
          </a:solidFill>
          <a:ln xmlns:a="http://schemas.openxmlformats.org/drawingml/2006/main" w="9525">
            <a:solidFill>
              <a:srgbClr val="22A06B"/>
            </a:solidFill>
            <a:prstDash val="solid"/>
          </a:ln>
        </p:spPr>
      </p:sp>
      <p:sp>
        <p:nvSpPr>
          <p:cNvPr id="36" name="">
            <a:extLst xmlns:a="http://schemas.openxmlformats.org/drawingml/2006/main">
              <a:ext uri="{FF2B5EF4-FFF2-40B4-BE49-F238E27FC236}">
                <a16:creationId xmlns:a16="http://schemas.microsoft.com/office/drawing/2014/main" id="{5FEDE719-A2E0-4FFA-B8E8-AF68D4FCC4C3}"/>
              </a:ext>
            </a:extLst>
          </p:cNvPr>
          <p:cNvSpPr>
            <a:spLocks xmlns:a="http://schemas.openxmlformats.org/drawingml/2006/main" noGrp="1"/>
          </p:cNvSpPr>
          <p:nvPr/>
        </p:nvSpPr>
        <p:spPr>
          <a:xfrm xmlns:a="http://schemas.openxmlformats.org/drawingml/2006/main">
            <a:off x="2705100" y="605790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37" name="">
            <a:extLst xmlns:a="http://schemas.openxmlformats.org/drawingml/2006/main">
              <a:ext uri="{FF2B5EF4-FFF2-40B4-BE49-F238E27FC236}">
                <a16:creationId xmlns:a16="http://schemas.microsoft.com/office/drawing/2014/main" id="{23AD1CBB-38AE-4069-8852-1C9EF337E6EB}"/>
              </a:ext>
            </a:extLst>
          </p:cNvPr>
          <p:cNvSpPr>
            <a:spLocks xmlns:a="http://schemas.openxmlformats.org/drawingml/2006/main" noGrp="1"/>
          </p:cNvSpPr>
          <p:nvPr/>
        </p:nvSpPr>
        <p:spPr>
          <a:xfrm xmlns:a="http://schemas.openxmlformats.org/drawingml/2006/main">
            <a:off x="3086100" y="5962650"/>
            <a:ext cx="20002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6DADF"/>
            </a:solidFill>
            <a:prstDash val="solid"/>
          </a:ln>
        </p:spPr>
      </p:sp>
      <p:sp>
        <p:nvSpPr>
          <p:cNvPr id="38" name="">
            <a:extLst xmlns:a="http://schemas.openxmlformats.org/drawingml/2006/main">
              <a:ext uri="{FF2B5EF4-FFF2-40B4-BE49-F238E27FC236}">
                <a16:creationId xmlns:a16="http://schemas.microsoft.com/office/drawing/2014/main" id="{D8D59EC0-CFC3-40F3-8365-20841C3D8DC6}"/>
              </a:ext>
            </a:extLst>
          </p:cNvPr>
          <p:cNvSpPr>
            <a:spLocks xmlns:a="http://schemas.openxmlformats.org/drawingml/2006/main" noGrp="1"/>
          </p:cNvSpPr>
          <p:nvPr/>
        </p:nvSpPr>
        <p:spPr>
          <a:xfrm xmlns:a="http://schemas.openxmlformats.org/drawingml/2006/main">
            <a:off x="3086100" y="5962650"/>
            <a:ext cx="2000250" cy="76200"/>
          </a:xfrm>
          <a:prstGeom xmlns:a="http://schemas.openxmlformats.org/drawingml/2006/main" prst="roundRect">
            <a:avLst>
              <a:gd name="adj" fmla="val 50000"/>
            </a:avLst>
          </a:prstGeom>
          <a:solidFill xmlns:a="http://schemas.openxmlformats.org/drawingml/2006/main">
            <a:srgbClr val="F0883E"/>
          </a:solidFill>
          <a:ln xmlns:a="http://schemas.openxmlformats.org/drawingml/2006/main" w="0">
            <a:solidFill>
              <a:srgbClr val="F0883E"/>
            </a:solidFill>
            <a:prstDash val="solid"/>
          </a:ln>
        </p:spPr>
      </p:sp>
      <p:sp>
        <p:nvSpPr>
          <p:cNvPr id="39" name="">
            <a:extLst xmlns:a="http://schemas.openxmlformats.org/drawingml/2006/main">
              <a:ext uri="{FF2B5EF4-FFF2-40B4-BE49-F238E27FC236}">
                <a16:creationId xmlns:a16="http://schemas.microsoft.com/office/drawing/2014/main" id="{49D0452F-63BB-4563-9843-D41C1120193A}"/>
              </a:ext>
            </a:extLst>
          </p:cNvPr>
          <p:cNvSpPr>
            <a:spLocks xmlns:a="http://schemas.openxmlformats.org/drawingml/2006/main" noGrp="1"/>
          </p:cNvSpPr>
          <p:nvPr/>
        </p:nvSpPr>
        <p:spPr>
          <a:xfrm xmlns:a="http://schemas.openxmlformats.org/drawingml/2006/main">
            <a:off x="3219450" y="6115050"/>
            <a:ext cx="1733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AI Ops diagnoses and plans</a:t>
            </a:r>
          </a:p>
        </p:txBody>
      </p:sp>
      <p:sp>
        <p:nvSpPr>
          <p:cNvPr id="40" name="">
            <a:extLst xmlns:a="http://schemas.openxmlformats.org/drawingml/2006/main">
              <a:ext uri="{FF2B5EF4-FFF2-40B4-BE49-F238E27FC236}">
                <a16:creationId xmlns:a16="http://schemas.microsoft.com/office/drawing/2014/main" id="{BDF784CE-67C3-4F94-B75C-4AEA6A98DFF6}"/>
              </a:ext>
            </a:extLst>
          </p:cNvPr>
          <p:cNvSpPr>
            <a:spLocks xmlns:a="http://schemas.openxmlformats.org/drawingml/2006/main" noGrp="1"/>
          </p:cNvSpPr>
          <p:nvPr/>
        </p:nvSpPr>
        <p:spPr>
          <a:xfrm xmlns:a="http://schemas.openxmlformats.org/drawingml/2006/main">
            <a:off x="3219450" y="6419850"/>
            <a:ext cx="17335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r>
              <a:t/>
            </a:r>
          </a:p>
        </p:txBody>
      </p:sp>
      <p:sp>
        <p:nvSpPr>
          <p:cNvPr id="41" name="">
            <a:extLst xmlns:a="http://schemas.openxmlformats.org/drawingml/2006/main">
              <a:ext uri="{FF2B5EF4-FFF2-40B4-BE49-F238E27FC236}">
                <a16:creationId xmlns:a16="http://schemas.microsoft.com/office/drawing/2014/main" id="{D7B8EF9E-91DD-4179-8C5D-39D6FC55549E}"/>
              </a:ext>
            </a:extLst>
          </p:cNvPr>
          <p:cNvSpPr>
            <a:spLocks xmlns:a="http://schemas.openxmlformats.org/drawingml/2006/main" noGrp="1"/>
          </p:cNvSpPr>
          <p:nvPr/>
        </p:nvSpPr>
        <p:spPr>
          <a:xfrm xmlns:a="http://schemas.openxmlformats.org/drawingml/2006/main">
            <a:off x="4781550" y="6076950"/>
            <a:ext cx="152400" cy="152400"/>
          </a:xfrm>
          <a:prstGeom xmlns:a="http://schemas.openxmlformats.org/drawingml/2006/main" prst="roundRect">
            <a:avLst>
              <a:gd name="adj" fmla="val 50000"/>
            </a:avLst>
          </a:prstGeom>
          <a:solidFill xmlns:a="http://schemas.openxmlformats.org/drawingml/2006/main">
            <a:srgbClr val="FFF1E8"/>
          </a:solidFill>
          <a:ln xmlns:a="http://schemas.openxmlformats.org/drawingml/2006/main" w="9525">
            <a:solidFill>
              <a:srgbClr val="F0883E"/>
            </a:solidFill>
            <a:prstDash val="solid"/>
          </a:ln>
        </p:spPr>
      </p:sp>
      <p:sp>
        <p:nvSpPr>
          <p:cNvPr id="42" name="">
            <a:extLst xmlns:a="http://schemas.openxmlformats.org/drawingml/2006/main">
              <a:ext uri="{FF2B5EF4-FFF2-40B4-BE49-F238E27FC236}">
                <a16:creationId xmlns:a16="http://schemas.microsoft.com/office/drawing/2014/main" id="{C93186B5-432D-44F6-94C3-6BD4F901B6E0}"/>
              </a:ext>
            </a:extLst>
          </p:cNvPr>
          <p:cNvSpPr>
            <a:spLocks xmlns:a="http://schemas.openxmlformats.org/drawingml/2006/main" noGrp="1"/>
          </p:cNvSpPr>
          <p:nvPr/>
        </p:nvSpPr>
        <p:spPr>
          <a:xfrm xmlns:a="http://schemas.openxmlformats.org/drawingml/2006/main">
            <a:off x="5143500" y="605790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43" name="">
            <a:extLst xmlns:a="http://schemas.openxmlformats.org/drawingml/2006/main">
              <a:ext uri="{FF2B5EF4-FFF2-40B4-BE49-F238E27FC236}">
                <a16:creationId xmlns:a16="http://schemas.microsoft.com/office/drawing/2014/main" id="{DA6AE0F8-BD86-45D5-B2CD-E173D78DD21B}"/>
              </a:ext>
            </a:extLst>
          </p:cNvPr>
          <p:cNvSpPr>
            <a:spLocks xmlns:a="http://schemas.openxmlformats.org/drawingml/2006/main" noGrp="1"/>
          </p:cNvSpPr>
          <p:nvPr/>
        </p:nvSpPr>
        <p:spPr>
          <a:xfrm xmlns:a="http://schemas.openxmlformats.org/drawingml/2006/main">
            <a:off x="5524500" y="5962650"/>
            <a:ext cx="20002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6DADF"/>
            </a:solidFill>
            <a:prstDash val="solid"/>
          </a:ln>
        </p:spPr>
      </p:sp>
      <p:sp>
        <p:nvSpPr>
          <p:cNvPr id="44" name="">
            <a:extLst xmlns:a="http://schemas.openxmlformats.org/drawingml/2006/main">
              <a:ext uri="{FF2B5EF4-FFF2-40B4-BE49-F238E27FC236}">
                <a16:creationId xmlns:a16="http://schemas.microsoft.com/office/drawing/2014/main" id="{99E2DF14-DD3F-4AAD-8CE6-1112C156E0B3}"/>
              </a:ext>
            </a:extLst>
          </p:cNvPr>
          <p:cNvSpPr>
            <a:spLocks xmlns:a="http://schemas.openxmlformats.org/drawingml/2006/main" noGrp="1"/>
          </p:cNvSpPr>
          <p:nvPr/>
        </p:nvSpPr>
        <p:spPr>
          <a:xfrm xmlns:a="http://schemas.openxmlformats.org/drawingml/2006/main">
            <a:off x="5524500" y="5962650"/>
            <a:ext cx="2000250" cy="76200"/>
          </a:xfrm>
          <a:prstGeom xmlns:a="http://schemas.openxmlformats.org/drawingml/2006/main" prst="roundRect">
            <a:avLst>
              <a:gd name="adj" fmla="val 50000"/>
            </a:avLst>
          </a:prstGeom>
          <a:solidFill xmlns:a="http://schemas.openxmlformats.org/drawingml/2006/main">
            <a:srgbClr val="7A4FD1"/>
          </a:solidFill>
          <a:ln xmlns:a="http://schemas.openxmlformats.org/drawingml/2006/main" w="0">
            <a:solidFill>
              <a:srgbClr val="7A4FD1"/>
            </a:solidFill>
            <a:prstDash val="solid"/>
          </a:ln>
        </p:spPr>
      </p:sp>
      <p:sp>
        <p:nvSpPr>
          <p:cNvPr id="45" name="">
            <a:extLst xmlns:a="http://schemas.openxmlformats.org/drawingml/2006/main">
              <a:ext uri="{FF2B5EF4-FFF2-40B4-BE49-F238E27FC236}">
                <a16:creationId xmlns:a16="http://schemas.microsoft.com/office/drawing/2014/main" id="{7FF6AA63-84F4-4493-BBFC-78467FE4EE8C}"/>
              </a:ext>
            </a:extLst>
          </p:cNvPr>
          <p:cNvSpPr>
            <a:spLocks xmlns:a="http://schemas.openxmlformats.org/drawingml/2006/main" noGrp="1"/>
          </p:cNvSpPr>
          <p:nvPr/>
        </p:nvSpPr>
        <p:spPr>
          <a:xfrm xmlns:a="http://schemas.openxmlformats.org/drawingml/2006/main">
            <a:off x="5657850" y="6115050"/>
            <a:ext cx="1733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Platform validates rollout</a:t>
            </a:r>
          </a:p>
        </p:txBody>
      </p:sp>
      <p:sp>
        <p:nvSpPr>
          <p:cNvPr id="46" name="">
            <a:extLst xmlns:a="http://schemas.openxmlformats.org/drawingml/2006/main">
              <a:ext uri="{FF2B5EF4-FFF2-40B4-BE49-F238E27FC236}">
                <a16:creationId xmlns:a16="http://schemas.microsoft.com/office/drawing/2014/main" id="{49C22243-8BE1-4157-9B6B-7079EEF4D075}"/>
              </a:ext>
            </a:extLst>
          </p:cNvPr>
          <p:cNvSpPr>
            <a:spLocks xmlns:a="http://schemas.openxmlformats.org/drawingml/2006/main" noGrp="1"/>
          </p:cNvSpPr>
          <p:nvPr/>
        </p:nvSpPr>
        <p:spPr>
          <a:xfrm xmlns:a="http://schemas.openxmlformats.org/drawingml/2006/main">
            <a:off x="5657850" y="6419850"/>
            <a:ext cx="17335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r>
              <a:t/>
            </a:r>
          </a:p>
        </p:txBody>
      </p:sp>
      <p:sp>
        <p:nvSpPr>
          <p:cNvPr id="47" name="">
            <a:extLst xmlns:a="http://schemas.openxmlformats.org/drawingml/2006/main">
              <a:ext uri="{FF2B5EF4-FFF2-40B4-BE49-F238E27FC236}">
                <a16:creationId xmlns:a16="http://schemas.microsoft.com/office/drawing/2014/main" id="{74C68D52-3DDF-4FBB-B8D4-548457F44EE7}"/>
              </a:ext>
            </a:extLst>
          </p:cNvPr>
          <p:cNvSpPr>
            <a:spLocks xmlns:a="http://schemas.openxmlformats.org/drawingml/2006/main" noGrp="1"/>
          </p:cNvSpPr>
          <p:nvPr/>
        </p:nvSpPr>
        <p:spPr>
          <a:xfrm xmlns:a="http://schemas.openxmlformats.org/drawingml/2006/main">
            <a:off x="7219950" y="6076950"/>
            <a:ext cx="152400" cy="152400"/>
          </a:xfrm>
          <a:prstGeom xmlns:a="http://schemas.openxmlformats.org/drawingml/2006/main" prst="roundRect">
            <a:avLst>
              <a:gd name="adj" fmla="val 50000"/>
            </a:avLst>
          </a:prstGeom>
          <a:solidFill xmlns:a="http://schemas.openxmlformats.org/drawingml/2006/main">
            <a:srgbClr val="F2EBFF"/>
          </a:solidFill>
          <a:ln xmlns:a="http://schemas.openxmlformats.org/drawingml/2006/main" w="9525">
            <a:solidFill>
              <a:srgbClr val="7A4FD1"/>
            </a:solidFill>
            <a:prstDash val="solid"/>
          </a:ln>
        </p:spPr>
      </p:sp>
      <p:sp>
        <p:nvSpPr>
          <p:cNvPr id="48" name="">
            <a:extLst xmlns:a="http://schemas.openxmlformats.org/drawingml/2006/main">
              <a:ext uri="{FF2B5EF4-FFF2-40B4-BE49-F238E27FC236}">
                <a16:creationId xmlns:a16="http://schemas.microsoft.com/office/drawing/2014/main" id="{F60A848D-7C9B-44E3-BD2A-D3944BC3D2F8}"/>
              </a:ext>
            </a:extLst>
          </p:cNvPr>
          <p:cNvSpPr>
            <a:spLocks xmlns:a="http://schemas.openxmlformats.org/drawingml/2006/main" noGrp="1"/>
          </p:cNvSpPr>
          <p:nvPr/>
        </p:nvSpPr>
        <p:spPr>
          <a:xfrm xmlns:a="http://schemas.openxmlformats.org/drawingml/2006/main">
            <a:off x="7581900" y="605790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ctr"/>
          <a:lstStyle xmlns:a="http://schemas.openxmlformats.org/drawingml/2006/main"/>
          <a:p xmlns:a="http://schemas.openxmlformats.org/drawingml/2006/main">
            <a:pPr algn="ctr">
              <a:defRPr sz="1800" b="1">
                <a:solidFill>
                  <a:srgbClr val="5D6975"/>
                </a:solidFill>
              </a:defRPr>
            </a:pPr>
            <a:r>
              <a:rPr sz="1800" b="1">
                <a:solidFill>
                  <a:srgbClr val="5D6975"/>
                </a:solidFill>
              </a:rPr>
              <a:t>→</a:t>
            </a:r>
          </a:p>
        </p:txBody>
      </p:sp>
      <p:sp>
        <p:nvSpPr>
          <p:cNvPr id="49" name="">
            <a:extLst xmlns:a="http://schemas.openxmlformats.org/drawingml/2006/main">
              <a:ext uri="{FF2B5EF4-FFF2-40B4-BE49-F238E27FC236}">
                <a16:creationId xmlns:a16="http://schemas.microsoft.com/office/drawing/2014/main" id="{DDED3CB3-1561-4D9B-89E3-4E75CAE9D44C}"/>
              </a:ext>
            </a:extLst>
          </p:cNvPr>
          <p:cNvSpPr>
            <a:spLocks xmlns:a="http://schemas.openxmlformats.org/drawingml/2006/main" noGrp="1"/>
          </p:cNvSpPr>
          <p:nvPr/>
        </p:nvSpPr>
        <p:spPr>
          <a:xfrm xmlns:a="http://schemas.openxmlformats.org/drawingml/2006/main">
            <a:off x="7962900" y="5962650"/>
            <a:ext cx="35814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6DADF"/>
            </a:solidFill>
            <a:prstDash val="solid"/>
          </a:ln>
        </p:spPr>
      </p:sp>
      <p:sp>
        <p:nvSpPr>
          <p:cNvPr id="50" name="">
            <a:extLst xmlns:a="http://schemas.openxmlformats.org/drawingml/2006/main">
              <a:ext uri="{FF2B5EF4-FFF2-40B4-BE49-F238E27FC236}">
                <a16:creationId xmlns:a16="http://schemas.microsoft.com/office/drawing/2014/main" id="{E27607EB-5BBB-4818-92C6-E7AEC95DC764}"/>
              </a:ext>
            </a:extLst>
          </p:cNvPr>
          <p:cNvSpPr>
            <a:spLocks xmlns:a="http://schemas.openxmlformats.org/drawingml/2006/main" noGrp="1"/>
          </p:cNvSpPr>
          <p:nvPr/>
        </p:nvSpPr>
        <p:spPr>
          <a:xfrm xmlns:a="http://schemas.openxmlformats.org/drawingml/2006/main">
            <a:off x="7962900" y="5962650"/>
            <a:ext cx="3581400" cy="76200"/>
          </a:xfrm>
          <a:prstGeom xmlns:a="http://schemas.openxmlformats.org/drawingml/2006/main" prst="roundRect">
            <a:avLst>
              <a:gd name="adj" fmla="val 50000"/>
            </a:avLst>
          </a:prstGeom>
          <a:solidFill xmlns:a="http://schemas.openxmlformats.org/drawingml/2006/main">
            <a:srgbClr val="4B5EAA"/>
          </a:solidFill>
          <a:ln xmlns:a="http://schemas.openxmlformats.org/drawingml/2006/main" w="0">
            <a:solidFill>
              <a:srgbClr val="4B5EAA"/>
            </a:solidFill>
            <a:prstDash val="solid"/>
          </a:ln>
        </p:spPr>
      </p:sp>
      <p:sp>
        <p:nvSpPr>
          <p:cNvPr id="51" name="">
            <a:extLst xmlns:a="http://schemas.openxmlformats.org/drawingml/2006/main">
              <a:ext uri="{FF2B5EF4-FFF2-40B4-BE49-F238E27FC236}">
                <a16:creationId xmlns:a16="http://schemas.microsoft.com/office/drawing/2014/main" id="{BB628641-8149-45A8-AAA2-CCDD885F00FA}"/>
              </a:ext>
            </a:extLst>
          </p:cNvPr>
          <p:cNvSpPr>
            <a:spLocks xmlns:a="http://schemas.openxmlformats.org/drawingml/2006/main" noGrp="1"/>
          </p:cNvSpPr>
          <p:nvPr/>
        </p:nvSpPr>
        <p:spPr>
          <a:xfrm xmlns:a="http://schemas.openxmlformats.org/drawingml/2006/main">
            <a:off x="8096250" y="6115050"/>
            <a:ext cx="3314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57150" rIns="76200" bIns="57150" anchor="t"/>
          <a:lstStyle xmlns:a="http://schemas.openxmlformats.org/drawingml/2006/main"/>
          <a:p xmlns:a="http://schemas.openxmlformats.org/drawingml/2006/main">
            <a:pPr algn="l">
              <a:defRPr sz="1350" b="1">
                <a:solidFill>
                  <a:srgbClr val="17202A"/>
                </a:solidFill>
              </a:defRPr>
            </a:pPr>
            <a:r>
              <a:rPr sz="1350" b="1">
                <a:solidFill>
                  <a:srgbClr val="17202A"/>
                </a:solidFill>
              </a:rPr>
              <a:t>Business approver signs off on risky change</a:t>
            </a:r>
          </a:p>
        </p:txBody>
      </p:sp>
      <p:sp>
        <p:nvSpPr>
          <p:cNvPr id="52" name="">
            <a:extLst xmlns:a="http://schemas.openxmlformats.org/drawingml/2006/main">
              <a:ext uri="{FF2B5EF4-FFF2-40B4-BE49-F238E27FC236}">
                <a16:creationId xmlns:a16="http://schemas.microsoft.com/office/drawing/2014/main" id="{80A4DE2A-C4C8-428C-BFDE-396CCEF432EC}"/>
              </a:ext>
            </a:extLst>
          </p:cNvPr>
          <p:cNvSpPr>
            <a:spLocks xmlns:a="http://schemas.openxmlformats.org/drawingml/2006/main" noGrp="1"/>
          </p:cNvSpPr>
          <p:nvPr/>
        </p:nvSpPr>
        <p:spPr>
          <a:xfrm xmlns:a="http://schemas.openxmlformats.org/drawingml/2006/main">
            <a:off x="8096250" y="6419850"/>
            <a:ext cx="33147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r>
              <a:t/>
            </a:r>
          </a:p>
        </p:txBody>
      </p:sp>
      <p:sp>
        <p:nvSpPr>
          <p:cNvPr id="53" name="">
            <a:extLst xmlns:a="http://schemas.openxmlformats.org/drawingml/2006/main">
              <a:ext uri="{FF2B5EF4-FFF2-40B4-BE49-F238E27FC236}">
                <a16:creationId xmlns:a16="http://schemas.microsoft.com/office/drawing/2014/main" id="{D9252D0C-30E5-4671-A5E5-995B5C5309BF}"/>
              </a:ext>
            </a:extLst>
          </p:cNvPr>
          <p:cNvSpPr>
            <a:spLocks xmlns:a="http://schemas.openxmlformats.org/drawingml/2006/main" noGrp="1"/>
          </p:cNvSpPr>
          <p:nvPr/>
        </p:nvSpPr>
        <p:spPr>
          <a:xfrm xmlns:a="http://schemas.openxmlformats.org/drawingml/2006/main">
            <a:off x="11239500" y="6076950"/>
            <a:ext cx="152400" cy="152400"/>
          </a:xfrm>
          <a:prstGeom xmlns:a="http://schemas.openxmlformats.org/drawingml/2006/main" prst="roundRect">
            <a:avLst>
              <a:gd name="adj" fmla="val 50000"/>
            </a:avLst>
          </a:prstGeom>
          <a:solidFill xmlns:a="http://schemas.openxmlformats.org/drawingml/2006/main">
            <a:srgbClr val="EEF1FF"/>
          </a:solidFill>
          <a:ln xmlns:a="http://schemas.openxmlformats.org/drawingml/2006/main" w="9525">
            <a:solidFill>
              <a:srgbClr val="4B5EAA"/>
            </a:solidFill>
            <a:prstDash val="solid"/>
          </a:ln>
        </p:spPr>
      </p:sp>
    </p:spTree>
    <p:extLst>
      <p:ext uri="{BB962C8B-B14F-4D97-AF65-F5344CB8AC3E}">
        <p14:creationId xmlns:p14="http://schemas.microsoft.com/office/powerpoint/2010/main" val="239874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2026-05-22T05:17:31.6910000Z</dcterms:created>
  <dcterms:modified xsi:type="dcterms:W3CDTF">2026-05-22T05:17:31.6910000Z</dcterms:modified>
</coreProperties>
</file>